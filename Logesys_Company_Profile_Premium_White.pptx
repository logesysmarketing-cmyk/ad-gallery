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3a615d3-a816-d6cb-b329-93a544378b22}">
          <p14:sldIdLst>
            <p14:sldId id="256"/>
            <p14:sldId id="257"/>
            <p14:sldId id="258"/>
            <p14:sldId id="259"/>
            <p14:sldId id="260"/>
            <p14:sldId id="261"/>
            <p14:sldId id="262"/>
          </p14:sldIdLst>
        </p14:section>
        <p14:section name="Our D.A.T.A Framework" id="{e761157a-7ca5-e807-8753-4185438604c8}">
          <p14:sldIdLst>
            <p14:sldId id="263"/>
            <p14:sldId id="264"/>
            <p14:sldId id="265"/>
            <p14:sldId id="266"/>
            <p14:sldId id="267"/>
          </p14:sldIdLst>
        </p14:section>
        <p14:section name="Why Logesys" id="{3f1a01d1-5416-0f39-07a3-7a7e58685a36}">
          <p14:sldIdLst>
            <p14:sldId id="268"/>
            <p14:sldId id="269"/>
            <p14:sldId id="280"/>
          </p14:sldIdLst>
        </p14:section>
        <p14:section name="Service Offerings" id="{c6abb111-e466-5294-4542-245e36f3d436}">
          <p14:sldIdLst>
            <p14:sldId id="270"/>
            <p14:sldId id="271"/>
            <p14:sldId id="272"/>
            <p14:sldId id="273"/>
            <p14:sldId id="274"/>
            <p14:sldId id="275"/>
            <p14:sldId id="276"/>
            <p14:sldId id="277"/>
            <p14:sldId id="278"/>
            <p14:sldId id="279"/>
          </p14:sldIdLst>
        </p14:section>
        <p14:section name="Case Studies" id="{163f4043-989f-db67-4907-3f1373999285}">
          <p14:sldIdLst>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NTENT_A-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_B-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PLAIN-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ad-gallery/7fc27a5a-8417-58c4-b3ff-7a7825ba0161/scratchpad/assets/logo.png">    </p:cNvPr>
          <p:cNvPicPr>
            <a:picLocks noChangeAspect="1"/>
          </p:cNvPicPr>
          <p:nvPr/>
        </p:nvPicPr>
        <p:blipFill>
          <a:blip r:embed="rId1"/>
          <a:stretch>
            <a:fillRect/>
          </a:stretch>
        </p:blipFill>
        <p:spPr>
          <a:xfrm>
            <a:off x="10225735" y="411480"/>
            <a:ext cx="1463040" cy="403898"/>
          </a:xfrm>
          <a:prstGeom prst="rect">
            <a:avLst/>
          </a:prstGeom>
        </p:spPr>
      </p:pic>
      <p:sp>
        <p:nvSpPr>
          <p:cNvPr id="3" name="Text 0"/>
          <p:cNvSpPr/>
          <p:nvPr/>
        </p:nvSpPr>
        <p:spPr>
          <a:xfrm>
            <a:off x="502920" y="6419088"/>
            <a:ext cx="2743200" cy="228600"/>
          </a:xfrm>
          <a:prstGeom prst="rect">
            <a:avLst/>
          </a:prstGeom>
          <a:noFill/>
          <a:ln/>
        </p:spPr>
        <p:txBody>
          <a:bodyPr wrap="square" lIns="0" tIns="0" rIns="0" bIns="0" rtlCol="0" anchor="ctr"/>
          <a:lstStyle/>
          <a:p>
            <a:pPr indent="0" marL="0">
              <a:buNone/>
            </a:pPr>
            <a:r>
              <a:rPr lang="en-US" sz="900" spc="100" kern="0" dirty="0">
                <a:solidFill>
                  <a:schemeClr val="accent5"/>
                </a:solidFill>
              </a:rPr>
              <a:t>www.logesys.com</a:t>
            </a:r>
            <a:endParaRPr lang="en-US" sz="900" dirty="0"/>
          </a:p>
        </p:txBody>
      </p:sp>
      <p:sp>
        <p:nvSpPr>
          <p:cNvPr id="4" name="Text 1"/>
          <p:cNvSpPr/>
          <p:nvPr>
            <p:ph idx="102" type="body" hasCustomPrompt="1"/>
          </p:nvPr>
        </p:nvSpPr>
        <p:spPr>
          <a:xfrm>
            <a:off x="502920" y="384048"/>
            <a:ext cx="7772400" cy="256032"/>
          </a:xfrm>
          <a:prstGeom prst="rect">
            <a:avLst/>
          </a:prstGeom>
          <a:noFill/>
          <a:ln/>
        </p:spPr>
        <p:txBody>
          <a:bodyPr wrap="square" rtlCol="0"/>
          <a:lstStyle>
            <a:lvl1pPr indent="0" marL="0">
              <a:buNone/>
              <a:defRPr lang="en-US" sz="1100" b="1" spc="400" kern="0" dirty="0">
                <a:solidFill>
                  <a:schemeClr val="accent1"/>
                </a:solidFill>
              </a:defRPr>
            </a:lvl1pPr>
          </a:lstStyle>
          <a:p>
            <a:pPr indent="0" marL="0">
              <a:buNone/>
            </a:pPr>
            <a:endParaRPr lang="en-US" sz="1100" dirty="0"/>
          </a:p>
        </p:txBody>
      </p:sp>
      <p:sp>
        <p:nvSpPr>
          <p:cNvPr id="5" name="Text 1"/>
          <p:cNvSpPr/>
          <p:nvPr>
            <p:ph idx="103" type="title" hasCustomPrompt="1"/>
          </p:nvPr>
        </p:nvSpPr>
        <p:spPr>
          <a:xfrm>
            <a:off x="502920" y="658368"/>
            <a:ext cx="9692640" cy="658368"/>
          </a:xfrm>
          <a:prstGeom prst="rect">
            <a:avLst/>
          </a:prstGeom>
          <a:noFill/>
          <a:ln/>
        </p:spPr>
        <p:txBody>
          <a:bodyPr wrap="square" rtlCol="0"/>
          <a:lstStyle>
            <a:lvl1pPr algn="l" indent="0" marL="0">
              <a:buNone/>
              <a:defRPr lang="en-US" sz="2600" b="1" dirty="0">
                <a:solidFill>
                  <a:schemeClr val="tx1"/>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ad-gallery/7fc27a5a-8417-58c4-b3ff-7a7825ba0161/scratchpad/assets/logo.png">    </p:cNvPr>
          <p:cNvPicPr>
            <a:picLocks noChangeAspect="1"/>
          </p:cNvPicPr>
          <p:nvPr/>
        </p:nvPicPr>
        <p:blipFill>
          <a:blip r:embed="rId1"/>
          <a:stretch>
            <a:fillRect/>
          </a:stretch>
        </p:blipFill>
        <p:spPr>
          <a:xfrm>
            <a:off x="10225735" y="411480"/>
            <a:ext cx="1463040" cy="403898"/>
          </a:xfrm>
          <a:prstGeom prst="rect">
            <a:avLst/>
          </a:prstGeom>
        </p:spPr>
      </p:pic>
      <p:sp>
        <p:nvSpPr>
          <p:cNvPr id="3" name="Text 0"/>
          <p:cNvSpPr/>
          <p:nvPr/>
        </p:nvSpPr>
        <p:spPr>
          <a:xfrm>
            <a:off x="502920" y="6419088"/>
            <a:ext cx="2743200" cy="228600"/>
          </a:xfrm>
          <a:prstGeom prst="rect">
            <a:avLst/>
          </a:prstGeom>
          <a:noFill/>
          <a:ln/>
        </p:spPr>
        <p:txBody>
          <a:bodyPr wrap="square" lIns="0" tIns="0" rIns="0" bIns="0" rtlCol="0" anchor="ctr"/>
          <a:lstStyle/>
          <a:p>
            <a:pPr indent="0" marL="0">
              <a:buNone/>
            </a:pPr>
            <a:r>
              <a:rPr lang="en-US" sz="900" spc="100" kern="0" dirty="0">
                <a:solidFill>
                  <a:schemeClr val="accent5"/>
                </a:solidFill>
              </a:rPr>
              <a:t>www.logesys.com</a:t>
            </a:r>
            <a:endParaRPr lang="en-US" sz="900" dirty="0"/>
          </a:p>
        </p:txBody>
      </p:sp>
      <p:sp>
        <p:nvSpPr>
          <p:cNvPr id="4" name="Text 1"/>
          <p:cNvSpPr/>
          <p:nvPr>
            <p:ph idx="102" type="body" hasCustomPrompt="1"/>
          </p:nvPr>
        </p:nvSpPr>
        <p:spPr>
          <a:xfrm>
            <a:off x="502920" y="384048"/>
            <a:ext cx="7772400" cy="256032"/>
          </a:xfrm>
          <a:prstGeom prst="rect">
            <a:avLst/>
          </a:prstGeom>
          <a:noFill/>
          <a:ln/>
        </p:spPr>
        <p:txBody>
          <a:bodyPr wrap="square" rtlCol="0"/>
          <a:lstStyle>
            <a:lvl1pPr indent="0" marL="0">
              <a:buNone/>
              <a:defRPr lang="en-US" sz="1100" b="1" spc="400" kern="0" dirty="0">
                <a:solidFill>
                  <a:schemeClr val="accent1"/>
                </a:solidFill>
              </a:defRPr>
            </a:lvl1pPr>
          </a:lstStyle>
          <a:p>
            <a:pPr indent="0" marL="0">
              <a:buNone/>
            </a:pPr>
            <a:endParaRPr lang="en-US" sz="1100" dirty="0"/>
          </a:p>
        </p:txBody>
      </p:sp>
      <p:sp>
        <p:nvSpPr>
          <p:cNvPr id="5" name="Text 1"/>
          <p:cNvSpPr/>
          <p:nvPr>
            <p:ph idx="103" type="title" hasCustomPrompt="1"/>
          </p:nvPr>
        </p:nvSpPr>
        <p:spPr>
          <a:xfrm>
            <a:off x="502920" y="658368"/>
            <a:ext cx="9692640" cy="658368"/>
          </a:xfrm>
          <a:prstGeom prst="rect">
            <a:avLst/>
          </a:prstGeom>
          <a:noFill/>
          <a:ln/>
        </p:spPr>
        <p:txBody>
          <a:bodyPr wrap="square" rtlCol="0"/>
          <a:lstStyle>
            <a:lvl1pPr algn="l" indent="0" marL="0">
              <a:buNone/>
              <a:defRPr lang="en-US" sz="2600" b="1" dirty="0">
                <a:solidFill>
                  <a:schemeClr val="tx1"/>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4.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slideLayout" Target="../slideLayouts/slideLayout3.xml"/><Relationship Id="rId2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slideLayout" Target="../slideLayouts/slideLayout3.xml"/><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2.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4.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2.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slideLayout" Target="../slideLayouts/slideLayout3.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png"/><Relationship Id="rId28" Type="http://schemas.openxmlformats.org/officeDocument/2006/relationships/image" Target="../media/image-11-28.png"/><Relationship Id="rId29" Type="http://schemas.openxmlformats.org/officeDocument/2006/relationships/image" Target="../media/image-11-29.png"/><Relationship Id="rId30" Type="http://schemas.openxmlformats.org/officeDocument/2006/relationships/image" Target="../media/image-11-30.png"/><Relationship Id="rId31" Type="http://schemas.openxmlformats.org/officeDocument/2006/relationships/image" Target="../media/image-11-31.png"/><Relationship Id="rId32" Type="http://schemas.openxmlformats.org/officeDocument/2006/relationships/image" Target="../media/image-11-32.png"/><Relationship Id="rId33" Type="http://schemas.openxmlformats.org/officeDocument/2006/relationships/image" Target="../media/image-11-33.png"/><Relationship Id="rId34" Type="http://schemas.openxmlformats.org/officeDocument/2006/relationships/image" Target="../media/image-11-34.png"/><Relationship Id="rId35" Type="http://schemas.openxmlformats.org/officeDocument/2006/relationships/image" Target="../media/image-11-35.png"/><Relationship Id="rId36" Type="http://schemas.openxmlformats.org/officeDocument/2006/relationships/image" Target="../media/image-11-36.png"/><Relationship Id="rId37" Type="http://schemas.openxmlformats.org/officeDocument/2006/relationships/image" Target="../media/image-11-37.png"/><Relationship Id="rId38" Type="http://schemas.openxmlformats.org/officeDocument/2006/relationships/image" Target="../media/image-11-38.png"/><Relationship Id="rId39" Type="http://schemas.openxmlformats.org/officeDocument/2006/relationships/image" Target="../media/image-11-39.png"/><Relationship Id="rId40" Type="http://schemas.openxmlformats.org/officeDocument/2006/relationships/image" Target="../media/image-11-40.png"/><Relationship Id="rId41" Type="http://schemas.openxmlformats.org/officeDocument/2006/relationships/image" Target="../media/image-11-41.png"/><Relationship Id="rId42" Type="http://schemas.openxmlformats.org/officeDocument/2006/relationships/image" Target="../media/image-11-42.png"/><Relationship Id="rId43" Type="http://schemas.openxmlformats.org/officeDocument/2006/relationships/image" Target="../media/image-11-43.png"/><Relationship Id="rId44" Type="http://schemas.openxmlformats.org/officeDocument/2006/relationships/image" Target="../media/image-11-44.png"/><Relationship Id="rId45" Type="http://schemas.openxmlformats.org/officeDocument/2006/relationships/image" Target="../media/image-11-45.png"/><Relationship Id="rId46" Type="http://schemas.openxmlformats.org/officeDocument/2006/relationships/slideLayout" Target="../slideLayouts/slideLayout2.xml"/><Relationship Id="rId4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3.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2.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image" Target="../media/image-14-32.png"/><Relationship Id="rId33" Type="http://schemas.openxmlformats.org/officeDocument/2006/relationships/image" Target="../media/image-14-33.png"/><Relationship Id="rId34" Type="http://schemas.openxmlformats.org/officeDocument/2006/relationships/image" Target="../media/image-14-34.png"/><Relationship Id="rId35" Type="http://schemas.openxmlformats.org/officeDocument/2006/relationships/image" Target="../media/image-14-35.png"/><Relationship Id="rId36" Type="http://schemas.openxmlformats.org/officeDocument/2006/relationships/image" Target="../media/image-14-36.png"/><Relationship Id="rId37" Type="http://schemas.openxmlformats.org/officeDocument/2006/relationships/image" Target="../media/image-14-37.png"/><Relationship Id="rId38" Type="http://schemas.openxmlformats.org/officeDocument/2006/relationships/image" Target="../media/image-14-38.png"/><Relationship Id="rId39" Type="http://schemas.openxmlformats.org/officeDocument/2006/relationships/image" Target="../media/image-14-39.png"/><Relationship Id="rId40" Type="http://schemas.openxmlformats.org/officeDocument/2006/relationships/image" Target="../media/image-14-40.png"/><Relationship Id="rId41" Type="http://schemas.openxmlformats.org/officeDocument/2006/relationships/image" Target="../media/image-14-41.png"/><Relationship Id="rId42" Type="http://schemas.openxmlformats.org/officeDocument/2006/relationships/image" Target="../media/image-14-42.png"/><Relationship Id="rId43" Type="http://schemas.openxmlformats.org/officeDocument/2006/relationships/image" Target="../media/image-14-43.png"/><Relationship Id="rId44" Type="http://schemas.openxmlformats.org/officeDocument/2006/relationships/image" Target="../media/image-14-44.png"/><Relationship Id="rId45" Type="http://schemas.openxmlformats.org/officeDocument/2006/relationships/image" Target="../media/image-14-45.png"/><Relationship Id="rId46" Type="http://schemas.openxmlformats.org/officeDocument/2006/relationships/image" Target="../media/image-14-46.png"/><Relationship Id="rId47" Type="http://schemas.openxmlformats.org/officeDocument/2006/relationships/image" Target="../media/image-14-47.png"/><Relationship Id="rId48" Type="http://schemas.openxmlformats.org/officeDocument/2006/relationships/image" Target="../media/image-14-48.png"/><Relationship Id="rId49" Type="http://schemas.openxmlformats.org/officeDocument/2006/relationships/image" Target="../media/image-14-49.png"/><Relationship Id="rId50" Type="http://schemas.openxmlformats.org/officeDocument/2006/relationships/image" Target="../media/image-14-50.png"/><Relationship Id="rId51" Type="http://schemas.openxmlformats.org/officeDocument/2006/relationships/image" Target="../media/image-14-51.png"/><Relationship Id="rId52" Type="http://schemas.openxmlformats.org/officeDocument/2006/relationships/image" Target="../media/image-14-52.png"/><Relationship Id="rId53" Type="http://schemas.openxmlformats.org/officeDocument/2006/relationships/image" Target="../media/image-14-53.png"/><Relationship Id="rId54" Type="http://schemas.openxmlformats.org/officeDocument/2006/relationships/image" Target="../media/image-14-54.png"/><Relationship Id="rId55" Type="http://schemas.openxmlformats.org/officeDocument/2006/relationships/image" Target="../media/image-14-55.png"/><Relationship Id="rId56" Type="http://schemas.openxmlformats.org/officeDocument/2006/relationships/image" Target="../media/image-14-56.png"/><Relationship Id="rId57" Type="http://schemas.openxmlformats.org/officeDocument/2006/relationships/image" Target="../media/image-14-57.png"/><Relationship Id="rId58" Type="http://schemas.openxmlformats.org/officeDocument/2006/relationships/image" Target="../media/image-14-58.png"/><Relationship Id="rId59" Type="http://schemas.openxmlformats.org/officeDocument/2006/relationships/image" Target="../media/image-14-59.png"/><Relationship Id="rId60" Type="http://schemas.openxmlformats.org/officeDocument/2006/relationships/image" Target="../media/image-14-60.png"/><Relationship Id="rId61" Type="http://schemas.openxmlformats.org/officeDocument/2006/relationships/image" Target="../media/image-14-61.png"/><Relationship Id="rId62" Type="http://schemas.openxmlformats.org/officeDocument/2006/relationships/image" Target="../media/image-14-62.png"/><Relationship Id="rId63" Type="http://schemas.openxmlformats.org/officeDocument/2006/relationships/image" Target="../media/image-14-63.png"/><Relationship Id="rId64" Type="http://schemas.openxmlformats.org/officeDocument/2006/relationships/image" Target="../media/image-14-64.png"/><Relationship Id="rId65" Type="http://schemas.openxmlformats.org/officeDocument/2006/relationships/image" Target="../media/image-14-65.png"/><Relationship Id="rId66" Type="http://schemas.openxmlformats.org/officeDocument/2006/relationships/image" Target="../media/image-14-66.png"/><Relationship Id="rId67" Type="http://schemas.openxmlformats.org/officeDocument/2006/relationships/image" Target="../media/image-14-67.png"/><Relationship Id="rId68" Type="http://schemas.openxmlformats.org/officeDocument/2006/relationships/image" Target="../media/image-14-68.png"/><Relationship Id="rId69" Type="http://schemas.openxmlformats.org/officeDocument/2006/relationships/image" Target="../media/image-14-69.png"/><Relationship Id="rId70" Type="http://schemas.openxmlformats.org/officeDocument/2006/relationships/image" Target="../media/image-14-70.png"/><Relationship Id="rId71" Type="http://schemas.openxmlformats.org/officeDocument/2006/relationships/image" Target="../media/image-14-71.png"/><Relationship Id="rId72" Type="http://schemas.openxmlformats.org/officeDocument/2006/relationships/image" Target="../media/image-14-72.png"/><Relationship Id="rId73" Type="http://schemas.openxmlformats.org/officeDocument/2006/relationships/image" Target="../media/image-14-73.png"/><Relationship Id="rId74" Type="http://schemas.openxmlformats.org/officeDocument/2006/relationships/image" Target="../media/image-14-74.png"/><Relationship Id="rId75" Type="http://schemas.openxmlformats.org/officeDocument/2006/relationships/image" Target="../media/image-14-75.png"/><Relationship Id="rId76" Type="http://schemas.openxmlformats.org/officeDocument/2006/relationships/image" Target="../media/image-14-76.png"/><Relationship Id="rId77" Type="http://schemas.openxmlformats.org/officeDocument/2006/relationships/image" Target="../media/image-14-77.png"/><Relationship Id="rId78" Type="http://schemas.openxmlformats.org/officeDocument/2006/relationships/image" Target="../media/image-14-78.png"/><Relationship Id="rId79" Type="http://schemas.openxmlformats.org/officeDocument/2006/relationships/image" Target="../media/image-14-79.png"/><Relationship Id="rId80" Type="http://schemas.openxmlformats.org/officeDocument/2006/relationships/image" Target="../media/image-14-80.png"/><Relationship Id="rId81" Type="http://schemas.openxmlformats.org/officeDocument/2006/relationships/image" Target="../media/image-14-81.png"/><Relationship Id="rId82" Type="http://schemas.openxmlformats.org/officeDocument/2006/relationships/image" Target="../media/image-14-82.png"/><Relationship Id="rId83" Type="http://schemas.openxmlformats.org/officeDocument/2006/relationships/image" Target="../media/image-14-83.png"/><Relationship Id="rId84" Type="http://schemas.openxmlformats.org/officeDocument/2006/relationships/image" Target="../media/image-14-84.png"/><Relationship Id="rId85" Type="http://schemas.openxmlformats.org/officeDocument/2006/relationships/image" Target="../media/image-14-85.png"/><Relationship Id="rId86" Type="http://schemas.openxmlformats.org/officeDocument/2006/relationships/image" Target="../media/image-14-86.png"/><Relationship Id="rId87" Type="http://schemas.openxmlformats.org/officeDocument/2006/relationships/image" Target="../media/image-14-87.png"/><Relationship Id="rId88" Type="http://schemas.openxmlformats.org/officeDocument/2006/relationships/image" Target="../media/image-14-88.png"/><Relationship Id="rId89" Type="http://schemas.openxmlformats.org/officeDocument/2006/relationships/image" Target="../media/image-14-89.png"/><Relationship Id="rId90" Type="http://schemas.openxmlformats.org/officeDocument/2006/relationships/slideLayout" Target="../slideLayouts/slideLayout3.xml"/><Relationship Id="rId9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4.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slideLayout" Target="../slideLayouts/slideLayout2.xml"/><Relationship Id="rId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slideLayout" Target="../slideLayouts/slideLayout3.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slideLayout" Target="../slideLayouts/slideLayout2.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image" Target="../media/image-19-15.png"/><Relationship Id="rId16" Type="http://schemas.openxmlformats.org/officeDocument/2006/relationships/image" Target="../media/image-19-16.png"/><Relationship Id="rId17" Type="http://schemas.openxmlformats.org/officeDocument/2006/relationships/image" Target="../media/image-19-17.png"/><Relationship Id="rId18" Type="http://schemas.openxmlformats.org/officeDocument/2006/relationships/slideLayout" Target="../slideLayouts/slideLayout3.xml"/><Relationship Id="rId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slideLayout" Target="../slideLayouts/slideLayout2.xml"/><Relationship Id="rId1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slideLayout" Target="../slideLayouts/slideLayout3.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2.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image" Target="../media/image-23-14.png"/><Relationship Id="rId15" Type="http://schemas.openxmlformats.org/officeDocument/2006/relationships/slideLayout" Target="../slideLayouts/slideLayout3.xml"/><Relationship Id="rId1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image" Target="../media/image-24-13.png"/><Relationship Id="rId14" Type="http://schemas.openxmlformats.org/officeDocument/2006/relationships/image" Target="../media/image-24-14.png"/><Relationship Id="rId15" Type="http://schemas.openxmlformats.org/officeDocument/2006/relationships/image" Target="../media/image-24-15.png"/><Relationship Id="rId16" Type="http://schemas.openxmlformats.org/officeDocument/2006/relationships/image" Target="../media/image-24-16.png"/><Relationship Id="rId17" Type="http://schemas.openxmlformats.org/officeDocument/2006/relationships/image" Target="../media/image-24-17.png"/><Relationship Id="rId18" Type="http://schemas.openxmlformats.org/officeDocument/2006/relationships/image" Target="../media/image-24-18.png"/><Relationship Id="rId19" Type="http://schemas.openxmlformats.org/officeDocument/2006/relationships/image" Target="../media/image-24-19.png"/><Relationship Id="rId20" Type="http://schemas.openxmlformats.org/officeDocument/2006/relationships/image" Target="../media/image-24-20.png"/><Relationship Id="rId21" Type="http://schemas.openxmlformats.org/officeDocument/2006/relationships/image" Target="../media/image-24-21.png"/><Relationship Id="rId22" Type="http://schemas.openxmlformats.org/officeDocument/2006/relationships/image" Target="../media/image-24-22.png"/><Relationship Id="rId23" Type="http://schemas.openxmlformats.org/officeDocument/2006/relationships/image" Target="../media/image-24-23.png"/><Relationship Id="rId24" Type="http://schemas.openxmlformats.org/officeDocument/2006/relationships/image" Target="../media/image-24-24.png"/><Relationship Id="rId25" Type="http://schemas.openxmlformats.org/officeDocument/2006/relationships/image" Target="../media/image-24-25.png"/><Relationship Id="rId26" Type="http://schemas.openxmlformats.org/officeDocument/2006/relationships/image" Target="../media/image-24-26.png"/><Relationship Id="rId27" Type="http://schemas.openxmlformats.org/officeDocument/2006/relationships/image" Target="../media/image-24-27.png"/><Relationship Id="rId28" Type="http://schemas.openxmlformats.org/officeDocument/2006/relationships/image" Target="../media/image-24-28.png"/><Relationship Id="rId29" Type="http://schemas.openxmlformats.org/officeDocument/2006/relationships/slideLayout" Target="../slideLayouts/slideLayout2.xml"/><Relationship Id="rId3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slideLayout" Target="../slideLayouts/slideLayout3.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image" Target="../media/image-26-16.png"/><Relationship Id="rId17" Type="http://schemas.openxmlformats.org/officeDocument/2006/relationships/slideLayout" Target="../slideLayouts/slideLayout4.xml"/><Relationship Id="rId1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image" Target="../media/image-27-13.png"/><Relationship Id="rId14" Type="http://schemas.openxmlformats.org/officeDocument/2006/relationships/image" Target="../media/image-27-14.png"/><Relationship Id="rId15" Type="http://schemas.openxmlformats.org/officeDocument/2006/relationships/image" Target="../media/image-27-15.png"/><Relationship Id="rId16" Type="http://schemas.openxmlformats.org/officeDocument/2006/relationships/image" Target="../media/image-27-16.png"/><Relationship Id="rId17" Type="http://schemas.openxmlformats.org/officeDocument/2006/relationships/image" Target="../media/image-27-17.png"/><Relationship Id="rId18" Type="http://schemas.openxmlformats.org/officeDocument/2006/relationships/slideLayout" Target="../slideLayouts/slideLayout2.xml"/><Relationship Id="rId1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image" Target="../media/image-28-14.png"/><Relationship Id="rId15" Type="http://schemas.openxmlformats.org/officeDocument/2006/relationships/image" Target="../media/image-28-15.png"/><Relationship Id="rId16" Type="http://schemas.openxmlformats.org/officeDocument/2006/relationships/image" Target="../media/image-28-16.png"/><Relationship Id="rId17" Type="http://schemas.openxmlformats.org/officeDocument/2006/relationships/image" Target="../media/image-28-17.png"/><Relationship Id="rId18" Type="http://schemas.openxmlformats.org/officeDocument/2006/relationships/slideLayout" Target="../slideLayouts/slideLayout3.xml"/><Relationship Id="rId1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image" Target="../media/image-29-13.png"/><Relationship Id="rId14" Type="http://schemas.openxmlformats.org/officeDocument/2006/relationships/image" Target="../media/image-29-14.png"/><Relationship Id="rId15" Type="http://schemas.openxmlformats.org/officeDocument/2006/relationships/slideLayout" Target="../slideLayouts/slideLayout2.xml"/><Relationship Id="rId1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image" Target="../media/image-30-13.png"/><Relationship Id="rId14" Type="http://schemas.openxmlformats.org/officeDocument/2006/relationships/image" Target="../media/image-30-14.png"/><Relationship Id="rId15" Type="http://schemas.openxmlformats.org/officeDocument/2006/relationships/slideLayout" Target="../slideLayouts/slideLayout3.xml"/><Relationship Id="rId1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image" Target="../media/image-31-11.png"/><Relationship Id="rId12" Type="http://schemas.openxmlformats.org/officeDocument/2006/relationships/image" Target="../media/image-31-12.png"/><Relationship Id="rId13" Type="http://schemas.openxmlformats.org/officeDocument/2006/relationships/image" Target="../media/image-31-13.png"/><Relationship Id="rId14" Type="http://schemas.openxmlformats.org/officeDocument/2006/relationships/image" Target="../media/image-31-14.png"/><Relationship Id="rId15" Type="http://schemas.openxmlformats.org/officeDocument/2006/relationships/slideLayout" Target="../slideLayouts/slideLayout2.xml"/><Relationship Id="rId1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image" Target="../media/image-32-11.png"/><Relationship Id="rId12" Type="http://schemas.openxmlformats.org/officeDocument/2006/relationships/image" Target="../media/image-32-12.png"/><Relationship Id="rId13" Type="http://schemas.openxmlformats.org/officeDocument/2006/relationships/image" Target="../media/image-32-13.png"/><Relationship Id="rId14" Type="http://schemas.openxmlformats.org/officeDocument/2006/relationships/image" Target="../media/image-32-14.png"/><Relationship Id="rId15" Type="http://schemas.openxmlformats.org/officeDocument/2006/relationships/image" Target="../media/image-32-15.png"/><Relationship Id="rId16" Type="http://schemas.openxmlformats.org/officeDocument/2006/relationships/image" Target="../media/image-32-16.png"/><Relationship Id="rId17" Type="http://schemas.openxmlformats.org/officeDocument/2006/relationships/image" Target="../media/image-32-17.png"/><Relationship Id="rId18" Type="http://schemas.openxmlformats.org/officeDocument/2006/relationships/slideLayout" Target="../slideLayouts/slideLayout3.xml"/><Relationship Id="rId1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image" Target="../media/image-33-12.png"/><Relationship Id="rId13" Type="http://schemas.openxmlformats.org/officeDocument/2006/relationships/image" Target="../media/image-33-13.png"/><Relationship Id="rId14" Type="http://schemas.openxmlformats.org/officeDocument/2006/relationships/image" Target="../media/image-33-14.png"/><Relationship Id="rId15" Type="http://schemas.openxmlformats.org/officeDocument/2006/relationships/image" Target="../media/image-33-15.png"/><Relationship Id="rId16" Type="http://schemas.openxmlformats.org/officeDocument/2006/relationships/image" Target="../media/image-33-16.png"/><Relationship Id="rId17" Type="http://schemas.openxmlformats.org/officeDocument/2006/relationships/image" Target="../media/image-33-17.png"/><Relationship Id="rId18" Type="http://schemas.openxmlformats.org/officeDocument/2006/relationships/slideLayout" Target="../slideLayouts/slideLayout2.xml"/><Relationship Id="rId1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320040"/>
            <a:ext cx="2697480" cy="3520440"/>
          </a:xfrm>
          <a:prstGeom prst="rect">
            <a:avLst/>
          </a:prstGeom>
        </p:spPr>
      </p:pic>
      <p:pic>
        <p:nvPicPr>
          <p:cNvPr id="3" name="Photo" descr="preencoded.png">    </p:cNvPr>
          <p:cNvPicPr>
            <a:picLocks noChangeAspect="1"/>
          </p:cNvPicPr>
          <p:nvPr/>
        </p:nvPicPr>
        <p:blipFill>
          <a:blip r:embed="rId2"/>
          <a:stretch>
            <a:fillRect/>
          </a:stretch>
        </p:blipFill>
        <p:spPr>
          <a:xfrm>
            <a:off x="6309360" y="3383280"/>
            <a:ext cx="2697480" cy="3840480"/>
          </a:xfrm>
          <a:prstGeom prst="rect">
            <a:avLst/>
          </a:prstGeom>
        </p:spPr>
      </p:pic>
      <p:pic>
        <p:nvPicPr>
          <p:cNvPr id="4" name="Photo" descr="preencoded.png">    </p:cNvPr>
          <p:cNvPicPr>
            <a:picLocks noChangeAspect="1"/>
          </p:cNvPicPr>
          <p:nvPr/>
        </p:nvPicPr>
        <p:blipFill>
          <a:blip r:embed="rId3"/>
          <a:stretch>
            <a:fillRect/>
          </a:stretch>
        </p:blipFill>
        <p:spPr>
          <a:xfrm>
            <a:off x="9189720" y="365760"/>
            <a:ext cx="2697480" cy="3246120"/>
          </a:xfrm>
          <a:prstGeom prst="rect">
            <a:avLst/>
          </a:prstGeom>
        </p:spPr>
      </p:pic>
      <p:pic>
        <p:nvPicPr>
          <p:cNvPr id="5" name="Photo" descr="preencoded.png">    </p:cNvPr>
          <p:cNvPicPr>
            <a:picLocks noChangeAspect="1"/>
          </p:cNvPicPr>
          <p:nvPr/>
        </p:nvPicPr>
        <p:blipFill>
          <a:blip r:embed="rId4"/>
          <a:stretch>
            <a:fillRect/>
          </a:stretch>
        </p:blipFill>
        <p:spPr>
          <a:xfrm>
            <a:off x="9189720" y="3794760"/>
            <a:ext cx="2697480" cy="3429000"/>
          </a:xfrm>
          <a:prstGeom prst="rect">
            <a:avLst/>
          </a:prstGeom>
        </p:spPr>
      </p:pic>
      <p:pic>
        <p:nvPicPr>
          <p:cNvPr id="6" name="Image 4" descr="/tmp/claude-0/-home-user-ad-gallery/7fc27a5a-8417-58c4-b3ff-7a7825ba0161/scratchpad/assets/logo.png">    </p:cNvPr>
          <p:cNvPicPr>
            <a:picLocks noChangeAspect="1"/>
          </p:cNvPicPr>
          <p:nvPr/>
        </p:nvPicPr>
        <p:blipFill>
          <a:blip r:embed="rId5"/>
          <a:stretch>
            <a:fillRect/>
          </a:stretch>
        </p:blipFill>
        <p:spPr>
          <a:xfrm>
            <a:off x="685800" y="685800"/>
            <a:ext cx="2377440" cy="656334"/>
          </a:xfrm>
          <a:prstGeom prst="rect">
            <a:avLst/>
          </a:prstGeom>
        </p:spPr>
      </p:pic>
      <p:sp>
        <p:nvSpPr>
          <p:cNvPr id="7" name="Text 0"/>
          <p:cNvSpPr txBox="1"/>
          <p:nvPr/>
        </p:nvSpPr>
        <p:spPr>
          <a:xfrm>
            <a:off x="685800" y="2011680"/>
            <a:ext cx="5486400" cy="274320"/>
          </a:xfrm>
          <a:prstGeom prst="rect">
            <a:avLst/>
          </a:prstGeom>
          <a:noFill/>
          <a:ln/>
        </p:spPr>
        <p:txBody>
          <a:bodyPr wrap="square" lIns="0" tIns="0" rIns="0" bIns="0" rtlCol="0" anchor="t"/>
          <a:lstStyle/>
          <a:p>
            <a:pPr indent="0" marL="0">
              <a:buNone/>
            </a:pPr>
            <a:r>
              <a:rPr lang="en-US" sz="1200" b="1" spc="500" kern="0" dirty="0">
                <a:solidFill>
                  <a:schemeClr val="accent1"/>
                </a:solidFill>
              </a:rPr>
              <a:t>ENABLING GROWTH SINCE 2005</a:t>
            </a:r>
            <a:endParaRPr lang="en-US" sz="1200" dirty="0"/>
          </a:p>
        </p:txBody>
      </p:sp>
      <p:sp>
        <p:nvSpPr>
          <p:cNvPr id="8" name="Text 1"/>
          <p:cNvSpPr txBox="1"/>
          <p:nvPr/>
        </p:nvSpPr>
        <p:spPr>
          <a:xfrm>
            <a:off x="658368" y="2331720"/>
            <a:ext cx="5486400" cy="960120"/>
          </a:xfrm>
          <a:prstGeom prst="rect">
            <a:avLst/>
          </a:prstGeom>
          <a:noFill/>
          <a:ln/>
        </p:spPr>
        <p:txBody>
          <a:bodyPr wrap="square" lIns="0" tIns="0" rIns="0" bIns="0" rtlCol="0" anchor="ctr"/>
          <a:lstStyle/>
          <a:p>
            <a:pPr indent="0" marL="0">
              <a:buNone/>
            </a:pPr>
            <a:r>
              <a:rPr lang="en-US" sz="7000" b="1" dirty="0">
                <a:solidFill>
                  <a:schemeClr val="tx1"/>
                </a:solidFill>
                <a:latin typeface="Arial" pitchFamily="34" charset="0"/>
                <a:ea typeface="Arial" pitchFamily="34" charset="-122"/>
                <a:cs typeface="Arial" pitchFamily="34" charset="-120"/>
              </a:rPr>
              <a:t>Company</a:t>
            </a:r>
            <a:endParaRPr lang="en-US" sz="7000" dirty="0"/>
          </a:p>
        </p:txBody>
      </p:sp>
      <p:sp>
        <p:nvSpPr>
          <p:cNvPr id="9" name="Text 2"/>
          <p:cNvSpPr txBox="1"/>
          <p:nvPr/>
        </p:nvSpPr>
        <p:spPr>
          <a:xfrm>
            <a:off x="658368" y="3246120"/>
            <a:ext cx="5486400" cy="960120"/>
          </a:xfrm>
          <a:prstGeom prst="rect">
            <a:avLst/>
          </a:prstGeom>
          <a:noFill/>
          <a:ln/>
        </p:spPr>
        <p:txBody>
          <a:bodyPr wrap="square" lIns="0" tIns="0" rIns="0" bIns="0" rtlCol="0" anchor="ctr"/>
          <a:lstStyle/>
          <a:p>
            <a:pPr indent="0" marL="0">
              <a:buNone/>
            </a:pPr>
            <a:r>
              <a:rPr lang="en-US" sz="7000" b="1" dirty="0">
                <a:solidFill>
                  <a:schemeClr val="accent1"/>
                </a:solidFill>
                <a:latin typeface="Arial" pitchFamily="34" charset="0"/>
                <a:ea typeface="Arial" pitchFamily="34" charset="-122"/>
                <a:cs typeface="Arial" pitchFamily="34" charset="-120"/>
              </a:rPr>
              <a:t>Profile</a:t>
            </a:r>
            <a:endParaRPr lang="en-US" sz="7000" dirty="0"/>
          </a:p>
        </p:txBody>
      </p:sp>
      <p:sp>
        <p:nvSpPr>
          <p:cNvPr id="10" name="Text 3"/>
          <p:cNvSpPr txBox="1"/>
          <p:nvPr/>
        </p:nvSpPr>
        <p:spPr>
          <a:xfrm>
            <a:off x="685800" y="4389120"/>
            <a:ext cx="4663440" cy="731520"/>
          </a:xfrm>
          <a:prstGeom prst="rect">
            <a:avLst/>
          </a:prstGeom>
          <a:noFill/>
          <a:ln/>
        </p:spPr>
        <p:txBody>
          <a:bodyPr wrap="square" lIns="0" tIns="0" rIns="0" bIns="0" rtlCol="0" anchor="t"/>
          <a:lstStyle/>
          <a:p>
            <a:pPr indent="0" marL="0">
              <a:buNone/>
            </a:pPr>
            <a:r>
              <a:rPr lang="en-US" sz="1700" dirty="0">
                <a:solidFill>
                  <a:schemeClr val="accent5"/>
                </a:solidFill>
              </a:rPr>
              <a:t>Data, analytics and AI solutions that turn information into business outcomes.</a:t>
            </a:r>
            <a:endParaRPr lang="en-US" sz="1700" dirty="0"/>
          </a:p>
        </p:txBody>
      </p:sp>
      <p:sp>
        <p:nvSpPr>
          <p:cNvPr id="11" name="Text 4"/>
          <p:cNvSpPr txBox="1"/>
          <p:nvPr/>
        </p:nvSpPr>
        <p:spPr>
          <a:xfrm>
            <a:off x="685800" y="5394960"/>
            <a:ext cx="1463040" cy="457200"/>
          </a:xfrm>
          <a:prstGeom prst="rect">
            <a:avLst/>
          </a:prstGeom>
          <a:noFill/>
          <a:ln/>
        </p:spPr>
        <p:txBody>
          <a:bodyPr wrap="square" lIns="0" tIns="0" rIns="0" bIns="0" rtlCol="0" anchor="t"/>
          <a:lstStyle/>
          <a:p>
            <a:pPr indent="0" marL="0">
              <a:buNone/>
            </a:pPr>
            <a:r>
              <a:rPr lang="en-US" sz="2600" b="1" dirty="0">
                <a:solidFill>
                  <a:schemeClr val="tx2"/>
                </a:solidFill>
                <a:latin typeface="Arial" pitchFamily="34" charset="0"/>
                <a:ea typeface="Arial" pitchFamily="34" charset="-122"/>
                <a:cs typeface="Arial" pitchFamily="34" charset="-120"/>
              </a:rPr>
              <a:t>20+</a:t>
            </a:r>
            <a:endParaRPr lang="en-US" sz="2600" dirty="0"/>
          </a:p>
        </p:txBody>
      </p:sp>
      <p:sp>
        <p:nvSpPr>
          <p:cNvPr id="12" name="Text 5"/>
          <p:cNvSpPr txBox="1"/>
          <p:nvPr/>
        </p:nvSpPr>
        <p:spPr>
          <a:xfrm>
            <a:off x="685800" y="5870448"/>
            <a:ext cx="1463040" cy="320040"/>
          </a:xfrm>
          <a:prstGeom prst="rect">
            <a:avLst/>
          </a:prstGeom>
          <a:noFill/>
          <a:ln/>
        </p:spPr>
        <p:txBody>
          <a:bodyPr wrap="square" lIns="0" tIns="0" rIns="0" bIns="0" rtlCol="0" anchor="t"/>
          <a:lstStyle/>
          <a:p>
            <a:pPr indent="0" marL="0">
              <a:buNone/>
            </a:pPr>
            <a:r>
              <a:rPr lang="en-US" sz="1100" dirty="0">
                <a:solidFill>
                  <a:schemeClr val="accent5"/>
                </a:solidFill>
              </a:rPr>
              <a:t>Years</a:t>
            </a:r>
            <a:endParaRPr lang="en-US" sz="1100" dirty="0"/>
          </a:p>
        </p:txBody>
      </p:sp>
      <p:sp>
        <p:nvSpPr>
          <p:cNvPr id="13" name="Rule"/>
          <p:cNvSpPr/>
          <p:nvPr/>
        </p:nvSpPr>
        <p:spPr>
          <a:xfrm>
            <a:off x="2148840" y="5486400"/>
            <a:ext cx="0" cy="731520"/>
          </a:xfrm>
          <a:prstGeom prst="line">
            <a:avLst/>
          </a:prstGeom>
          <a:noFill/>
          <a:ln w="12700">
            <a:solidFill>
              <a:schemeClr val="accent6"/>
            </a:solidFill>
            <a:prstDash val="solid"/>
          </a:ln>
        </p:spPr>
      </p:sp>
      <p:sp>
        <p:nvSpPr>
          <p:cNvPr id="14" name="Text 7"/>
          <p:cNvSpPr txBox="1"/>
          <p:nvPr/>
        </p:nvSpPr>
        <p:spPr>
          <a:xfrm>
            <a:off x="2331720" y="5394960"/>
            <a:ext cx="1463040" cy="457200"/>
          </a:xfrm>
          <a:prstGeom prst="rect">
            <a:avLst/>
          </a:prstGeom>
          <a:noFill/>
          <a:ln/>
        </p:spPr>
        <p:txBody>
          <a:bodyPr wrap="square" lIns="0" tIns="0" rIns="0" bIns="0" rtlCol="0" anchor="t"/>
          <a:lstStyle/>
          <a:p>
            <a:pPr indent="0" marL="0">
              <a:buNone/>
            </a:pPr>
            <a:r>
              <a:rPr lang="en-US" sz="2600" b="1" dirty="0">
                <a:solidFill>
                  <a:schemeClr val="tx2"/>
                </a:solidFill>
                <a:latin typeface="Arial" pitchFamily="34" charset="0"/>
                <a:ea typeface="Arial" pitchFamily="34" charset="-122"/>
                <a:cs typeface="Arial" pitchFamily="34" charset="-120"/>
              </a:rPr>
              <a:t>2000+</a:t>
            </a:r>
            <a:endParaRPr lang="en-US" sz="2600" dirty="0"/>
          </a:p>
        </p:txBody>
      </p:sp>
      <p:sp>
        <p:nvSpPr>
          <p:cNvPr id="15" name="Text 8"/>
          <p:cNvSpPr txBox="1"/>
          <p:nvPr/>
        </p:nvSpPr>
        <p:spPr>
          <a:xfrm>
            <a:off x="2331720" y="5870448"/>
            <a:ext cx="1463040" cy="320040"/>
          </a:xfrm>
          <a:prstGeom prst="rect">
            <a:avLst/>
          </a:prstGeom>
          <a:noFill/>
          <a:ln/>
        </p:spPr>
        <p:txBody>
          <a:bodyPr wrap="square" lIns="0" tIns="0" rIns="0" bIns="0" rtlCol="0" anchor="t"/>
          <a:lstStyle/>
          <a:p>
            <a:pPr indent="0" marL="0">
              <a:buNone/>
            </a:pPr>
            <a:r>
              <a:rPr lang="en-US" sz="1100" dirty="0">
                <a:solidFill>
                  <a:schemeClr val="accent5"/>
                </a:solidFill>
              </a:rPr>
              <a:t>Analytical projects</a:t>
            </a:r>
            <a:endParaRPr lang="en-US" sz="1100" dirty="0"/>
          </a:p>
        </p:txBody>
      </p:sp>
      <p:sp>
        <p:nvSpPr>
          <p:cNvPr id="16" name="Rule"/>
          <p:cNvSpPr/>
          <p:nvPr/>
        </p:nvSpPr>
        <p:spPr>
          <a:xfrm>
            <a:off x="3794760" y="5486400"/>
            <a:ext cx="0" cy="731520"/>
          </a:xfrm>
          <a:prstGeom prst="line">
            <a:avLst/>
          </a:prstGeom>
          <a:noFill/>
          <a:ln w="12700">
            <a:solidFill>
              <a:schemeClr val="accent6"/>
            </a:solidFill>
            <a:prstDash val="solid"/>
          </a:ln>
        </p:spPr>
      </p:sp>
      <p:sp>
        <p:nvSpPr>
          <p:cNvPr id="17" name="Text 10"/>
          <p:cNvSpPr txBox="1"/>
          <p:nvPr/>
        </p:nvSpPr>
        <p:spPr>
          <a:xfrm>
            <a:off x="3977640" y="5394960"/>
            <a:ext cx="1463040" cy="457200"/>
          </a:xfrm>
          <a:prstGeom prst="rect">
            <a:avLst/>
          </a:prstGeom>
          <a:noFill/>
          <a:ln/>
        </p:spPr>
        <p:txBody>
          <a:bodyPr wrap="square" lIns="0" tIns="0" rIns="0" bIns="0" rtlCol="0" anchor="t"/>
          <a:lstStyle/>
          <a:p>
            <a:pPr indent="0" marL="0">
              <a:buNone/>
            </a:pPr>
            <a:r>
              <a:rPr lang="en-US" sz="2600" b="1" dirty="0">
                <a:solidFill>
                  <a:schemeClr val="tx2"/>
                </a:solidFill>
                <a:latin typeface="Arial" pitchFamily="34" charset="0"/>
                <a:ea typeface="Arial" pitchFamily="34" charset="-122"/>
                <a:cs typeface="Arial" pitchFamily="34" charset="-120"/>
              </a:rPr>
              <a:t>100</a:t>
            </a:r>
            <a:endParaRPr lang="en-US" sz="2600" dirty="0"/>
          </a:p>
        </p:txBody>
      </p:sp>
      <p:sp>
        <p:nvSpPr>
          <p:cNvPr id="18" name="Text 11"/>
          <p:cNvSpPr txBox="1"/>
          <p:nvPr/>
        </p:nvSpPr>
        <p:spPr>
          <a:xfrm>
            <a:off x="3977640" y="5870448"/>
            <a:ext cx="1463040" cy="320040"/>
          </a:xfrm>
          <a:prstGeom prst="rect">
            <a:avLst/>
          </a:prstGeom>
          <a:noFill/>
          <a:ln/>
        </p:spPr>
        <p:txBody>
          <a:bodyPr wrap="square" lIns="0" tIns="0" rIns="0" bIns="0" rtlCol="0" anchor="t"/>
          <a:lstStyle/>
          <a:p>
            <a:pPr indent="0" marL="0">
              <a:buNone/>
            </a:pPr>
            <a:r>
              <a:rPr lang="en-US" sz="1100" dirty="0">
                <a:solidFill>
                  <a:schemeClr val="accent5"/>
                </a:solidFill>
              </a:rPr>
              <a:t>Member ODC</a:t>
            </a:r>
            <a:endParaRPr lang="en-US" sz="1100" dirty="0"/>
          </a:p>
        </p:txBody>
      </p:sp>
      <p:pic>
        <p:nvPicPr>
          <p:cNvPr id="19" name="Emblem" descr="preencoded.png">    </p:cNvPr>
          <p:cNvPicPr>
            <a:picLocks noChangeAspect="1"/>
          </p:cNvPicPr>
          <p:nvPr/>
        </p:nvPicPr>
        <p:blipFill>
          <a:blip r:embed="rId6"/>
          <a:stretch>
            <a:fillRect/>
          </a:stretch>
        </p:blipFill>
        <p:spPr>
          <a:xfrm>
            <a:off x="5257800" y="2377440"/>
            <a:ext cx="2103120" cy="2103120"/>
          </a:xfrm>
          <a:prstGeom prst="rect">
            <a:avLst/>
          </a:prstGeom>
        </p:spPr>
      </p:pic>
      <p:sp>
        <p:nvSpPr>
          <p:cNvPr id="20" name="Text 12"/>
          <p:cNvSpPr txBox="1"/>
          <p:nvPr/>
        </p:nvSpPr>
        <p:spPr>
          <a:xfrm>
            <a:off x="5257800" y="2852928"/>
            <a:ext cx="2103120" cy="685800"/>
          </a:xfrm>
          <a:prstGeom prst="rect">
            <a:avLst/>
          </a:prstGeom>
          <a:noFill/>
          <a:ln/>
        </p:spPr>
        <p:txBody>
          <a:bodyPr wrap="square" lIns="0" tIns="0" rIns="0" bIns="0" rtlCol="0" anchor="ctr"/>
          <a:lstStyle/>
          <a:p>
            <a:pPr algn="ctr" indent="0" marL="0">
              <a:buNone/>
            </a:pPr>
            <a:r>
              <a:rPr lang="en-US" sz="4000" b="1" dirty="0">
                <a:solidFill>
                  <a:schemeClr val="bg1"/>
                </a:solidFill>
                <a:latin typeface="Arial" pitchFamily="34" charset="0"/>
                <a:ea typeface="Arial" pitchFamily="34" charset="-122"/>
                <a:cs typeface="Arial" pitchFamily="34" charset="-120"/>
              </a:rPr>
              <a:t>20+</a:t>
            </a:r>
            <a:endParaRPr lang="en-US" sz="4000" dirty="0"/>
          </a:p>
        </p:txBody>
      </p:sp>
      <p:sp>
        <p:nvSpPr>
          <p:cNvPr id="21" name="Text 13"/>
          <p:cNvSpPr txBox="1"/>
          <p:nvPr/>
        </p:nvSpPr>
        <p:spPr>
          <a:xfrm>
            <a:off x="5257800" y="3520440"/>
            <a:ext cx="2103120" cy="457200"/>
          </a:xfrm>
          <a:prstGeom prst="rect">
            <a:avLst/>
          </a:prstGeom>
          <a:noFill/>
          <a:ln/>
        </p:spPr>
        <p:txBody>
          <a:bodyPr wrap="square" lIns="0" tIns="0" rIns="0" bIns="0" rtlCol="0" anchor="t"/>
          <a:lstStyle/>
          <a:p>
            <a:pPr algn="ctr" indent="0" marL="0">
              <a:buNone/>
            </a:pPr>
            <a:r>
              <a:rPr lang="en-US" sz="900" b="1" spc="200" kern="0" dirty="0">
                <a:solidFill>
                  <a:schemeClr val="accent3"/>
                </a:solidFill>
              </a:rPr>
              <a:t>YEARS OF</a:t>
            </a:r>
            <a:endParaRPr lang="en-US" sz="900" dirty="0"/>
          </a:p>
          <a:p>
            <a:pPr algn="ctr" indent="0" marL="0">
              <a:buNone/>
            </a:pPr>
            <a:r>
              <a:rPr lang="en-US" sz="900" b="1" spc="200" kern="0" dirty="0">
                <a:solidFill>
                  <a:schemeClr val="accent3"/>
                </a:solidFill>
              </a:rPr>
              <a:t>ENABLING GROWTH</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About Us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WHO WE ARE</a:t>
            </a:r>
            <a:endParaRPr lang="en-US" sz="1100" dirty="0"/>
          </a:p>
        </p:txBody>
      </p:sp>
      <p:sp>
        <p:nvSpPr>
          <p:cNvPr id="4" name="Pill"/>
          <p:cNvSpPr/>
          <p:nvPr/>
        </p:nvSpPr>
        <p:spPr>
          <a:xfrm>
            <a:off x="502920" y="1600200"/>
            <a:ext cx="1188720" cy="310896"/>
          </a:xfrm>
          <a:prstGeom prst="roundRect">
            <a:avLst>
              <a:gd name="adj" fmla="val 50000"/>
            </a:avLst>
          </a:prstGeom>
          <a:solidFill>
            <a:schemeClr val="tx2"/>
          </a:solidFill>
          <a:ln/>
        </p:spPr>
      </p:sp>
      <p:sp>
        <p:nvSpPr>
          <p:cNvPr id="5" name="Text 3"/>
          <p:cNvSpPr txBox="1"/>
          <p:nvPr/>
        </p:nvSpPr>
        <p:spPr>
          <a:xfrm>
            <a:off x="502920" y="1600200"/>
            <a:ext cx="1188720" cy="310896"/>
          </a:xfrm>
          <a:prstGeom prst="rect">
            <a:avLst/>
          </a:prstGeom>
          <a:noFill/>
          <a:ln/>
        </p:spPr>
        <p:txBody>
          <a:bodyPr wrap="square" lIns="0" tIns="0" rIns="0" bIns="0" rtlCol="0" anchor="ctr"/>
          <a:lstStyle/>
          <a:p>
            <a:pPr algn="ctr" indent="0" marL="0">
              <a:buNone/>
            </a:pPr>
            <a:r>
              <a:rPr lang="en-US" sz="1000" b="1" spc="200" kern="0" dirty="0">
                <a:solidFill>
                  <a:schemeClr val="bg1"/>
                </a:solidFill>
              </a:rPr>
              <a:t>EST. 2005</a:t>
            </a:r>
            <a:endParaRPr lang="en-US" sz="1000" dirty="0"/>
          </a:p>
        </p:txBody>
      </p:sp>
      <p:sp>
        <p:nvSpPr>
          <p:cNvPr id="6" name="Text 4"/>
          <p:cNvSpPr txBox="1"/>
          <p:nvPr/>
        </p:nvSpPr>
        <p:spPr>
          <a:xfrm>
            <a:off x="502920" y="2057400"/>
            <a:ext cx="4937760" cy="1005840"/>
          </a:xfrm>
          <a:prstGeom prst="rect">
            <a:avLst/>
          </a:prstGeom>
          <a:noFill/>
          <a:ln/>
        </p:spPr>
        <p:txBody>
          <a:bodyPr wrap="square" lIns="0" tIns="0" rIns="0" bIns="0" rtlCol="0" anchor="t"/>
          <a:lstStyle/>
          <a:p>
            <a:pPr indent="0" marL="0">
              <a:buNone/>
            </a:pPr>
            <a:r>
              <a:rPr lang="en-US" sz="2800" b="1" dirty="0">
                <a:solidFill>
                  <a:schemeClr val="tx1"/>
                </a:solidFill>
                <a:latin typeface="Arial" pitchFamily="34" charset="0"/>
                <a:ea typeface="Arial" pitchFamily="34" charset="-122"/>
                <a:cs typeface="Arial" pitchFamily="34" charset="-120"/>
              </a:rPr>
              <a:t>Two decades of </a:t>
            </a:r>
            <a:pPr indent="0" marL="0">
              <a:buNone/>
            </a:pPr>
            <a:r>
              <a:rPr lang="en-US" sz="2800" b="1" dirty="0">
                <a:solidFill>
                  <a:schemeClr val="accent1"/>
                </a:solidFill>
                <a:latin typeface="Arial" pitchFamily="34" charset="0"/>
                <a:ea typeface="Arial" pitchFamily="34" charset="-122"/>
                <a:cs typeface="Arial" pitchFamily="34" charset="-120"/>
              </a:rPr>
              <a:t>enabling growth</a:t>
            </a:r>
            <a:pPr indent="0" marL="0">
              <a:buNone/>
            </a:pPr>
            <a:r>
              <a:rPr lang="en-US" sz="2800" b="1" dirty="0">
                <a:solidFill>
                  <a:schemeClr val="tx1"/>
                </a:solidFill>
                <a:latin typeface="Arial" pitchFamily="34" charset="0"/>
                <a:ea typeface="Arial" pitchFamily="34" charset="-122"/>
                <a:cs typeface="Arial" pitchFamily="34" charset="-120"/>
              </a:rPr>
              <a:t> through data</a:t>
            </a:r>
            <a:endParaRPr lang="en-US" sz="2800" dirty="0"/>
          </a:p>
        </p:txBody>
      </p:sp>
      <p:sp>
        <p:nvSpPr>
          <p:cNvPr id="7" name="Text 5"/>
          <p:cNvSpPr txBox="1"/>
          <p:nvPr/>
        </p:nvSpPr>
        <p:spPr>
          <a:xfrm>
            <a:off x="502920" y="3200400"/>
            <a:ext cx="4846320" cy="2926080"/>
          </a:xfrm>
          <a:prstGeom prst="rect">
            <a:avLst/>
          </a:prstGeom>
          <a:noFill/>
          <a:ln/>
        </p:spPr>
        <p:txBody>
          <a:bodyPr wrap="square" lIns="0" tIns="0" rIns="0" bIns="0" rtlCol="0" anchor="t"/>
          <a:lstStyle/>
          <a:p>
            <a:pPr indent="0" marL="0">
              <a:lnSpc>
                <a:spcPct val="130000"/>
              </a:lnSpc>
              <a:buNone/>
            </a:pPr>
            <a:r>
              <a:rPr lang="en-US" sz="1600" dirty="0">
                <a:solidFill>
                  <a:schemeClr val="accent5"/>
                </a:solidFill>
              </a:rPr>
              <a:t>Established in 2005, we have over 20 years of experience in driving business growth. Our 100-member strong Offshore Development Center ensures seamless execution, while our team's expertise has led to over 2000 analytical products. We provide tailored data solutions for specific business functions globally and remain dedicated to empowering businesses worldwide.</a:t>
            </a:r>
            <a:endParaRPr lang="en-US" sz="1600" dirty="0"/>
          </a:p>
        </p:txBody>
      </p:sp>
      <p:pic>
        <p:nvPicPr>
          <p:cNvPr id="8" name="Card" descr="preencoded.png">    </p:cNvPr>
          <p:cNvPicPr>
            <a:picLocks noChangeAspect="1"/>
          </p:cNvPicPr>
          <p:nvPr/>
        </p:nvPicPr>
        <p:blipFill>
          <a:blip r:embed="rId1"/>
          <a:stretch>
            <a:fillRect/>
          </a:stretch>
        </p:blipFill>
        <p:spPr>
          <a:xfrm>
            <a:off x="5797296" y="1453896"/>
            <a:ext cx="6037783" cy="2304288"/>
          </a:xfrm>
          <a:prstGeom prst="rect">
            <a:avLst/>
          </a:prstGeom>
        </p:spPr>
      </p:pic>
      <p:sp>
        <p:nvSpPr>
          <p:cNvPr id="9" name="Text 6"/>
          <p:cNvSpPr txBox="1"/>
          <p:nvPr/>
        </p:nvSpPr>
        <p:spPr>
          <a:xfrm>
            <a:off x="6263640" y="1783080"/>
            <a:ext cx="3657600" cy="256032"/>
          </a:xfrm>
          <a:prstGeom prst="rect">
            <a:avLst/>
          </a:prstGeom>
          <a:noFill/>
          <a:ln/>
        </p:spPr>
        <p:txBody>
          <a:bodyPr wrap="square" lIns="0" tIns="0" rIns="0" bIns="0" rtlCol="0" anchor="t"/>
          <a:lstStyle/>
          <a:p>
            <a:pPr indent="0" marL="0">
              <a:buNone/>
            </a:pPr>
            <a:r>
              <a:rPr lang="en-US" sz="1000" b="1" spc="400" kern="0" dirty="0">
                <a:solidFill>
                  <a:schemeClr val="accent2"/>
                </a:solidFill>
              </a:rPr>
              <a:t>BY THE NUMBERS</a:t>
            </a:r>
            <a:endParaRPr lang="en-US" sz="1000" dirty="0"/>
          </a:p>
        </p:txBody>
      </p:sp>
      <p:sp>
        <p:nvSpPr>
          <p:cNvPr id="10" name="Text 7"/>
          <p:cNvSpPr txBox="1"/>
          <p:nvPr/>
        </p:nvSpPr>
        <p:spPr>
          <a:xfrm>
            <a:off x="6263640" y="2148840"/>
            <a:ext cx="1610258" cy="822960"/>
          </a:xfrm>
          <a:prstGeom prst="rect">
            <a:avLst/>
          </a:prstGeom>
          <a:noFill/>
          <a:ln/>
        </p:spPr>
        <p:txBody>
          <a:bodyPr wrap="square" lIns="0" tIns="0" rIns="0" bIns="0" rtlCol="0" anchor="ctr"/>
          <a:lstStyle/>
          <a:p>
            <a:pPr indent="0" marL="0">
              <a:buNone/>
            </a:pPr>
            <a:r>
              <a:rPr lang="en-US" sz="3800" b="1" dirty="0">
                <a:solidFill>
                  <a:schemeClr val="tx2"/>
                </a:solidFill>
                <a:latin typeface="Arial" pitchFamily="34" charset="0"/>
                <a:ea typeface="Arial" pitchFamily="34" charset="-122"/>
                <a:cs typeface="Arial" pitchFamily="34" charset="-120"/>
              </a:rPr>
              <a:t>20</a:t>
            </a:r>
            <a:pPr indent="0" marL="0">
              <a:buNone/>
            </a:pPr>
            <a:r>
              <a:rPr lang="en-US" sz="3800" b="1" dirty="0">
                <a:solidFill>
                  <a:schemeClr val="accent1"/>
                </a:solidFill>
                <a:latin typeface="Arial" pitchFamily="34" charset="0"/>
                <a:ea typeface="Arial" pitchFamily="34" charset="-122"/>
                <a:cs typeface="Arial" pitchFamily="34" charset="-120"/>
              </a:rPr>
              <a:t>+</a:t>
            </a:r>
            <a:endParaRPr lang="en-US" sz="3800" dirty="0"/>
          </a:p>
        </p:txBody>
      </p:sp>
      <p:sp>
        <p:nvSpPr>
          <p:cNvPr id="11" name="Text 8"/>
          <p:cNvSpPr txBox="1"/>
          <p:nvPr/>
        </p:nvSpPr>
        <p:spPr>
          <a:xfrm>
            <a:off x="6263640" y="2999232"/>
            <a:ext cx="1518818" cy="457200"/>
          </a:xfrm>
          <a:prstGeom prst="rect">
            <a:avLst/>
          </a:prstGeom>
          <a:noFill/>
          <a:ln/>
        </p:spPr>
        <p:txBody>
          <a:bodyPr wrap="square" lIns="0" tIns="0" rIns="0" bIns="0" rtlCol="0" anchor="t"/>
          <a:lstStyle/>
          <a:p>
            <a:pPr indent="0" marL="0">
              <a:buNone/>
            </a:pPr>
            <a:r>
              <a:rPr lang="en-US" sz="1300" b="1" dirty="0">
                <a:solidFill>
                  <a:schemeClr val="tx1"/>
                </a:solidFill>
              </a:rPr>
              <a:t>Years of Enabling Growth</a:t>
            </a:r>
            <a:endParaRPr lang="en-US" sz="1300" dirty="0"/>
          </a:p>
        </p:txBody>
      </p:sp>
      <p:sp>
        <p:nvSpPr>
          <p:cNvPr id="12" name="Rule"/>
          <p:cNvSpPr/>
          <p:nvPr/>
        </p:nvSpPr>
        <p:spPr>
          <a:xfrm>
            <a:off x="7873898" y="2240280"/>
            <a:ext cx="0" cy="1143000"/>
          </a:xfrm>
          <a:prstGeom prst="line">
            <a:avLst/>
          </a:prstGeom>
          <a:noFill/>
          <a:ln w="12700">
            <a:solidFill>
              <a:schemeClr val="accent6"/>
            </a:solidFill>
            <a:prstDash val="solid"/>
          </a:ln>
        </p:spPr>
      </p:sp>
      <p:sp>
        <p:nvSpPr>
          <p:cNvPr id="13" name="Text 10"/>
          <p:cNvSpPr txBox="1"/>
          <p:nvPr/>
        </p:nvSpPr>
        <p:spPr>
          <a:xfrm>
            <a:off x="7965338" y="2148840"/>
            <a:ext cx="1610258" cy="822960"/>
          </a:xfrm>
          <a:prstGeom prst="rect">
            <a:avLst/>
          </a:prstGeom>
          <a:noFill/>
          <a:ln/>
        </p:spPr>
        <p:txBody>
          <a:bodyPr wrap="square" lIns="0" tIns="0" rIns="0" bIns="0" rtlCol="0" anchor="ctr"/>
          <a:lstStyle/>
          <a:p>
            <a:pPr indent="0" marL="0">
              <a:buNone/>
            </a:pPr>
            <a:r>
              <a:rPr lang="en-US" sz="3800" b="1" dirty="0">
                <a:solidFill>
                  <a:schemeClr val="tx2"/>
                </a:solidFill>
                <a:latin typeface="Arial" pitchFamily="34" charset="0"/>
                <a:ea typeface="Arial" pitchFamily="34" charset="-122"/>
                <a:cs typeface="Arial" pitchFamily="34" charset="-120"/>
              </a:rPr>
              <a:t>2000</a:t>
            </a:r>
            <a:pPr indent="0" marL="0">
              <a:buNone/>
            </a:pPr>
            <a:r>
              <a:rPr lang="en-US" sz="3800" b="1" dirty="0">
                <a:solidFill>
                  <a:schemeClr val="accent1"/>
                </a:solidFill>
                <a:latin typeface="Arial" pitchFamily="34" charset="0"/>
                <a:ea typeface="Arial" pitchFamily="34" charset="-122"/>
                <a:cs typeface="Arial" pitchFamily="34" charset="-120"/>
              </a:rPr>
              <a:t>+</a:t>
            </a:r>
            <a:endParaRPr lang="en-US" sz="3800" dirty="0"/>
          </a:p>
        </p:txBody>
      </p:sp>
      <p:sp>
        <p:nvSpPr>
          <p:cNvPr id="14" name="Text 11"/>
          <p:cNvSpPr txBox="1"/>
          <p:nvPr/>
        </p:nvSpPr>
        <p:spPr>
          <a:xfrm>
            <a:off x="7965338" y="2999232"/>
            <a:ext cx="1518818" cy="457200"/>
          </a:xfrm>
          <a:prstGeom prst="rect">
            <a:avLst/>
          </a:prstGeom>
          <a:noFill/>
          <a:ln/>
        </p:spPr>
        <p:txBody>
          <a:bodyPr wrap="square" lIns="0" tIns="0" rIns="0" bIns="0" rtlCol="0" anchor="t"/>
          <a:lstStyle/>
          <a:p>
            <a:pPr indent="0" marL="0">
              <a:buNone/>
            </a:pPr>
            <a:r>
              <a:rPr lang="en-US" sz="1300" b="1" dirty="0">
                <a:solidFill>
                  <a:schemeClr val="tx1"/>
                </a:solidFill>
              </a:rPr>
              <a:t>Analytical Projects</a:t>
            </a:r>
            <a:endParaRPr lang="en-US" sz="1300" dirty="0"/>
          </a:p>
        </p:txBody>
      </p:sp>
      <p:sp>
        <p:nvSpPr>
          <p:cNvPr id="15" name="Rule"/>
          <p:cNvSpPr/>
          <p:nvPr/>
        </p:nvSpPr>
        <p:spPr>
          <a:xfrm>
            <a:off x="9575597" y="2240280"/>
            <a:ext cx="0" cy="1143000"/>
          </a:xfrm>
          <a:prstGeom prst="line">
            <a:avLst/>
          </a:prstGeom>
          <a:noFill/>
          <a:ln w="12700">
            <a:solidFill>
              <a:schemeClr val="accent6"/>
            </a:solidFill>
            <a:prstDash val="solid"/>
          </a:ln>
        </p:spPr>
      </p:sp>
      <p:sp>
        <p:nvSpPr>
          <p:cNvPr id="16" name="Text 13"/>
          <p:cNvSpPr txBox="1"/>
          <p:nvPr/>
        </p:nvSpPr>
        <p:spPr>
          <a:xfrm>
            <a:off x="9667037" y="2148840"/>
            <a:ext cx="1610258" cy="822960"/>
          </a:xfrm>
          <a:prstGeom prst="rect">
            <a:avLst/>
          </a:prstGeom>
          <a:noFill/>
          <a:ln/>
        </p:spPr>
        <p:txBody>
          <a:bodyPr wrap="square" lIns="0" tIns="0" rIns="0" bIns="0" rtlCol="0" anchor="ctr"/>
          <a:lstStyle/>
          <a:p>
            <a:pPr indent="0" marL="0">
              <a:buNone/>
            </a:pPr>
            <a:r>
              <a:rPr lang="en-US" sz="3800" b="1" dirty="0">
                <a:solidFill>
                  <a:schemeClr val="tx2"/>
                </a:solidFill>
                <a:latin typeface="Arial" pitchFamily="34" charset="0"/>
                <a:ea typeface="Arial" pitchFamily="34" charset="-122"/>
                <a:cs typeface="Arial" pitchFamily="34" charset="-120"/>
              </a:rPr>
              <a:t>100</a:t>
            </a:r>
            <a:pPr indent="0" marL="0">
              <a:buNone/>
            </a:pPr>
            <a:endParaRPr lang="en-US" sz="3800" dirty="0"/>
          </a:p>
        </p:txBody>
      </p:sp>
      <p:sp>
        <p:nvSpPr>
          <p:cNvPr id="17" name="Text 14"/>
          <p:cNvSpPr txBox="1"/>
          <p:nvPr/>
        </p:nvSpPr>
        <p:spPr>
          <a:xfrm>
            <a:off x="9667037" y="2999232"/>
            <a:ext cx="1518818" cy="457200"/>
          </a:xfrm>
          <a:prstGeom prst="rect">
            <a:avLst/>
          </a:prstGeom>
          <a:noFill/>
          <a:ln/>
        </p:spPr>
        <p:txBody>
          <a:bodyPr wrap="square" lIns="0" tIns="0" rIns="0" bIns="0" rtlCol="0" anchor="t"/>
          <a:lstStyle/>
          <a:p>
            <a:pPr indent="0" marL="0">
              <a:buNone/>
            </a:pPr>
            <a:r>
              <a:rPr lang="en-US" sz="1300" b="1" dirty="0">
                <a:solidFill>
                  <a:schemeClr val="tx1"/>
                </a:solidFill>
              </a:rPr>
              <a:t>Member ODC</a:t>
            </a:r>
            <a:endParaRPr lang="en-US" sz="1300" dirty="0"/>
          </a:p>
        </p:txBody>
      </p:sp>
      <p:pic>
        <p:nvPicPr>
          <p:cNvPr id="18" name="Card" descr="preencoded.png">    </p:cNvPr>
          <p:cNvPicPr>
            <a:picLocks noChangeAspect="1"/>
          </p:cNvPicPr>
          <p:nvPr/>
        </p:nvPicPr>
        <p:blipFill>
          <a:blip r:embed="rId2"/>
          <a:stretch>
            <a:fillRect/>
          </a:stretch>
        </p:blipFill>
        <p:spPr>
          <a:xfrm>
            <a:off x="5797296" y="3739896"/>
            <a:ext cx="2085746" cy="2532888"/>
          </a:xfrm>
          <a:prstGeom prst="rect">
            <a:avLst/>
          </a:prstGeom>
        </p:spPr>
      </p:pic>
      <p:pic>
        <p:nvPicPr>
          <p:cNvPr id="19" name="Badge" descr="preencoded.png">    </p:cNvPr>
          <p:cNvPicPr>
            <a:picLocks noChangeAspect="1"/>
          </p:cNvPicPr>
          <p:nvPr/>
        </p:nvPicPr>
        <p:blipFill>
          <a:blip r:embed="rId3"/>
          <a:stretch>
            <a:fillRect/>
          </a:stretch>
        </p:blipFill>
        <p:spPr>
          <a:xfrm>
            <a:off x="6217920" y="4160520"/>
            <a:ext cx="713232" cy="713232"/>
          </a:xfrm>
          <a:prstGeom prst="rect">
            <a:avLst/>
          </a:prstGeom>
        </p:spPr>
      </p:pic>
      <p:sp>
        <p:nvSpPr>
          <p:cNvPr id="20" name="Text 15"/>
          <p:cNvSpPr txBox="1"/>
          <p:nvPr/>
        </p:nvSpPr>
        <p:spPr>
          <a:xfrm>
            <a:off x="6217920" y="5074920"/>
            <a:ext cx="1335938" cy="777240"/>
          </a:xfrm>
          <a:prstGeom prst="rect">
            <a:avLst/>
          </a:prstGeom>
          <a:noFill/>
          <a:ln/>
        </p:spPr>
        <p:txBody>
          <a:bodyPr wrap="square" lIns="0" tIns="0" rIns="0" bIns="0" rtlCol="0" anchor="t"/>
          <a:lstStyle/>
          <a:p>
            <a:pPr indent="0" marL="0">
              <a:buNone/>
            </a:pPr>
            <a:r>
              <a:rPr lang="en-US" sz="1600" b="1" dirty="0">
                <a:solidFill>
                  <a:schemeClr val="bg1"/>
                </a:solidFill>
              </a:rPr>
              <a:t>Global Presence</a:t>
            </a:r>
            <a:endParaRPr lang="en-US" sz="1600" dirty="0"/>
          </a:p>
        </p:txBody>
      </p:sp>
      <p:pic>
        <p:nvPicPr>
          <p:cNvPr id="21" name="Card" descr="preencoded.png">    </p:cNvPr>
          <p:cNvPicPr>
            <a:picLocks noChangeAspect="1"/>
          </p:cNvPicPr>
          <p:nvPr/>
        </p:nvPicPr>
        <p:blipFill>
          <a:blip r:embed="rId4"/>
          <a:stretch>
            <a:fillRect/>
          </a:stretch>
        </p:blipFill>
        <p:spPr>
          <a:xfrm>
            <a:off x="7773314" y="3739896"/>
            <a:ext cx="2085746" cy="2532888"/>
          </a:xfrm>
          <a:prstGeom prst="rect">
            <a:avLst/>
          </a:prstGeom>
        </p:spPr>
      </p:pic>
      <p:pic>
        <p:nvPicPr>
          <p:cNvPr id="22" name="Badge" descr="preencoded.png">    </p:cNvPr>
          <p:cNvPicPr>
            <a:picLocks noChangeAspect="1"/>
          </p:cNvPicPr>
          <p:nvPr/>
        </p:nvPicPr>
        <p:blipFill>
          <a:blip r:embed="rId5"/>
          <a:stretch>
            <a:fillRect/>
          </a:stretch>
        </p:blipFill>
        <p:spPr>
          <a:xfrm>
            <a:off x="8193938" y="4160520"/>
            <a:ext cx="713232" cy="713232"/>
          </a:xfrm>
          <a:prstGeom prst="rect">
            <a:avLst/>
          </a:prstGeom>
        </p:spPr>
      </p:pic>
      <p:sp>
        <p:nvSpPr>
          <p:cNvPr id="23" name="Text 16"/>
          <p:cNvSpPr txBox="1"/>
          <p:nvPr/>
        </p:nvSpPr>
        <p:spPr>
          <a:xfrm>
            <a:off x="8193938" y="5074920"/>
            <a:ext cx="1335938" cy="777240"/>
          </a:xfrm>
          <a:prstGeom prst="rect">
            <a:avLst/>
          </a:prstGeom>
          <a:noFill/>
          <a:ln/>
        </p:spPr>
        <p:txBody>
          <a:bodyPr wrap="square" lIns="0" tIns="0" rIns="0" bIns="0" rtlCol="0" anchor="t"/>
          <a:lstStyle/>
          <a:p>
            <a:pPr indent="0" marL="0">
              <a:buNone/>
            </a:pPr>
            <a:r>
              <a:rPr lang="en-US" sz="1600" b="1" dirty="0">
                <a:solidFill>
                  <a:schemeClr val="tx1"/>
                </a:solidFill>
              </a:rPr>
              <a:t>Techno Functional Team</a:t>
            </a:r>
            <a:endParaRPr lang="en-US" sz="1600" dirty="0"/>
          </a:p>
        </p:txBody>
      </p:sp>
      <p:pic>
        <p:nvPicPr>
          <p:cNvPr id="24" name="Card" descr="preencoded.png">    </p:cNvPr>
          <p:cNvPicPr>
            <a:picLocks noChangeAspect="1"/>
          </p:cNvPicPr>
          <p:nvPr/>
        </p:nvPicPr>
        <p:blipFill>
          <a:blip r:embed="rId6"/>
          <a:stretch>
            <a:fillRect/>
          </a:stretch>
        </p:blipFill>
        <p:spPr>
          <a:xfrm>
            <a:off x="9749333" y="3739896"/>
            <a:ext cx="2085746" cy="2532888"/>
          </a:xfrm>
          <a:prstGeom prst="rect">
            <a:avLst/>
          </a:prstGeom>
        </p:spPr>
      </p:pic>
      <p:pic>
        <p:nvPicPr>
          <p:cNvPr id="25" name="Badge" descr="preencoded.png">    </p:cNvPr>
          <p:cNvPicPr>
            <a:picLocks noChangeAspect="1"/>
          </p:cNvPicPr>
          <p:nvPr/>
        </p:nvPicPr>
        <p:blipFill>
          <a:blip r:embed="rId7"/>
          <a:stretch>
            <a:fillRect/>
          </a:stretch>
        </p:blipFill>
        <p:spPr>
          <a:xfrm>
            <a:off x="10169957" y="4160520"/>
            <a:ext cx="713232" cy="713232"/>
          </a:xfrm>
          <a:prstGeom prst="rect">
            <a:avLst/>
          </a:prstGeom>
        </p:spPr>
      </p:pic>
      <p:sp>
        <p:nvSpPr>
          <p:cNvPr id="26" name="Text 17"/>
          <p:cNvSpPr txBox="1"/>
          <p:nvPr/>
        </p:nvSpPr>
        <p:spPr>
          <a:xfrm>
            <a:off x="10169957" y="5074920"/>
            <a:ext cx="1335938" cy="777240"/>
          </a:xfrm>
          <a:prstGeom prst="rect">
            <a:avLst/>
          </a:prstGeom>
          <a:noFill/>
          <a:ln/>
        </p:spPr>
        <p:txBody>
          <a:bodyPr wrap="square" lIns="0" tIns="0" rIns="0" bIns="0" rtlCol="0" anchor="t"/>
          <a:lstStyle/>
          <a:p>
            <a:pPr indent="0" marL="0">
              <a:buNone/>
            </a:pPr>
            <a:r>
              <a:rPr lang="en-US" sz="1600" b="1" dirty="0">
                <a:solidFill>
                  <a:schemeClr val="tx1"/>
                </a:solidFill>
              </a:rPr>
              <a:t>Data Products for Specific Functions</a:t>
            </a:r>
            <a:endParaRPr lang="en-US" sz="16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Five IT Waves That Shaped Industries Globally</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THE CONTEXT</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From building technology systems to transforming how people work</a:t>
            </a:r>
            <a:endParaRPr lang="en-US" sz="1500" dirty="0"/>
          </a:p>
        </p:txBody>
      </p:sp>
      <p:pic>
        <p:nvPicPr>
          <p:cNvPr id="5" name="Card" descr="preencoded.png">    </p:cNvPr>
          <p:cNvPicPr>
            <a:picLocks noChangeAspect="1"/>
          </p:cNvPicPr>
          <p:nvPr/>
        </p:nvPicPr>
        <p:blipFill>
          <a:blip r:embed="rId1"/>
          <a:stretch>
            <a:fillRect/>
          </a:stretch>
        </p:blipFill>
        <p:spPr>
          <a:xfrm>
            <a:off x="356616" y="1682496"/>
            <a:ext cx="2377440" cy="3218688"/>
          </a:xfrm>
          <a:prstGeom prst="rect">
            <a:avLst/>
          </a:prstGeom>
        </p:spPr>
      </p:pic>
      <p:pic>
        <p:nvPicPr>
          <p:cNvPr id="6" name="Photo" descr="preencoded.png">    </p:cNvPr>
          <p:cNvPicPr>
            <a:picLocks noChangeAspect="1"/>
          </p:cNvPicPr>
          <p:nvPr/>
        </p:nvPicPr>
        <p:blipFill>
          <a:blip r:embed="rId2"/>
          <a:stretch>
            <a:fillRect/>
          </a:stretch>
        </p:blipFill>
        <p:spPr>
          <a:xfrm>
            <a:off x="594360" y="1920240"/>
            <a:ext cx="1901952" cy="1280160"/>
          </a:xfrm>
          <a:prstGeom prst="rect">
            <a:avLst/>
          </a:prstGeom>
        </p:spPr>
      </p:pic>
      <p:pic>
        <p:nvPicPr>
          <p:cNvPr id="7" name="Badge" descr="preencoded.png">    </p:cNvPr>
          <p:cNvPicPr>
            <a:picLocks noChangeAspect="1"/>
          </p:cNvPicPr>
          <p:nvPr/>
        </p:nvPicPr>
        <p:blipFill>
          <a:blip r:embed="rId3"/>
          <a:stretch>
            <a:fillRect/>
          </a:stretch>
        </p:blipFill>
        <p:spPr>
          <a:xfrm>
            <a:off x="1271016" y="2926080"/>
            <a:ext cx="548640" cy="548640"/>
          </a:xfrm>
          <a:prstGeom prst="rect">
            <a:avLst/>
          </a:prstGeom>
        </p:spPr>
      </p:pic>
      <p:sp>
        <p:nvSpPr>
          <p:cNvPr id="8" name="Text 3"/>
          <p:cNvSpPr txBox="1"/>
          <p:nvPr/>
        </p:nvSpPr>
        <p:spPr>
          <a:xfrm>
            <a:off x="594360"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2000 – 2007</a:t>
            </a:r>
            <a:endParaRPr lang="en-US" sz="1000" dirty="0"/>
          </a:p>
        </p:txBody>
      </p:sp>
      <p:sp>
        <p:nvSpPr>
          <p:cNvPr id="9" name="Text 4"/>
          <p:cNvSpPr txBox="1"/>
          <p:nvPr/>
        </p:nvSpPr>
        <p:spPr>
          <a:xfrm>
            <a:off x="594360" y="3840480"/>
            <a:ext cx="1901952" cy="329184"/>
          </a:xfrm>
          <a:prstGeom prst="rect">
            <a:avLst/>
          </a:prstGeom>
          <a:noFill/>
          <a:ln/>
        </p:spPr>
        <p:txBody>
          <a:bodyPr wrap="square" lIns="0" tIns="0" rIns="0" bIns="0" rtlCol="0" anchor="t"/>
          <a:lstStyle/>
          <a:p>
            <a:pPr algn="ctr" indent="0" marL="0">
              <a:buNone/>
            </a:pPr>
            <a:r>
              <a:rPr lang="en-US" sz="1400" b="1" dirty="0">
                <a:solidFill>
                  <a:schemeClr val="tx1"/>
                </a:solidFill>
                <a:latin typeface="Arial" pitchFamily="34" charset="0"/>
                <a:ea typeface="Arial" pitchFamily="34" charset="-122"/>
                <a:cs typeface="Arial" pitchFamily="34" charset="-120"/>
              </a:rPr>
              <a:t>INTERNET</a:t>
            </a:r>
            <a:endParaRPr lang="en-US" sz="1400" dirty="0"/>
          </a:p>
        </p:txBody>
      </p:sp>
      <p:sp>
        <p:nvSpPr>
          <p:cNvPr id="10" name="Text 5"/>
          <p:cNvSpPr txBox="1"/>
          <p:nvPr/>
        </p:nvSpPr>
        <p:spPr>
          <a:xfrm>
            <a:off x="640080"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connected</a:t>
            </a:r>
            <a:endParaRPr lang="en-US" sz="1200" dirty="0"/>
          </a:p>
        </p:txBody>
      </p:sp>
      <p:pic>
        <p:nvPicPr>
          <p:cNvPr id="11" name="Card" descr="preencoded.png">    </p:cNvPr>
          <p:cNvPicPr>
            <a:picLocks noChangeAspect="1"/>
          </p:cNvPicPr>
          <p:nvPr/>
        </p:nvPicPr>
        <p:blipFill>
          <a:blip r:embed="rId4"/>
          <a:stretch>
            <a:fillRect/>
          </a:stretch>
        </p:blipFill>
        <p:spPr>
          <a:xfrm>
            <a:off x="2606040" y="1682496"/>
            <a:ext cx="2377440" cy="3218688"/>
          </a:xfrm>
          <a:prstGeom prst="rect">
            <a:avLst/>
          </a:prstGeom>
        </p:spPr>
      </p:pic>
      <p:pic>
        <p:nvPicPr>
          <p:cNvPr id="12" name="Photo" descr="preencoded.png">    </p:cNvPr>
          <p:cNvPicPr>
            <a:picLocks noChangeAspect="1"/>
          </p:cNvPicPr>
          <p:nvPr/>
        </p:nvPicPr>
        <p:blipFill>
          <a:blip r:embed="rId5"/>
          <a:stretch>
            <a:fillRect/>
          </a:stretch>
        </p:blipFill>
        <p:spPr>
          <a:xfrm>
            <a:off x="2843784" y="1920240"/>
            <a:ext cx="1901952" cy="1280160"/>
          </a:xfrm>
          <a:prstGeom prst="rect">
            <a:avLst/>
          </a:prstGeom>
        </p:spPr>
      </p:pic>
      <p:pic>
        <p:nvPicPr>
          <p:cNvPr id="13" name="Badge" descr="preencoded.png">    </p:cNvPr>
          <p:cNvPicPr>
            <a:picLocks noChangeAspect="1"/>
          </p:cNvPicPr>
          <p:nvPr/>
        </p:nvPicPr>
        <p:blipFill>
          <a:blip r:embed="rId6"/>
          <a:stretch>
            <a:fillRect/>
          </a:stretch>
        </p:blipFill>
        <p:spPr>
          <a:xfrm>
            <a:off x="3520440" y="2926080"/>
            <a:ext cx="548640" cy="548640"/>
          </a:xfrm>
          <a:prstGeom prst="rect">
            <a:avLst/>
          </a:prstGeom>
        </p:spPr>
      </p:pic>
      <p:sp>
        <p:nvSpPr>
          <p:cNvPr id="14" name="Text 6"/>
          <p:cNvSpPr txBox="1"/>
          <p:nvPr/>
        </p:nvSpPr>
        <p:spPr>
          <a:xfrm>
            <a:off x="2843784"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2007 – 2013</a:t>
            </a:r>
            <a:endParaRPr lang="en-US" sz="1000" dirty="0"/>
          </a:p>
        </p:txBody>
      </p:sp>
      <p:sp>
        <p:nvSpPr>
          <p:cNvPr id="15" name="Text 7"/>
          <p:cNvSpPr txBox="1"/>
          <p:nvPr/>
        </p:nvSpPr>
        <p:spPr>
          <a:xfrm>
            <a:off x="2843784" y="3840480"/>
            <a:ext cx="1901952" cy="329184"/>
          </a:xfrm>
          <a:prstGeom prst="rect">
            <a:avLst/>
          </a:prstGeom>
          <a:noFill/>
          <a:ln/>
        </p:spPr>
        <p:txBody>
          <a:bodyPr wrap="square" lIns="0" tIns="0" rIns="0" bIns="0" rtlCol="0" anchor="t"/>
          <a:lstStyle/>
          <a:p>
            <a:pPr algn="ctr" indent="0" marL="0">
              <a:buNone/>
            </a:pPr>
            <a:r>
              <a:rPr lang="en-US" sz="1400" b="1" dirty="0">
                <a:solidFill>
                  <a:schemeClr val="tx1"/>
                </a:solidFill>
                <a:latin typeface="Arial" pitchFamily="34" charset="0"/>
                <a:ea typeface="Arial" pitchFamily="34" charset="-122"/>
                <a:cs typeface="Arial" pitchFamily="34" charset="-120"/>
              </a:rPr>
              <a:t>MOBILE</a:t>
            </a:r>
            <a:endParaRPr lang="en-US" sz="1400" dirty="0"/>
          </a:p>
        </p:txBody>
      </p:sp>
      <p:sp>
        <p:nvSpPr>
          <p:cNvPr id="16" name="Text 8"/>
          <p:cNvSpPr txBox="1"/>
          <p:nvPr/>
        </p:nvSpPr>
        <p:spPr>
          <a:xfrm>
            <a:off x="2889504"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always-on</a:t>
            </a:r>
            <a:endParaRPr lang="en-US" sz="1200" dirty="0"/>
          </a:p>
        </p:txBody>
      </p:sp>
      <p:pic>
        <p:nvPicPr>
          <p:cNvPr id="17" name="Card" descr="preencoded.png">    </p:cNvPr>
          <p:cNvPicPr>
            <a:picLocks noChangeAspect="1"/>
          </p:cNvPicPr>
          <p:nvPr/>
        </p:nvPicPr>
        <p:blipFill>
          <a:blip r:embed="rId7"/>
          <a:stretch>
            <a:fillRect/>
          </a:stretch>
        </p:blipFill>
        <p:spPr>
          <a:xfrm>
            <a:off x="4855464" y="1682496"/>
            <a:ext cx="2377440" cy="3218688"/>
          </a:xfrm>
          <a:prstGeom prst="rect">
            <a:avLst/>
          </a:prstGeom>
        </p:spPr>
      </p:pic>
      <p:pic>
        <p:nvPicPr>
          <p:cNvPr id="18" name="Photo" descr="preencoded.png">    </p:cNvPr>
          <p:cNvPicPr>
            <a:picLocks noChangeAspect="1"/>
          </p:cNvPicPr>
          <p:nvPr/>
        </p:nvPicPr>
        <p:blipFill>
          <a:blip r:embed="rId8"/>
          <a:stretch>
            <a:fillRect/>
          </a:stretch>
        </p:blipFill>
        <p:spPr>
          <a:xfrm>
            <a:off x="5093208" y="1920240"/>
            <a:ext cx="1901952" cy="1280160"/>
          </a:xfrm>
          <a:prstGeom prst="rect">
            <a:avLst/>
          </a:prstGeom>
        </p:spPr>
      </p:pic>
      <p:pic>
        <p:nvPicPr>
          <p:cNvPr id="19" name="Badge" descr="preencoded.png">    </p:cNvPr>
          <p:cNvPicPr>
            <a:picLocks noChangeAspect="1"/>
          </p:cNvPicPr>
          <p:nvPr/>
        </p:nvPicPr>
        <p:blipFill>
          <a:blip r:embed="rId9"/>
          <a:stretch>
            <a:fillRect/>
          </a:stretch>
        </p:blipFill>
        <p:spPr>
          <a:xfrm>
            <a:off x="5769864" y="2926080"/>
            <a:ext cx="548640" cy="548640"/>
          </a:xfrm>
          <a:prstGeom prst="rect">
            <a:avLst/>
          </a:prstGeom>
        </p:spPr>
      </p:pic>
      <p:sp>
        <p:nvSpPr>
          <p:cNvPr id="20" name="Text 9"/>
          <p:cNvSpPr txBox="1"/>
          <p:nvPr/>
        </p:nvSpPr>
        <p:spPr>
          <a:xfrm>
            <a:off x="5093208"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2010 – 2017</a:t>
            </a:r>
            <a:endParaRPr lang="en-US" sz="1000" dirty="0"/>
          </a:p>
        </p:txBody>
      </p:sp>
      <p:sp>
        <p:nvSpPr>
          <p:cNvPr id="21" name="Text 10"/>
          <p:cNvSpPr txBox="1"/>
          <p:nvPr/>
        </p:nvSpPr>
        <p:spPr>
          <a:xfrm>
            <a:off x="5093208" y="3840480"/>
            <a:ext cx="1901952" cy="329184"/>
          </a:xfrm>
          <a:prstGeom prst="rect">
            <a:avLst/>
          </a:prstGeom>
          <a:noFill/>
          <a:ln/>
        </p:spPr>
        <p:txBody>
          <a:bodyPr wrap="square" lIns="0" tIns="0" rIns="0" bIns="0" rtlCol="0" anchor="t"/>
          <a:lstStyle/>
          <a:p>
            <a:pPr algn="ctr" indent="0" marL="0">
              <a:buNone/>
            </a:pPr>
            <a:r>
              <a:rPr lang="en-US" sz="1400" b="1" dirty="0">
                <a:solidFill>
                  <a:schemeClr val="tx1"/>
                </a:solidFill>
                <a:latin typeface="Arial" pitchFamily="34" charset="0"/>
                <a:ea typeface="Arial" pitchFamily="34" charset="-122"/>
                <a:cs typeface="Arial" pitchFamily="34" charset="-120"/>
              </a:rPr>
              <a:t>CLOUD</a:t>
            </a:r>
            <a:endParaRPr lang="en-US" sz="1400" dirty="0"/>
          </a:p>
        </p:txBody>
      </p:sp>
      <p:sp>
        <p:nvSpPr>
          <p:cNvPr id="22" name="Text 11"/>
          <p:cNvSpPr txBox="1"/>
          <p:nvPr/>
        </p:nvSpPr>
        <p:spPr>
          <a:xfrm>
            <a:off x="5138928"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a service</a:t>
            </a:r>
            <a:endParaRPr lang="en-US" sz="1200" dirty="0"/>
          </a:p>
        </p:txBody>
      </p:sp>
      <p:pic>
        <p:nvPicPr>
          <p:cNvPr id="23" name="Card" descr="preencoded.png">    </p:cNvPr>
          <p:cNvPicPr>
            <a:picLocks noChangeAspect="1"/>
          </p:cNvPicPr>
          <p:nvPr/>
        </p:nvPicPr>
        <p:blipFill>
          <a:blip r:embed="rId10"/>
          <a:stretch>
            <a:fillRect/>
          </a:stretch>
        </p:blipFill>
        <p:spPr>
          <a:xfrm>
            <a:off x="7104888" y="1682496"/>
            <a:ext cx="2377440" cy="3218688"/>
          </a:xfrm>
          <a:prstGeom prst="rect">
            <a:avLst/>
          </a:prstGeom>
        </p:spPr>
      </p:pic>
      <p:pic>
        <p:nvPicPr>
          <p:cNvPr id="24" name="Photo" descr="preencoded.png">    </p:cNvPr>
          <p:cNvPicPr>
            <a:picLocks noChangeAspect="1"/>
          </p:cNvPicPr>
          <p:nvPr/>
        </p:nvPicPr>
        <p:blipFill>
          <a:blip r:embed="rId11"/>
          <a:stretch>
            <a:fillRect/>
          </a:stretch>
        </p:blipFill>
        <p:spPr>
          <a:xfrm>
            <a:off x="7342632" y="1920240"/>
            <a:ext cx="1901952" cy="1280160"/>
          </a:xfrm>
          <a:prstGeom prst="rect">
            <a:avLst/>
          </a:prstGeom>
        </p:spPr>
      </p:pic>
      <p:pic>
        <p:nvPicPr>
          <p:cNvPr id="25" name="Badge" descr="preencoded.png">    </p:cNvPr>
          <p:cNvPicPr>
            <a:picLocks noChangeAspect="1"/>
          </p:cNvPicPr>
          <p:nvPr/>
        </p:nvPicPr>
        <p:blipFill>
          <a:blip r:embed="rId12"/>
          <a:stretch>
            <a:fillRect/>
          </a:stretch>
        </p:blipFill>
        <p:spPr>
          <a:xfrm>
            <a:off x="8019288" y="2926080"/>
            <a:ext cx="548640" cy="548640"/>
          </a:xfrm>
          <a:prstGeom prst="rect">
            <a:avLst/>
          </a:prstGeom>
        </p:spPr>
      </p:pic>
      <p:sp>
        <p:nvSpPr>
          <p:cNvPr id="26" name="Text 12"/>
          <p:cNvSpPr txBox="1"/>
          <p:nvPr/>
        </p:nvSpPr>
        <p:spPr>
          <a:xfrm>
            <a:off x="7342632"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2013 – 2022</a:t>
            </a:r>
            <a:endParaRPr lang="en-US" sz="1000" dirty="0"/>
          </a:p>
        </p:txBody>
      </p:sp>
      <p:sp>
        <p:nvSpPr>
          <p:cNvPr id="27" name="Text 13"/>
          <p:cNvSpPr txBox="1"/>
          <p:nvPr/>
        </p:nvSpPr>
        <p:spPr>
          <a:xfrm>
            <a:off x="7342632" y="3840480"/>
            <a:ext cx="1901952" cy="329184"/>
          </a:xfrm>
          <a:prstGeom prst="rect">
            <a:avLst/>
          </a:prstGeom>
          <a:noFill/>
          <a:ln/>
        </p:spPr>
        <p:txBody>
          <a:bodyPr wrap="square" lIns="0" tIns="0" rIns="0" bIns="0" rtlCol="0" anchor="t"/>
          <a:lstStyle/>
          <a:p>
            <a:pPr algn="ctr" indent="0" marL="0">
              <a:buNone/>
            </a:pPr>
            <a:r>
              <a:rPr lang="en-US" sz="1400" b="1" dirty="0">
                <a:solidFill>
                  <a:schemeClr val="tx1"/>
                </a:solidFill>
                <a:latin typeface="Arial" pitchFamily="34" charset="0"/>
                <a:ea typeface="Arial" pitchFamily="34" charset="-122"/>
                <a:cs typeface="Arial" pitchFamily="34" charset="-120"/>
              </a:rPr>
              <a:t>DATA &amp; ANALYTICS</a:t>
            </a:r>
            <a:endParaRPr lang="en-US" sz="1400" dirty="0"/>
          </a:p>
        </p:txBody>
      </p:sp>
      <p:sp>
        <p:nvSpPr>
          <p:cNvPr id="28" name="Text 14"/>
          <p:cNvSpPr txBox="1"/>
          <p:nvPr/>
        </p:nvSpPr>
        <p:spPr>
          <a:xfrm>
            <a:off x="7388352"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measurable</a:t>
            </a:r>
            <a:endParaRPr lang="en-US" sz="1200" dirty="0"/>
          </a:p>
        </p:txBody>
      </p:sp>
      <p:pic>
        <p:nvPicPr>
          <p:cNvPr id="29" name="Card" descr="preencoded.png">    </p:cNvPr>
          <p:cNvPicPr>
            <a:picLocks noChangeAspect="1"/>
          </p:cNvPicPr>
          <p:nvPr/>
        </p:nvPicPr>
        <p:blipFill>
          <a:blip r:embed="rId13"/>
          <a:stretch>
            <a:fillRect/>
          </a:stretch>
        </p:blipFill>
        <p:spPr>
          <a:xfrm>
            <a:off x="9354312" y="1682496"/>
            <a:ext cx="2377440" cy="3218688"/>
          </a:xfrm>
          <a:prstGeom prst="rect">
            <a:avLst/>
          </a:prstGeom>
        </p:spPr>
      </p:pic>
      <p:pic>
        <p:nvPicPr>
          <p:cNvPr id="30" name="Photo" descr="preencoded.png">    </p:cNvPr>
          <p:cNvPicPr>
            <a:picLocks noChangeAspect="1"/>
          </p:cNvPicPr>
          <p:nvPr/>
        </p:nvPicPr>
        <p:blipFill>
          <a:blip r:embed="rId14"/>
          <a:stretch>
            <a:fillRect/>
          </a:stretch>
        </p:blipFill>
        <p:spPr>
          <a:xfrm>
            <a:off x="9592056" y="1920240"/>
            <a:ext cx="1901952" cy="1280160"/>
          </a:xfrm>
          <a:prstGeom prst="rect">
            <a:avLst/>
          </a:prstGeom>
        </p:spPr>
      </p:pic>
      <p:pic>
        <p:nvPicPr>
          <p:cNvPr id="31" name="Badge" descr="preencoded.png">    </p:cNvPr>
          <p:cNvPicPr>
            <a:picLocks noChangeAspect="1"/>
          </p:cNvPicPr>
          <p:nvPr/>
        </p:nvPicPr>
        <p:blipFill>
          <a:blip r:embed="rId15"/>
          <a:stretch>
            <a:fillRect/>
          </a:stretch>
        </p:blipFill>
        <p:spPr>
          <a:xfrm>
            <a:off x="10268712" y="2926080"/>
            <a:ext cx="548640" cy="548640"/>
          </a:xfrm>
          <a:prstGeom prst="rect">
            <a:avLst/>
          </a:prstGeom>
        </p:spPr>
      </p:pic>
      <p:sp>
        <p:nvSpPr>
          <p:cNvPr id="32" name="Text 15"/>
          <p:cNvSpPr txBox="1"/>
          <p:nvPr/>
        </p:nvSpPr>
        <p:spPr>
          <a:xfrm>
            <a:off x="9592056"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3"/>
                </a:solidFill>
              </a:rPr>
              <a:t>2022 – PRESENT</a:t>
            </a:r>
            <a:endParaRPr lang="en-US" sz="1000" dirty="0"/>
          </a:p>
        </p:txBody>
      </p:sp>
      <p:sp>
        <p:nvSpPr>
          <p:cNvPr id="33" name="Text 16"/>
          <p:cNvSpPr txBox="1"/>
          <p:nvPr/>
        </p:nvSpPr>
        <p:spPr>
          <a:xfrm>
            <a:off x="9592056" y="3840480"/>
            <a:ext cx="1901952" cy="329184"/>
          </a:xfrm>
          <a:prstGeom prst="rect">
            <a:avLst/>
          </a:prstGeom>
          <a:noFill/>
          <a:ln/>
        </p:spPr>
        <p:txBody>
          <a:bodyPr wrap="square" lIns="0" tIns="0" rIns="0" bIns="0" rtlCol="0" anchor="t"/>
          <a:lstStyle/>
          <a:p>
            <a:pPr algn="ctr" indent="0" marL="0">
              <a:buNone/>
            </a:pPr>
            <a:r>
              <a:rPr lang="en-US" sz="1400" b="1" dirty="0">
                <a:solidFill>
                  <a:schemeClr val="bg1"/>
                </a:solidFill>
                <a:latin typeface="Arial" pitchFamily="34" charset="0"/>
                <a:ea typeface="Arial" pitchFamily="34" charset="-122"/>
                <a:cs typeface="Arial" pitchFamily="34" charset="-120"/>
              </a:rPr>
              <a:t>AI &amp; AGENTS</a:t>
            </a:r>
            <a:endParaRPr lang="en-US" sz="1400" dirty="0"/>
          </a:p>
        </p:txBody>
      </p:sp>
      <p:sp>
        <p:nvSpPr>
          <p:cNvPr id="34" name="Text 17"/>
          <p:cNvSpPr txBox="1"/>
          <p:nvPr/>
        </p:nvSpPr>
        <p:spPr>
          <a:xfrm>
            <a:off x="9637776" y="4187952"/>
            <a:ext cx="1810512" cy="457200"/>
          </a:xfrm>
          <a:prstGeom prst="rect">
            <a:avLst/>
          </a:prstGeom>
          <a:noFill/>
          <a:ln/>
        </p:spPr>
        <p:txBody>
          <a:bodyPr wrap="square" lIns="0" tIns="0" rIns="0" bIns="0" rtlCol="0" anchor="t"/>
          <a:lstStyle/>
          <a:p>
            <a:pPr algn="ctr" indent="0" marL="0">
              <a:buNone/>
            </a:pPr>
            <a:r>
              <a:rPr lang="en-US" sz="1200" dirty="0">
                <a:solidFill>
                  <a:schemeClr val="bg1"/>
                </a:solidFill>
              </a:rPr>
              <a:t>Everything becomes intelligent</a:t>
            </a:r>
            <a:endParaRPr lang="en-US" sz="1200" dirty="0"/>
          </a:p>
        </p:txBody>
      </p:sp>
      <p:pic>
        <p:nvPicPr>
          <p:cNvPr id="35" name="Card" descr="preencoded.png">    </p:cNvPr>
          <p:cNvPicPr>
            <a:picLocks noChangeAspect="1"/>
          </p:cNvPicPr>
          <p:nvPr/>
        </p:nvPicPr>
        <p:blipFill>
          <a:blip r:embed="rId16"/>
          <a:stretch>
            <a:fillRect/>
          </a:stretch>
        </p:blipFill>
        <p:spPr>
          <a:xfrm>
            <a:off x="502920" y="4937760"/>
            <a:ext cx="6583680" cy="658368"/>
          </a:xfrm>
          <a:prstGeom prst="rect">
            <a:avLst/>
          </a:prstGeom>
        </p:spPr>
      </p:pic>
      <p:pic>
        <p:nvPicPr>
          <p:cNvPr id="36" name="Badge" descr="preencoded.png">    </p:cNvPr>
          <p:cNvPicPr>
            <a:picLocks noChangeAspect="1"/>
          </p:cNvPicPr>
          <p:nvPr/>
        </p:nvPicPr>
        <p:blipFill>
          <a:blip r:embed="rId17"/>
          <a:stretch>
            <a:fillRect/>
          </a:stretch>
        </p:blipFill>
        <p:spPr>
          <a:xfrm>
            <a:off x="630936" y="5056632"/>
            <a:ext cx="420624" cy="420624"/>
          </a:xfrm>
          <a:prstGeom prst="rect">
            <a:avLst/>
          </a:prstGeom>
        </p:spPr>
      </p:pic>
      <p:sp>
        <p:nvSpPr>
          <p:cNvPr id="37" name="Text 18"/>
          <p:cNvSpPr txBox="1"/>
          <p:nvPr/>
        </p:nvSpPr>
        <p:spPr>
          <a:xfrm>
            <a:off x="1188720" y="5001768"/>
            <a:ext cx="5760720" cy="530352"/>
          </a:xfrm>
          <a:prstGeom prst="rect">
            <a:avLst/>
          </a:prstGeom>
          <a:noFill/>
          <a:ln/>
        </p:spPr>
        <p:txBody>
          <a:bodyPr wrap="square" lIns="0" tIns="0" rIns="0" bIns="0" rtlCol="0" anchor="ctr"/>
          <a:lstStyle/>
          <a:p>
            <a:pPr indent="0" marL="0">
              <a:buNone/>
            </a:pPr>
            <a:r>
              <a:rPr lang="en-US" sz="1300" b="1" dirty="0">
                <a:solidFill>
                  <a:schemeClr val="tx1"/>
                </a:solidFill>
              </a:rPr>
              <a:t>Technology estate transformation</a:t>
            </a:r>
            <a:endParaRPr lang="en-US" sz="1300" dirty="0"/>
          </a:p>
          <a:p>
            <a:pPr indent="0" marL="0">
              <a:buNone/>
            </a:pPr>
            <a:r>
              <a:rPr lang="en-US" sz="1100" dirty="0">
                <a:solidFill>
                  <a:schemeClr val="accent5"/>
                </a:solidFill>
              </a:rPr>
              <a:t>Technology changes the systems through which work gets done</a:t>
            </a:r>
            <a:endParaRPr lang="en-US" sz="1300" dirty="0"/>
          </a:p>
        </p:txBody>
      </p:sp>
      <p:pic>
        <p:nvPicPr>
          <p:cNvPr id="38" name="Card" descr="preencoded.png">    </p:cNvPr>
          <p:cNvPicPr>
            <a:picLocks noChangeAspect="1"/>
          </p:cNvPicPr>
          <p:nvPr/>
        </p:nvPicPr>
        <p:blipFill>
          <a:blip r:embed="rId18"/>
          <a:stretch>
            <a:fillRect/>
          </a:stretch>
        </p:blipFill>
        <p:spPr>
          <a:xfrm>
            <a:off x="7251192" y="4937760"/>
            <a:ext cx="4334256" cy="658368"/>
          </a:xfrm>
          <a:prstGeom prst="rect">
            <a:avLst/>
          </a:prstGeom>
        </p:spPr>
      </p:pic>
      <p:pic>
        <p:nvPicPr>
          <p:cNvPr id="39" name="Badge" descr="preencoded.png">    </p:cNvPr>
          <p:cNvPicPr>
            <a:picLocks noChangeAspect="1"/>
          </p:cNvPicPr>
          <p:nvPr/>
        </p:nvPicPr>
        <p:blipFill>
          <a:blip r:embed="rId19"/>
          <a:stretch>
            <a:fillRect/>
          </a:stretch>
        </p:blipFill>
        <p:spPr>
          <a:xfrm>
            <a:off x="7379208" y="5056632"/>
            <a:ext cx="420624" cy="420624"/>
          </a:xfrm>
          <a:prstGeom prst="rect">
            <a:avLst/>
          </a:prstGeom>
        </p:spPr>
      </p:pic>
      <p:sp>
        <p:nvSpPr>
          <p:cNvPr id="40" name="Text 19"/>
          <p:cNvSpPr txBox="1"/>
          <p:nvPr/>
        </p:nvSpPr>
        <p:spPr>
          <a:xfrm>
            <a:off x="7936992" y="5001768"/>
            <a:ext cx="3511296" cy="530352"/>
          </a:xfrm>
          <a:prstGeom prst="rect">
            <a:avLst/>
          </a:prstGeom>
          <a:noFill/>
          <a:ln/>
        </p:spPr>
        <p:txBody>
          <a:bodyPr wrap="square" lIns="0" tIns="0" rIns="0" bIns="0" rtlCol="0" anchor="ctr"/>
          <a:lstStyle/>
          <a:p>
            <a:pPr indent="0" marL="0">
              <a:buNone/>
            </a:pPr>
            <a:r>
              <a:rPr lang="en-US" sz="1300" b="1" dirty="0">
                <a:solidFill>
                  <a:schemeClr val="tx1"/>
                </a:solidFill>
              </a:rPr>
              <a:t>Workforce and work transformation</a:t>
            </a:r>
            <a:endParaRPr lang="en-US" sz="1300" dirty="0"/>
          </a:p>
          <a:p>
            <a:pPr indent="0" marL="0">
              <a:buNone/>
            </a:pPr>
            <a:r>
              <a:rPr lang="en-US" sz="1100" dirty="0">
                <a:solidFill>
                  <a:schemeClr val="accent5"/>
                </a:solidFill>
              </a:rPr>
              <a:t>Technology changes how the work itself gets done</a:t>
            </a:r>
            <a:endParaRPr lang="en-US" sz="1300" dirty="0"/>
          </a:p>
        </p:txBody>
      </p:sp>
      <p:sp>
        <p:nvSpPr>
          <p:cNvPr id="41" name="Text 20"/>
          <p:cNvSpPr txBox="1"/>
          <p:nvPr/>
        </p:nvSpPr>
        <p:spPr>
          <a:xfrm>
            <a:off x="502920" y="5715000"/>
            <a:ext cx="4389120" cy="502920"/>
          </a:xfrm>
          <a:prstGeom prst="rect">
            <a:avLst/>
          </a:prstGeom>
          <a:noFill/>
          <a:ln/>
        </p:spPr>
        <p:txBody>
          <a:bodyPr wrap="square" lIns="0" tIns="0" rIns="0" bIns="0" rtlCol="0" anchor="ctr"/>
          <a:lstStyle/>
          <a:p>
            <a:pPr indent="0" marL="0">
              <a:buNone/>
            </a:pPr>
            <a:r>
              <a:rPr lang="en-US" sz="1100" b="1" spc="100" kern="0" dirty="0">
                <a:solidFill>
                  <a:schemeClr val="accent2"/>
                </a:solidFill>
              </a:rPr>
              <a:t>IT-LED ADOPTION   </a:t>
            </a:r>
            <a:pPr indent="0" marL="0">
              <a:buNone/>
            </a:pPr>
            <a:r>
              <a:rPr lang="en-US" sz="1100" dirty="0">
                <a:solidFill>
                  <a:schemeClr val="accent5"/>
                </a:solidFill>
              </a:rPr>
              <a:t>IT function is the primary driver and gateway for technology adoption and scale</a:t>
            </a:r>
            <a:endParaRPr lang="en-US" sz="1100" dirty="0"/>
          </a:p>
        </p:txBody>
      </p:sp>
      <p:sp>
        <p:nvSpPr>
          <p:cNvPr id="42" name="Shift"/>
          <p:cNvSpPr/>
          <p:nvPr/>
        </p:nvSpPr>
        <p:spPr>
          <a:xfrm>
            <a:off x="5029200" y="5971032"/>
            <a:ext cx="2103120" cy="0"/>
          </a:xfrm>
          <a:prstGeom prst="line">
            <a:avLst/>
          </a:prstGeom>
          <a:noFill/>
          <a:ln w="25400">
            <a:solidFill>
              <a:schemeClr val="accent1"/>
            </a:solidFill>
            <a:prstDash val="solid"/>
            <a:tailEnd type="triangle"/>
          </a:ln>
        </p:spPr>
      </p:sp>
      <p:sp>
        <p:nvSpPr>
          <p:cNvPr id="43" name="Pill"/>
          <p:cNvSpPr/>
          <p:nvPr/>
        </p:nvSpPr>
        <p:spPr>
          <a:xfrm>
            <a:off x="5394960" y="5833872"/>
            <a:ext cx="1371600" cy="274320"/>
          </a:xfrm>
          <a:prstGeom prst="roundRect">
            <a:avLst>
              <a:gd name="adj" fmla="val 50000"/>
            </a:avLst>
          </a:prstGeom>
          <a:solidFill>
            <a:schemeClr val="accent1"/>
          </a:solidFill>
          <a:ln/>
        </p:spPr>
      </p:sp>
      <p:sp>
        <p:nvSpPr>
          <p:cNvPr id="44" name="Text 23"/>
          <p:cNvSpPr txBox="1"/>
          <p:nvPr/>
        </p:nvSpPr>
        <p:spPr>
          <a:xfrm>
            <a:off x="5394960" y="5833872"/>
            <a:ext cx="1371600" cy="274320"/>
          </a:xfrm>
          <a:prstGeom prst="rect">
            <a:avLst/>
          </a:prstGeom>
          <a:noFill/>
          <a:ln/>
        </p:spPr>
        <p:txBody>
          <a:bodyPr wrap="square" lIns="0" tIns="0" rIns="0" bIns="0" rtlCol="0" anchor="ctr"/>
          <a:lstStyle/>
          <a:p>
            <a:pPr algn="ctr" indent="0" marL="0">
              <a:buNone/>
            </a:pPr>
            <a:r>
              <a:rPr lang="en-US" sz="900" b="1" spc="200" kern="0" dirty="0">
                <a:solidFill>
                  <a:schemeClr val="bg1"/>
                </a:solidFill>
              </a:rPr>
              <a:t>SHIFT IN FOCUS</a:t>
            </a:r>
            <a:endParaRPr lang="en-US" sz="900" dirty="0"/>
          </a:p>
        </p:txBody>
      </p:sp>
      <p:sp>
        <p:nvSpPr>
          <p:cNvPr id="45" name="Text 24"/>
          <p:cNvSpPr txBox="1"/>
          <p:nvPr/>
        </p:nvSpPr>
        <p:spPr>
          <a:xfrm>
            <a:off x="7269480" y="5715000"/>
            <a:ext cx="4419295" cy="502920"/>
          </a:xfrm>
          <a:prstGeom prst="rect">
            <a:avLst/>
          </a:prstGeom>
          <a:noFill/>
          <a:ln/>
        </p:spPr>
        <p:txBody>
          <a:bodyPr wrap="square" lIns="0" tIns="0" rIns="0" bIns="0" rtlCol="0" anchor="ctr"/>
          <a:lstStyle/>
          <a:p>
            <a:pPr algn="r" indent="0" marL="0">
              <a:buNone/>
            </a:pPr>
            <a:r>
              <a:rPr lang="en-US" sz="1100" b="1" spc="100" kern="0" dirty="0">
                <a:solidFill>
                  <a:schemeClr val="accent1"/>
                </a:solidFill>
              </a:rPr>
              <a:t>USER-LED ADOPTION   </a:t>
            </a:r>
            <a:pPr algn="r" indent="0" marL="0">
              <a:buNone/>
            </a:pPr>
            <a:r>
              <a:rPr lang="en-US" sz="1100" dirty="0">
                <a:solidFill>
                  <a:schemeClr val="accent5"/>
                </a:solidFill>
              </a:rPr>
              <a:t>Business users and individual workers are central to value creation</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Weak, fragmented data is why AI initiatives fail to scale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AI &amp; AGENTIC AI – GLOBAL STATISTICS</a:t>
            </a:r>
            <a:endParaRPr lang="en-US" sz="1100" dirty="0"/>
          </a:p>
        </p:txBody>
      </p:sp>
      <p:pic>
        <p:nvPicPr>
          <p:cNvPr id="4" name="Card" descr="preencoded.png">    </p:cNvPr>
          <p:cNvPicPr>
            <a:picLocks noChangeAspect="1"/>
          </p:cNvPicPr>
          <p:nvPr/>
        </p:nvPicPr>
        <p:blipFill>
          <a:blip r:embed="rId1"/>
          <a:stretch>
            <a:fillRect/>
          </a:stretch>
        </p:blipFill>
        <p:spPr>
          <a:xfrm>
            <a:off x="356616" y="1453896"/>
            <a:ext cx="3877056" cy="4864608"/>
          </a:xfrm>
          <a:prstGeom prst="rect">
            <a:avLst/>
          </a:prstGeom>
        </p:spPr>
      </p:pic>
      <p:pic>
        <p:nvPicPr>
          <p:cNvPr id="5" name="NumBadge" descr="preencoded.png">    </p:cNvPr>
          <p:cNvPicPr>
            <a:picLocks noChangeAspect="1"/>
          </p:cNvPicPr>
          <p:nvPr/>
        </p:nvPicPr>
        <p:blipFill>
          <a:blip r:embed="rId2"/>
          <a:stretch>
            <a:fillRect/>
          </a:stretch>
        </p:blipFill>
        <p:spPr>
          <a:xfrm>
            <a:off x="777240" y="1892808"/>
            <a:ext cx="457200" cy="457200"/>
          </a:xfrm>
          <a:prstGeom prst="rect">
            <a:avLst/>
          </a:prstGeom>
        </p:spPr>
      </p:pic>
      <p:sp>
        <p:nvSpPr>
          <p:cNvPr id="6" name="Text 2"/>
          <p:cNvSpPr txBox="1"/>
          <p:nvPr/>
        </p:nvSpPr>
        <p:spPr>
          <a:xfrm>
            <a:off x="777240" y="18928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1</a:t>
            </a:r>
            <a:endParaRPr lang="en-US" sz="1500" dirty="0"/>
          </a:p>
        </p:txBody>
      </p:sp>
      <p:sp>
        <p:nvSpPr>
          <p:cNvPr id="7" name="Text 3"/>
          <p:cNvSpPr txBox="1"/>
          <p:nvPr/>
        </p:nvSpPr>
        <p:spPr>
          <a:xfrm>
            <a:off x="1371600" y="1828800"/>
            <a:ext cx="2487168" cy="685800"/>
          </a:xfrm>
          <a:prstGeom prst="rect">
            <a:avLst/>
          </a:prstGeom>
          <a:noFill/>
          <a:ln/>
        </p:spPr>
        <p:txBody>
          <a:bodyPr wrap="square" lIns="0" tIns="0" rIns="0" bIns="0" rtlCol="0" anchor="ctr"/>
          <a:lstStyle/>
          <a:p>
            <a:pPr indent="0" marL="0">
              <a:buNone/>
            </a:pPr>
            <a:r>
              <a:rPr lang="en-US" sz="1500" b="1" dirty="0">
                <a:solidFill>
                  <a:schemeClr val="tx1"/>
                </a:solidFill>
              </a:rPr>
              <a:t>Data silos are a major barrier to AI adoption</a:t>
            </a:r>
            <a:endParaRPr lang="en-US" sz="1500" dirty="0"/>
          </a:p>
        </p:txBody>
      </p:sp>
      <p:sp>
        <p:nvSpPr>
          <p:cNvPr id="8" name="Text 4"/>
          <p:cNvSpPr txBox="1"/>
          <p:nvPr/>
        </p:nvSpPr>
        <p:spPr>
          <a:xfrm>
            <a:off x="777240" y="2697480"/>
            <a:ext cx="3035808" cy="77724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70%</a:t>
            </a:r>
            <a:endParaRPr lang="en-US" sz="5400" dirty="0"/>
          </a:p>
        </p:txBody>
      </p:sp>
      <p:sp>
        <p:nvSpPr>
          <p:cNvPr id="9" name="Text 5"/>
          <p:cNvSpPr txBox="1"/>
          <p:nvPr/>
        </p:nvSpPr>
        <p:spPr>
          <a:xfrm>
            <a:off x="777240" y="3474720"/>
            <a:ext cx="3035808" cy="548640"/>
          </a:xfrm>
          <a:prstGeom prst="rect">
            <a:avLst/>
          </a:prstGeom>
          <a:noFill/>
          <a:ln/>
        </p:spPr>
        <p:txBody>
          <a:bodyPr wrap="square" lIns="0" tIns="0" rIns="0" bIns="0" rtlCol="0" anchor="t"/>
          <a:lstStyle/>
          <a:p>
            <a:pPr indent="0" marL="0">
              <a:buNone/>
            </a:pPr>
            <a:r>
              <a:rPr lang="en-US" sz="1400" dirty="0">
                <a:solidFill>
                  <a:schemeClr val="accent5"/>
                </a:solidFill>
              </a:rPr>
              <a:t>of IT and business leaders cite data silos as one of the biggest challenges to AI adoption.</a:t>
            </a:r>
            <a:endParaRPr lang="en-US" sz="1400" dirty="0"/>
          </a:p>
        </p:txBody>
      </p:sp>
      <p:pic>
        <p:nvPicPr>
          <p:cNvPr id="10" name="Badge" descr="preencoded.png">    </p:cNvPr>
          <p:cNvPicPr>
            <a:picLocks noChangeAspect="1"/>
          </p:cNvPicPr>
          <p:nvPr/>
        </p:nvPicPr>
        <p:blipFill>
          <a:blip r:embed="rId3"/>
          <a:stretch>
            <a:fillRect/>
          </a:stretch>
        </p:blipFill>
        <p:spPr>
          <a:xfrm>
            <a:off x="777240" y="4526280"/>
            <a:ext cx="685800" cy="685800"/>
          </a:xfrm>
          <a:prstGeom prst="rect">
            <a:avLst/>
          </a:prstGeom>
        </p:spPr>
      </p:pic>
      <p:sp>
        <p:nvSpPr>
          <p:cNvPr id="11" name="Rule"/>
          <p:cNvSpPr/>
          <p:nvPr/>
        </p:nvSpPr>
        <p:spPr>
          <a:xfrm>
            <a:off x="777240" y="5458968"/>
            <a:ext cx="3035808" cy="0"/>
          </a:xfrm>
          <a:prstGeom prst="line">
            <a:avLst/>
          </a:prstGeom>
          <a:noFill/>
          <a:ln w="12700">
            <a:solidFill>
              <a:schemeClr val="accent6"/>
            </a:solidFill>
            <a:prstDash val="solid"/>
          </a:ln>
        </p:spPr>
      </p:sp>
      <p:sp>
        <p:nvSpPr>
          <p:cNvPr id="12" name="Text 7"/>
          <p:cNvSpPr txBox="1"/>
          <p:nvPr/>
        </p:nvSpPr>
        <p:spPr>
          <a:xfrm>
            <a:off x="777240" y="5532120"/>
            <a:ext cx="3035808" cy="502920"/>
          </a:xfrm>
          <a:prstGeom prst="rect">
            <a:avLst/>
          </a:prstGeom>
          <a:noFill/>
          <a:ln/>
        </p:spPr>
        <p:txBody>
          <a:bodyPr wrap="square" lIns="0" tIns="0" rIns="0" bIns="0" rtlCol="0" anchor="b"/>
          <a:lstStyle/>
          <a:p>
            <a:pPr indent="0" marL="0">
              <a:buNone/>
            </a:pPr>
            <a:r>
              <a:rPr lang="en-US" sz="1000" dirty="0">
                <a:solidFill>
                  <a:schemeClr val="accent5"/>
                </a:solidFill>
              </a:rPr>
              <a:t>Source: IDC, 2026 (FutureScape: Worldwide Data and Analytics 2026 Predictions)</a:t>
            </a:r>
            <a:endParaRPr lang="en-US" sz="1000" dirty="0"/>
          </a:p>
        </p:txBody>
      </p:sp>
      <p:pic>
        <p:nvPicPr>
          <p:cNvPr id="13" name="Card" descr="preencoded.png">    </p:cNvPr>
          <p:cNvPicPr>
            <a:picLocks noChangeAspect="1"/>
          </p:cNvPicPr>
          <p:nvPr/>
        </p:nvPicPr>
        <p:blipFill>
          <a:blip r:embed="rId4"/>
          <a:stretch>
            <a:fillRect/>
          </a:stretch>
        </p:blipFill>
        <p:spPr>
          <a:xfrm>
            <a:off x="4160520" y="1453896"/>
            <a:ext cx="3877056" cy="4864608"/>
          </a:xfrm>
          <a:prstGeom prst="rect">
            <a:avLst/>
          </a:prstGeom>
        </p:spPr>
      </p:pic>
      <p:pic>
        <p:nvPicPr>
          <p:cNvPr id="14" name="NumBadge" descr="preencoded.png">    </p:cNvPr>
          <p:cNvPicPr>
            <a:picLocks noChangeAspect="1"/>
          </p:cNvPicPr>
          <p:nvPr/>
        </p:nvPicPr>
        <p:blipFill>
          <a:blip r:embed="rId5"/>
          <a:stretch>
            <a:fillRect/>
          </a:stretch>
        </p:blipFill>
        <p:spPr>
          <a:xfrm>
            <a:off x="4581144" y="1892808"/>
            <a:ext cx="457200" cy="457200"/>
          </a:xfrm>
          <a:prstGeom prst="rect">
            <a:avLst/>
          </a:prstGeom>
        </p:spPr>
      </p:pic>
      <p:sp>
        <p:nvSpPr>
          <p:cNvPr id="15" name="Text 8"/>
          <p:cNvSpPr txBox="1"/>
          <p:nvPr/>
        </p:nvSpPr>
        <p:spPr>
          <a:xfrm>
            <a:off x="4581144" y="18928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2</a:t>
            </a:r>
            <a:endParaRPr lang="en-US" sz="1500" dirty="0"/>
          </a:p>
        </p:txBody>
      </p:sp>
      <p:sp>
        <p:nvSpPr>
          <p:cNvPr id="16" name="Text 9"/>
          <p:cNvSpPr txBox="1"/>
          <p:nvPr/>
        </p:nvSpPr>
        <p:spPr>
          <a:xfrm>
            <a:off x="5175504" y="1828800"/>
            <a:ext cx="2487168" cy="685800"/>
          </a:xfrm>
          <a:prstGeom prst="rect">
            <a:avLst/>
          </a:prstGeom>
          <a:noFill/>
          <a:ln/>
        </p:spPr>
        <p:txBody>
          <a:bodyPr wrap="square" lIns="0" tIns="0" rIns="0" bIns="0" rtlCol="0" anchor="ctr"/>
          <a:lstStyle/>
          <a:p>
            <a:pPr indent="0" marL="0">
              <a:buNone/>
            </a:pPr>
            <a:r>
              <a:rPr lang="en-US" sz="1500" b="1" dirty="0">
                <a:solidFill>
                  <a:schemeClr val="bg1"/>
                </a:solidFill>
              </a:rPr>
              <a:t>Most organizations are not AI-ready</a:t>
            </a:r>
            <a:endParaRPr lang="en-US" sz="1500" dirty="0"/>
          </a:p>
        </p:txBody>
      </p:sp>
      <p:sp>
        <p:nvSpPr>
          <p:cNvPr id="17" name="Text 10"/>
          <p:cNvSpPr txBox="1"/>
          <p:nvPr/>
        </p:nvSpPr>
        <p:spPr>
          <a:xfrm>
            <a:off x="4581144" y="2697480"/>
            <a:ext cx="3035808" cy="77724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61%</a:t>
            </a:r>
            <a:endParaRPr lang="en-US" sz="5400" dirty="0"/>
          </a:p>
        </p:txBody>
      </p:sp>
      <p:sp>
        <p:nvSpPr>
          <p:cNvPr id="18" name="Text 11"/>
          <p:cNvSpPr txBox="1"/>
          <p:nvPr/>
        </p:nvSpPr>
        <p:spPr>
          <a:xfrm>
            <a:off x="4581144" y="3474720"/>
            <a:ext cx="3035808" cy="548640"/>
          </a:xfrm>
          <a:prstGeom prst="rect">
            <a:avLst/>
          </a:prstGeom>
          <a:noFill/>
          <a:ln/>
        </p:spPr>
        <p:txBody>
          <a:bodyPr wrap="square" lIns="0" tIns="0" rIns="0" bIns="0" rtlCol="0" anchor="t"/>
          <a:lstStyle/>
          <a:p>
            <a:pPr indent="0" marL="0">
              <a:buNone/>
            </a:pPr>
            <a:r>
              <a:rPr lang="en-US" sz="1400" dirty="0">
                <a:solidFill>
                  <a:schemeClr val="bg1"/>
                </a:solidFill>
              </a:rPr>
              <a:t>of companies say their data assets are not ready for generative AI.</a:t>
            </a:r>
            <a:endParaRPr lang="en-US" sz="1400" dirty="0"/>
          </a:p>
        </p:txBody>
      </p:sp>
      <p:sp>
        <p:nvSpPr>
          <p:cNvPr id="19" name="Text 12"/>
          <p:cNvSpPr txBox="1"/>
          <p:nvPr/>
        </p:nvSpPr>
        <p:spPr>
          <a:xfrm>
            <a:off x="4581144" y="4160520"/>
            <a:ext cx="3035808" cy="77724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70%</a:t>
            </a:r>
            <a:endParaRPr lang="en-US" sz="5400" dirty="0"/>
          </a:p>
        </p:txBody>
      </p:sp>
      <p:sp>
        <p:nvSpPr>
          <p:cNvPr id="20" name="Text 13"/>
          <p:cNvSpPr txBox="1"/>
          <p:nvPr/>
        </p:nvSpPr>
        <p:spPr>
          <a:xfrm>
            <a:off x="4581144" y="4937760"/>
            <a:ext cx="3035808" cy="548640"/>
          </a:xfrm>
          <a:prstGeom prst="rect">
            <a:avLst/>
          </a:prstGeom>
          <a:noFill/>
          <a:ln/>
        </p:spPr>
        <p:txBody>
          <a:bodyPr wrap="square" lIns="0" tIns="0" rIns="0" bIns="0" rtlCol="0" anchor="t"/>
          <a:lstStyle/>
          <a:p>
            <a:pPr indent="0" marL="0">
              <a:buNone/>
            </a:pPr>
            <a:r>
              <a:rPr lang="en-US" sz="1400" dirty="0">
                <a:solidFill>
                  <a:schemeClr val="bg1"/>
                </a:solidFill>
              </a:rPr>
              <a:t>find it difficult to scale AI projects using proprietary data.</a:t>
            </a:r>
            <a:endParaRPr lang="en-US" sz="1400" dirty="0"/>
          </a:p>
        </p:txBody>
      </p:sp>
      <p:sp>
        <p:nvSpPr>
          <p:cNvPr id="21" name="Rule"/>
          <p:cNvSpPr/>
          <p:nvPr/>
        </p:nvSpPr>
        <p:spPr>
          <a:xfrm>
            <a:off x="4581144" y="5458968"/>
            <a:ext cx="3035808" cy="0"/>
          </a:xfrm>
          <a:prstGeom prst="line">
            <a:avLst/>
          </a:prstGeom>
          <a:noFill/>
          <a:ln w="12700">
            <a:solidFill>
              <a:schemeClr val="accent2"/>
            </a:solidFill>
            <a:prstDash val="solid"/>
          </a:ln>
        </p:spPr>
      </p:sp>
      <p:sp>
        <p:nvSpPr>
          <p:cNvPr id="22" name="Text 15"/>
          <p:cNvSpPr txBox="1"/>
          <p:nvPr/>
        </p:nvSpPr>
        <p:spPr>
          <a:xfrm>
            <a:off x="4581144" y="5532120"/>
            <a:ext cx="3035808" cy="502920"/>
          </a:xfrm>
          <a:prstGeom prst="rect">
            <a:avLst/>
          </a:prstGeom>
          <a:noFill/>
          <a:ln/>
        </p:spPr>
        <p:txBody>
          <a:bodyPr wrap="square" lIns="0" tIns="0" rIns="0" bIns="0" rtlCol="0" anchor="b"/>
          <a:lstStyle/>
          <a:p>
            <a:pPr indent="0" marL="0">
              <a:buNone/>
            </a:pPr>
            <a:r>
              <a:rPr lang="en-US" sz="1000" dirty="0">
                <a:solidFill>
                  <a:schemeClr val="accent6"/>
                </a:solidFill>
              </a:rPr>
              <a:t>Source: Accenture, 2025 (Reinventing with a new wave of generative AI)</a:t>
            </a:r>
            <a:endParaRPr lang="en-US" sz="1000" dirty="0"/>
          </a:p>
        </p:txBody>
      </p:sp>
      <p:pic>
        <p:nvPicPr>
          <p:cNvPr id="23" name="Card" descr="preencoded.png">    </p:cNvPr>
          <p:cNvPicPr>
            <a:picLocks noChangeAspect="1"/>
          </p:cNvPicPr>
          <p:nvPr/>
        </p:nvPicPr>
        <p:blipFill>
          <a:blip r:embed="rId6"/>
          <a:stretch>
            <a:fillRect/>
          </a:stretch>
        </p:blipFill>
        <p:spPr>
          <a:xfrm>
            <a:off x="7964424" y="1453896"/>
            <a:ext cx="3877056" cy="4864608"/>
          </a:xfrm>
          <a:prstGeom prst="rect">
            <a:avLst/>
          </a:prstGeom>
        </p:spPr>
      </p:pic>
      <p:pic>
        <p:nvPicPr>
          <p:cNvPr id="24" name="NumBadge" descr="preencoded.png">    </p:cNvPr>
          <p:cNvPicPr>
            <a:picLocks noChangeAspect="1"/>
          </p:cNvPicPr>
          <p:nvPr/>
        </p:nvPicPr>
        <p:blipFill>
          <a:blip r:embed="rId7"/>
          <a:stretch>
            <a:fillRect/>
          </a:stretch>
        </p:blipFill>
        <p:spPr>
          <a:xfrm>
            <a:off x="8385048" y="1892808"/>
            <a:ext cx="457200" cy="457200"/>
          </a:xfrm>
          <a:prstGeom prst="rect">
            <a:avLst/>
          </a:prstGeom>
        </p:spPr>
      </p:pic>
      <p:sp>
        <p:nvSpPr>
          <p:cNvPr id="25" name="Text 16"/>
          <p:cNvSpPr txBox="1"/>
          <p:nvPr/>
        </p:nvSpPr>
        <p:spPr>
          <a:xfrm>
            <a:off x="8385048" y="189280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3</a:t>
            </a:r>
            <a:endParaRPr lang="en-US" sz="1500" dirty="0"/>
          </a:p>
        </p:txBody>
      </p:sp>
      <p:sp>
        <p:nvSpPr>
          <p:cNvPr id="26" name="Text 17"/>
          <p:cNvSpPr txBox="1"/>
          <p:nvPr/>
        </p:nvSpPr>
        <p:spPr>
          <a:xfrm>
            <a:off x="8979408" y="1828800"/>
            <a:ext cx="2487168" cy="685800"/>
          </a:xfrm>
          <a:prstGeom prst="rect">
            <a:avLst/>
          </a:prstGeom>
          <a:noFill/>
          <a:ln/>
        </p:spPr>
        <p:txBody>
          <a:bodyPr wrap="square" lIns="0" tIns="0" rIns="0" bIns="0" rtlCol="0" anchor="ctr"/>
          <a:lstStyle/>
          <a:p>
            <a:pPr indent="0" marL="0">
              <a:buNone/>
            </a:pPr>
            <a:r>
              <a:rPr lang="en-US" sz="1500" b="1" dirty="0">
                <a:solidFill>
                  <a:schemeClr val="tx1"/>
                </a:solidFill>
              </a:rPr>
              <a:t>AI projects without AI-ready data are likely to be abandoned</a:t>
            </a:r>
            <a:endParaRPr lang="en-US" sz="1500" dirty="0"/>
          </a:p>
        </p:txBody>
      </p:sp>
      <p:sp>
        <p:nvSpPr>
          <p:cNvPr id="27" name="Text 18"/>
          <p:cNvSpPr txBox="1"/>
          <p:nvPr/>
        </p:nvSpPr>
        <p:spPr>
          <a:xfrm>
            <a:off x="8385048" y="2697480"/>
            <a:ext cx="3035808" cy="77724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60%</a:t>
            </a:r>
            <a:endParaRPr lang="en-US" sz="5400" dirty="0"/>
          </a:p>
        </p:txBody>
      </p:sp>
      <p:sp>
        <p:nvSpPr>
          <p:cNvPr id="28" name="Text 19"/>
          <p:cNvSpPr txBox="1"/>
          <p:nvPr/>
        </p:nvSpPr>
        <p:spPr>
          <a:xfrm>
            <a:off x="8385048" y="3474720"/>
            <a:ext cx="3035808" cy="548640"/>
          </a:xfrm>
          <a:prstGeom prst="rect">
            <a:avLst/>
          </a:prstGeom>
          <a:noFill/>
          <a:ln/>
        </p:spPr>
        <p:txBody>
          <a:bodyPr wrap="square" lIns="0" tIns="0" rIns="0" bIns="0" rtlCol="0" anchor="t"/>
          <a:lstStyle/>
          <a:p>
            <a:pPr indent="0" marL="0">
              <a:buNone/>
            </a:pPr>
            <a:r>
              <a:rPr lang="en-US" sz="1400" dirty="0">
                <a:solidFill>
                  <a:schemeClr val="accent5"/>
                </a:solidFill>
              </a:rPr>
              <a:t>of AI projects unsupported by AI-ready data are predicted to be abandoned through 2026.</a:t>
            </a:r>
            <a:endParaRPr lang="en-US" sz="1400" dirty="0"/>
          </a:p>
        </p:txBody>
      </p:sp>
      <p:pic>
        <p:nvPicPr>
          <p:cNvPr id="29" name="Badge" descr="preencoded.png">    </p:cNvPr>
          <p:cNvPicPr>
            <a:picLocks noChangeAspect="1"/>
          </p:cNvPicPr>
          <p:nvPr/>
        </p:nvPicPr>
        <p:blipFill>
          <a:blip r:embed="rId8"/>
          <a:stretch>
            <a:fillRect/>
          </a:stretch>
        </p:blipFill>
        <p:spPr>
          <a:xfrm>
            <a:off x="8385048" y="4526280"/>
            <a:ext cx="685800" cy="685800"/>
          </a:xfrm>
          <a:prstGeom prst="rect">
            <a:avLst/>
          </a:prstGeom>
        </p:spPr>
      </p:pic>
      <p:sp>
        <p:nvSpPr>
          <p:cNvPr id="30" name="Rule"/>
          <p:cNvSpPr/>
          <p:nvPr/>
        </p:nvSpPr>
        <p:spPr>
          <a:xfrm>
            <a:off x="8385048" y="5458968"/>
            <a:ext cx="3035808" cy="0"/>
          </a:xfrm>
          <a:prstGeom prst="line">
            <a:avLst/>
          </a:prstGeom>
          <a:noFill/>
          <a:ln w="12700">
            <a:solidFill>
              <a:schemeClr val="accent6"/>
            </a:solidFill>
            <a:prstDash val="solid"/>
          </a:ln>
        </p:spPr>
      </p:sp>
      <p:sp>
        <p:nvSpPr>
          <p:cNvPr id="31" name="Text 21"/>
          <p:cNvSpPr txBox="1"/>
          <p:nvPr/>
        </p:nvSpPr>
        <p:spPr>
          <a:xfrm>
            <a:off x="8385048" y="5532120"/>
            <a:ext cx="3035808" cy="502920"/>
          </a:xfrm>
          <a:prstGeom prst="rect">
            <a:avLst/>
          </a:prstGeom>
          <a:noFill/>
          <a:ln/>
        </p:spPr>
        <p:txBody>
          <a:bodyPr wrap="square" lIns="0" tIns="0" rIns="0" bIns="0" rtlCol="0" anchor="b"/>
          <a:lstStyle/>
          <a:p>
            <a:pPr indent="0" marL="0">
              <a:buNone/>
            </a:pPr>
            <a:r>
              <a:rPr lang="en-US" sz="1000" dirty="0">
                <a:solidFill>
                  <a:schemeClr val="accent5"/>
                </a:solidFill>
              </a:rPr>
              <a:t>Source: Gartner, 2026 (cited in KPMG, 2026 – AI and data readiness: Leadership mandate for CDAOs)</a:t>
            </a:r>
            <a:endParaRPr lang="en-US" sz="10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Enterprise AI</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AI &amp; AGENTIC AI – THE WHOLE PICTURE</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The visible experience is only the tip</a:t>
            </a:r>
            <a:endParaRPr lang="en-US" sz="1500" dirty="0"/>
          </a:p>
        </p:txBody>
      </p:sp>
      <p:pic>
        <p:nvPicPr>
          <p:cNvPr id="5" name="Water" descr="preencoded.png">    </p:cNvPr>
          <p:cNvPicPr>
            <a:picLocks noChangeAspect="1"/>
          </p:cNvPicPr>
          <p:nvPr/>
        </p:nvPicPr>
        <p:blipFill>
          <a:blip r:embed="rId1"/>
          <a:stretch>
            <a:fillRect/>
          </a:stretch>
        </p:blipFill>
        <p:spPr>
          <a:xfrm>
            <a:off x="0" y="2984269"/>
            <a:ext cx="12191695" cy="3325091"/>
          </a:xfrm>
          <a:prstGeom prst="rect">
            <a:avLst/>
          </a:prstGeom>
        </p:spPr>
      </p:pic>
      <p:pic>
        <p:nvPicPr>
          <p:cNvPr id="6" name="Iceberg" descr="preencoded.png">    </p:cNvPr>
          <p:cNvPicPr>
            <a:picLocks noChangeAspect="1"/>
          </p:cNvPicPr>
          <p:nvPr/>
        </p:nvPicPr>
        <p:blipFill>
          <a:blip r:embed="rId2"/>
          <a:stretch>
            <a:fillRect/>
          </a:stretch>
        </p:blipFill>
        <p:spPr>
          <a:xfrm>
            <a:off x="502920" y="1737360"/>
            <a:ext cx="2514600" cy="4572000"/>
          </a:xfrm>
          <a:prstGeom prst="rect">
            <a:avLst/>
          </a:prstGeom>
        </p:spPr>
      </p:pic>
      <p:sp>
        <p:nvSpPr>
          <p:cNvPr id="7" name="Text 3"/>
          <p:cNvSpPr txBox="1"/>
          <p:nvPr/>
        </p:nvSpPr>
        <p:spPr>
          <a:xfrm>
            <a:off x="502920" y="2709949"/>
            <a:ext cx="2514600" cy="228600"/>
          </a:xfrm>
          <a:prstGeom prst="rect">
            <a:avLst/>
          </a:prstGeom>
          <a:noFill/>
          <a:ln/>
        </p:spPr>
        <p:txBody>
          <a:bodyPr wrap="square" lIns="0" tIns="0" rIns="0" bIns="0" rtlCol="0" anchor="t"/>
          <a:lstStyle/>
          <a:p>
            <a:pPr algn="ctr" indent="0" marL="0">
              <a:buNone/>
            </a:pPr>
            <a:r>
              <a:rPr lang="en-US" sz="900" b="1" spc="100" kern="0" dirty="0">
                <a:solidFill>
                  <a:schemeClr val="tx2"/>
                </a:solidFill>
              </a:rPr>
              <a:t>AI &amp; AGENTS</a:t>
            </a:r>
            <a:endParaRPr lang="en-US" sz="900" dirty="0"/>
          </a:p>
        </p:txBody>
      </p:sp>
      <p:sp>
        <p:nvSpPr>
          <p:cNvPr id="8" name="Text 4"/>
          <p:cNvSpPr txBox="1"/>
          <p:nvPr/>
        </p:nvSpPr>
        <p:spPr>
          <a:xfrm>
            <a:off x="502920" y="3657600"/>
            <a:ext cx="2514600" cy="594360"/>
          </a:xfrm>
          <a:prstGeom prst="rect">
            <a:avLst/>
          </a:prstGeom>
          <a:noFill/>
          <a:ln/>
        </p:spPr>
        <p:txBody>
          <a:bodyPr wrap="square" lIns="0" tIns="0" rIns="0" bIns="0" rtlCol="0" anchor="t"/>
          <a:lstStyle/>
          <a:p>
            <a:pPr algn="ctr" indent="0" marL="0">
              <a:buNone/>
            </a:pPr>
            <a:r>
              <a:rPr lang="en-US" sz="1300" b="1" dirty="0">
                <a:solidFill>
                  <a:schemeClr val="bg1"/>
                </a:solidFill>
              </a:rPr>
              <a:t>ENTERPRISE</a:t>
            </a:r>
            <a:endParaRPr lang="en-US" sz="1300" dirty="0"/>
          </a:p>
          <a:p>
            <a:pPr algn="ctr" indent="0" marL="0">
              <a:buNone/>
            </a:pPr>
            <a:r>
              <a:rPr lang="en-US" sz="1300" b="1" dirty="0">
                <a:solidFill>
                  <a:schemeClr val="bg1"/>
                </a:solidFill>
              </a:rPr>
              <a:t>FOUNDATION</a:t>
            </a:r>
            <a:endParaRPr lang="en-US" sz="1300" dirty="0"/>
          </a:p>
        </p:txBody>
      </p:sp>
      <p:sp>
        <p:nvSpPr>
          <p:cNvPr id="9" name="Waterline"/>
          <p:cNvSpPr/>
          <p:nvPr/>
        </p:nvSpPr>
        <p:spPr>
          <a:xfrm>
            <a:off x="0" y="2984269"/>
            <a:ext cx="12191695" cy="0"/>
          </a:xfrm>
          <a:prstGeom prst="line">
            <a:avLst/>
          </a:prstGeom>
          <a:noFill/>
          <a:ln w="15875">
            <a:solidFill>
              <a:schemeClr val="accent2"/>
            </a:solidFill>
            <a:prstDash val="dash"/>
          </a:ln>
        </p:spPr>
      </p:sp>
      <p:sp>
        <p:nvSpPr>
          <p:cNvPr id="10" name="Text 6"/>
          <p:cNvSpPr txBox="1"/>
          <p:nvPr/>
        </p:nvSpPr>
        <p:spPr>
          <a:xfrm>
            <a:off x="3337560" y="1737360"/>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WHAT USERS SEE   </a:t>
            </a:r>
            <a:pPr indent="0" marL="0">
              <a:buNone/>
            </a:pPr>
            <a:r>
              <a:rPr lang="en-US" sz="1100" dirty="0">
                <a:solidFill>
                  <a:schemeClr val="accent5"/>
                </a:solidFill>
              </a:rPr>
              <a:t>AI experiences at the point of work</a:t>
            </a:r>
            <a:endParaRPr lang="en-US" sz="1100" dirty="0"/>
          </a:p>
        </p:txBody>
      </p:sp>
      <p:pic>
        <p:nvPicPr>
          <p:cNvPr id="11" name="Card" descr="preencoded.png">    </p:cNvPr>
          <p:cNvPicPr>
            <a:picLocks noChangeAspect="1"/>
          </p:cNvPicPr>
          <p:nvPr/>
        </p:nvPicPr>
        <p:blipFill>
          <a:blip r:embed="rId3"/>
          <a:stretch>
            <a:fillRect/>
          </a:stretch>
        </p:blipFill>
        <p:spPr>
          <a:xfrm>
            <a:off x="3191256" y="1956816"/>
            <a:ext cx="1892808" cy="1097280"/>
          </a:xfrm>
          <a:prstGeom prst="rect">
            <a:avLst/>
          </a:prstGeom>
        </p:spPr>
      </p:pic>
      <p:pic>
        <p:nvPicPr>
          <p:cNvPr id="12" name="Badge" descr="preencoded.png">    </p:cNvPr>
          <p:cNvPicPr>
            <a:picLocks noChangeAspect="1"/>
          </p:cNvPicPr>
          <p:nvPr/>
        </p:nvPicPr>
        <p:blipFill>
          <a:blip r:embed="rId4"/>
          <a:stretch>
            <a:fillRect/>
          </a:stretch>
        </p:blipFill>
        <p:spPr>
          <a:xfrm>
            <a:off x="3447288" y="2295144"/>
            <a:ext cx="420624" cy="420624"/>
          </a:xfrm>
          <a:prstGeom prst="rect">
            <a:avLst/>
          </a:prstGeom>
        </p:spPr>
      </p:pic>
      <p:sp>
        <p:nvSpPr>
          <p:cNvPr id="13" name="Text 7"/>
          <p:cNvSpPr txBox="1"/>
          <p:nvPr/>
        </p:nvSpPr>
        <p:spPr>
          <a:xfrm>
            <a:off x="3941064"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Copilots</a:t>
            </a:r>
            <a:endParaRPr lang="en-US" sz="1100" dirty="0"/>
          </a:p>
        </p:txBody>
      </p:sp>
      <p:pic>
        <p:nvPicPr>
          <p:cNvPr id="14" name="Card" descr="preencoded.png">    </p:cNvPr>
          <p:cNvPicPr>
            <a:picLocks noChangeAspect="1"/>
          </p:cNvPicPr>
          <p:nvPr/>
        </p:nvPicPr>
        <p:blipFill>
          <a:blip r:embed="rId5"/>
          <a:stretch>
            <a:fillRect/>
          </a:stretch>
        </p:blipFill>
        <p:spPr>
          <a:xfrm>
            <a:off x="4901184" y="1956816"/>
            <a:ext cx="1892808" cy="1097280"/>
          </a:xfrm>
          <a:prstGeom prst="rect">
            <a:avLst/>
          </a:prstGeom>
        </p:spPr>
      </p:pic>
      <p:pic>
        <p:nvPicPr>
          <p:cNvPr id="15" name="Badge" descr="preencoded.png">    </p:cNvPr>
          <p:cNvPicPr>
            <a:picLocks noChangeAspect="1"/>
          </p:cNvPicPr>
          <p:nvPr/>
        </p:nvPicPr>
        <p:blipFill>
          <a:blip r:embed="rId6"/>
          <a:stretch>
            <a:fillRect/>
          </a:stretch>
        </p:blipFill>
        <p:spPr>
          <a:xfrm>
            <a:off x="5157216" y="2295144"/>
            <a:ext cx="420624" cy="420624"/>
          </a:xfrm>
          <a:prstGeom prst="rect">
            <a:avLst/>
          </a:prstGeom>
        </p:spPr>
      </p:pic>
      <p:sp>
        <p:nvSpPr>
          <p:cNvPr id="16" name="Text 8"/>
          <p:cNvSpPr txBox="1"/>
          <p:nvPr/>
        </p:nvSpPr>
        <p:spPr>
          <a:xfrm>
            <a:off x="5650992"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Conversational AI</a:t>
            </a:r>
            <a:endParaRPr lang="en-US" sz="1100" dirty="0"/>
          </a:p>
        </p:txBody>
      </p:sp>
      <p:pic>
        <p:nvPicPr>
          <p:cNvPr id="17" name="Card" descr="preencoded.png">    </p:cNvPr>
          <p:cNvPicPr>
            <a:picLocks noChangeAspect="1"/>
          </p:cNvPicPr>
          <p:nvPr/>
        </p:nvPicPr>
        <p:blipFill>
          <a:blip r:embed="rId7"/>
          <a:stretch>
            <a:fillRect/>
          </a:stretch>
        </p:blipFill>
        <p:spPr>
          <a:xfrm>
            <a:off x="6611112" y="1956816"/>
            <a:ext cx="1892808" cy="1097280"/>
          </a:xfrm>
          <a:prstGeom prst="rect">
            <a:avLst/>
          </a:prstGeom>
        </p:spPr>
      </p:pic>
      <p:pic>
        <p:nvPicPr>
          <p:cNvPr id="18" name="Badge" descr="preencoded.png">    </p:cNvPr>
          <p:cNvPicPr>
            <a:picLocks noChangeAspect="1"/>
          </p:cNvPicPr>
          <p:nvPr/>
        </p:nvPicPr>
        <p:blipFill>
          <a:blip r:embed="rId8"/>
          <a:stretch>
            <a:fillRect/>
          </a:stretch>
        </p:blipFill>
        <p:spPr>
          <a:xfrm>
            <a:off x="6867144" y="2295144"/>
            <a:ext cx="420624" cy="420624"/>
          </a:xfrm>
          <a:prstGeom prst="rect">
            <a:avLst/>
          </a:prstGeom>
        </p:spPr>
      </p:pic>
      <p:sp>
        <p:nvSpPr>
          <p:cNvPr id="19" name="Text 9"/>
          <p:cNvSpPr txBox="1"/>
          <p:nvPr/>
        </p:nvSpPr>
        <p:spPr>
          <a:xfrm>
            <a:off x="7360920"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Enterprise search &amp; Q&amp;A</a:t>
            </a:r>
            <a:endParaRPr lang="en-US" sz="1100" dirty="0"/>
          </a:p>
        </p:txBody>
      </p:sp>
      <p:pic>
        <p:nvPicPr>
          <p:cNvPr id="20" name="Card" descr="preencoded.png">    </p:cNvPr>
          <p:cNvPicPr>
            <a:picLocks noChangeAspect="1"/>
          </p:cNvPicPr>
          <p:nvPr/>
        </p:nvPicPr>
        <p:blipFill>
          <a:blip r:embed="rId9"/>
          <a:stretch>
            <a:fillRect/>
          </a:stretch>
        </p:blipFill>
        <p:spPr>
          <a:xfrm>
            <a:off x="8321040" y="1956816"/>
            <a:ext cx="1892808" cy="1097280"/>
          </a:xfrm>
          <a:prstGeom prst="rect">
            <a:avLst/>
          </a:prstGeom>
        </p:spPr>
      </p:pic>
      <p:pic>
        <p:nvPicPr>
          <p:cNvPr id="21" name="Badge" descr="preencoded.png">    </p:cNvPr>
          <p:cNvPicPr>
            <a:picLocks noChangeAspect="1"/>
          </p:cNvPicPr>
          <p:nvPr/>
        </p:nvPicPr>
        <p:blipFill>
          <a:blip r:embed="rId10"/>
          <a:stretch>
            <a:fillRect/>
          </a:stretch>
        </p:blipFill>
        <p:spPr>
          <a:xfrm>
            <a:off x="8577072" y="2295144"/>
            <a:ext cx="420624" cy="420624"/>
          </a:xfrm>
          <a:prstGeom prst="rect">
            <a:avLst/>
          </a:prstGeom>
        </p:spPr>
      </p:pic>
      <p:sp>
        <p:nvSpPr>
          <p:cNvPr id="22" name="Text 10"/>
          <p:cNvSpPr txBox="1"/>
          <p:nvPr/>
        </p:nvSpPr>
        <p:spPr>
          <a:xfrm>
            <a:off x="9070848"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Task-specific agents</a:t>
            </a:r>
            <a:endParaRPr lang="en-US" sz="1100" dirty="0"/>
          </a:p>
        </p:txBody>
      </p:sp>
      <p:pic>
        <p:nvPicPr>
          <p:cNvPr id="23" name="Card" descr="preencoded.png">    </p:cNvPr>
          <p:cNvPicPr>
            <a:picLocks noChangeAspect="1"/>
          </p:cNvPicPr>
          <p:nvPr/>
        </p:nvPicPr>
        <p:blipFill>
          <a:blip r:embed="rId11"/>
          <a:stretch>
            <a:fillRect/>
          </a:stretch>
        </p:blipFill>
        <p:spPr>
          <a:xfrm>
            <a:off x="10030968" y="1956816"/>
            <a:ext cx="1892808" cy="1097280"/>
          </a:xfrm>
          <a:prstGeom prst="rect">
            <a:avLst/>
          </a:prstGeom>
        </p:spPr>
      </p:pic>
      <p:pic>
        <p:nvPicPr>
          <p:cNvPr id="24" name="Badge" descr="preencoded.png">    </p:cNvPr>
          <p:cNvPicPr>
            <a:picLocks noChangeAspect="1"/>
          </p:cNvPicPr>
          <p:nvPr/>
        </p:nvPicPr>
        <p:blipFill>
          <a:blip r:embed="rId12"/>
          <a:stretch>
            <a:fillRect/>
          </a:stretch>
        </p:blipFill>
        <p:spPr>
          <a:xfrm>
            <a:off x="10287000" y="2295144"/>
            <a:ext cx="420624" cy="420624"/>
          </a:xfrm>
          <a:prstGeom prst="rect">
            <a:avLst/>
          </a:prstGeom>
        </p:spPr>
      </p:pic>
      <p:sp>
        <p:nvSpPr>
          <p:cNvPr id="25" name="Text 11"/>
          <p:cNvSpPr txBox="1"/>
          <p:nvPr/>
        </p:nvSpPr>
        <p:spPr>
          <a:xfrm>
            <a:off x="10780776"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Content &amp; analytics assistants</a:t>
            </a:r>
            <a:endParaRPr lang="en-US" sz="1100" dirty="0"/>
          </a:p>
        </p:txBody>
      </p:sp>
      <p:sp>
        <p:nvSpPr>
          <p:cNvPr id="26" name="Text 12"/>
          <p:cNvSpPr txBox="1"/>
          <p:nvPr/>
        </p:nvSpPr>
        <p:spPr>
          <a:xfrm>
            <a:off x="3337560" y="3167149"/>
            <a:ext cx="82296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WHAT MAKES AI WORK   </a:t>
            </a:r>
            <a:pPr indent="0" marL="0">
              <a:buNone/>
            </a:pPr>
            <a:r>
              <a:rPr lang="en-US" sz="1100" dirty="0">
                <a:solidFill>
                  <a:schemeClr val="accent5"/>
                </a:solidFill>
              </a:rPr>
              <a:t>The enterprise foundation behind the AI experience</a:t>
            </a:r>
            <a:endParaRPr lang="en-US" sz="1100" dirty="0"/>
          </a:p>
        </p:txBody>
      </p:sp>
      <p:pic>
        <p:nvPicPr>
          <p:cNvPr id="27" name="Card" descr="preencoded.png">    </p:cNvPr>
          <p:cNvPicPr>
            <a:picLocks noChangeAspect="1"/>
          </p:cNvPicPr>
          <p:nvPr/>
        </p:nvPicPr>
        <p:blipFill>
          <a:blip r:embed="rId13"/>
          <a:stretch>
            <a:fillRect/>
          </a:stretch>
        </p:blipFill>
        <p:spPr>
          <a:xfrm>
            <a:off x="3191256" y="3404893"/>
            <a:ext cx="2304288" cy="2685011"/>
          </a:xfrm>
          <a:prstGeom prst="rect">
            <a:avLst/>
          </a:prstGeom>
        </p:spPr>
      </p:pic>
      <p:pic>
        <p:nvPicPr>
          <p:cNvPr id="28" name="Badge" descr="preencoded.png">    </p:cNvPr>
          <p:cNvPicPr>
            <a:picLocks noChangeAspect="1"/>
          </p:cNvPicPr>
          <p:nvPr/>
        </p:nvPicPr>
        <p:blipFill>
          <a:blip r:embed="rId14"/>
          <a:stretch>
            <a:fillRect/>
          </a:stretch>
        </p:blipFill>
        <p:spPr>
          <a:xfrm>
            <a:off x="3502152" y="3734077"/>
            <a:ext cx="457200" cy="457200"/>
          </a:xfrm>
          <a:prstGeom prst="rect">
            <a:avLst/>
          </a:prstGeom>
        </p:spPr>
      </p:pic>
      <p:sp>
        <p:nvSpPr>
          <p:cNvPr id="29" name="Text 13"/>
          <p:cNvSpPr txBox="1"/>
          <p:nvPr/>
        </p:nvSpPr>
        <p:spPr>
          <a:xfrm>
            <a:off x="4069080"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Data</a:t>
            </a:r>
            <a:endParaRPr lang="en-US" sz="1600" dirty="0"/>
          </a:p>
        </p:txBody>
      </p:sp>
      <p:sp>
        <p:nvSpPr>
          <p:cNvPr id="30" name="Text 14"/>
          <p:cNvSpPr txBox="1"/>
          <p:nvPr/>
        </p:nvSpPr>
        <p:spPr>
          <a:xfrm>
            <a:off x="3502152"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does AI know?</a:t>
            </a:r>
            <a:endParaRPr lang="en-US" sz="1100" dirty="0"/>
          </a:p>
        </p:txBody>
      </p:sp>
      <p:sp>
        <p:nvSpPr>
          <p:cNvPr id="31" name="Text 15"/>
          <p:cNvSpPr txBox="1"/>
          <p:nvPr/>
        </p:nvSpPr>
        <p:spPr>
          <a:xfrm>
            <a:off x="3502152"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Integrated</a:t>
            </a:r>
            <a:endParaRPr lang="en-US" sz="1150" dirty="0"/>
          </a:p>
          <a:p>
            <a:pPr marL="165100" indent="-165100">
              <a:spcAft>
                <a:spcPts val="200"/>
              </a:spcAft>
              <a:buClr>
                <a:srgbClr val="F7941E"/>
              </a:buClr>
              <a:buSzPct val="100000"/>
              <a:buChar char="●"/>
            </a:pPr>
            <a:r>
              <a:rPr lang="en-US" sz="1150" dirty="0">
                <a:solidFill>
                  <a:schemeClr val="bg1"/>
                </a:solidFill>
              </a:rPr>
              <a:t>Quality</a:t>
            </a:r>
            <a:endParaRPr lang="en-US" sz="1150" dirty="0"/>
          </a:p>
          <a:p>
            <a:pPr marL="165100" indent="-165100">
              <a:spcAft>
                <a:spcPts val="200"/>
              </a:spcAft>
              <a:buClr>
                <a:srgbClr val="F7941E"/>
              </a:buClr>
              <a:buSzPct val="100000"/>
              <a:buChar char="●"/>
            </a:pPr>
            <a:r>
              <a:rPr lang="en-US" sz="1150" dirty="0">
                <a:solidFill>
                  <a:schemeClr val="bg1"/>
                </a:solidFill>
              </a:rPr>
              <a:t>Accessible</a:t>
            </a:r>
            <a:endParaRPr lang="en-US" sz="1150" dirty="0"/>
          </a:p>
          <a:p>
            <a:pPr marL="165100" indent="-165100">
              <a:spcAft>
                <a:spcPts val="200"/>
              </a:spcAft>
              <a:buClr>
                <a:srgbClr val="F7941E"/>
              </a:buClr>
              <a:buSzPct val="100000"/>
              <a:buChar char="●"/>
            </a:pPr>
            <a:r>
              <a:rPr lang="en-US" sz="1150" dirty="0">
                <a:solidFill>
                  <a:schemeClr val="bg1"/>
                </a:solidFill>
              </a:rPr>
              <a:t>Governed</a:t>
            </a:r>
            <a:endParaRPr lang="en-US" sz="1150" dirty="0"/>
          </a:p>
        </p:txBody>
      </p:sp>
      <p:pic>
        <p:nvPicPr>
          <p:cNvPr id="32" name="Card" descr="preencoded.png">    </p:cNvPr>
          <p:cNvPicPr>
            <a:picLocks noChangeAspect="1"/>
          </p:cNvPicPr>
          <p:nvPr/>
        </p:nvPicPr>
        <p:blipFill>
          <a:blip r:embed="rId15"/>
          <a:stretch>
            <a:fillRect/>
          </a:stretch>
        </p:blipFill>
        <p:spPr>
          <a:xfrm>
            <a:off x="5312664" y="3404893"/>
            <a:ext cx="2304288" cy="2685011"/>
          </a:xfrm>
          <a:prstGeom prst="rect">
            <a:avLst/>
          </a:prstGeom>
        </p:spPr>
      </p:pic>
      <p:pic>
        <p:nvPicPr>
          <p:cNvPr id="33" name="Badge" descr="preencoded.png">    </p:cNvPr>
          <p:cNvPicPr>
            <a:picLocks noChangeAspect="1"/>
          </p:cNvPicPr>
          <p:nvPr/>
        </p:nvPicPr>
        <p:blipFill>
          <a:blip r:embed="rId16"/>
          <a:stretch>
            <a:fillRect/>
          </a:stretch>
        </p:blipFill>
        <p:spPr>
          <a:xfrm>
            <a:off x="5623560" y="3734077"/>
            <a:ext cx="457200" cy="457200"/>
          </a:xfrm>
          <a:prstGeom prst="rect">
            <a:avLst/>
          </a:prstGeom>
        </p:spPr>
      </p:pic>
      <p:sp>
        <p:nvSpPr>
          <p:cNvPr id="34" name="Text 16"/>
          <p:cNvSpPr txBox="1"/>
          <p:nvPr/>
        </p:nvSpPr>
        <p:spPr>
          <a:xfrm>
            <a:off x="6190488"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Context</a:t>
            </a:r>
            <a:endParaRPr lang="en-US" sz="1600" dirty="0"/>
          </a:p>
        </p:txBody>
      </p:sp>
      <p:sp>
        <p:nvSpPr>
          <p:cNvPr id="35" name="Text 17"/>
          <p:cNvSpPr txBox="1"/>
          <p:nvPr/>
        </p:nvSpPr>
        <p:spPr>
          <a:xfrm>
            <a:off x="5623560"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does AI understand?</a:t>
            </a:r>
            <a:endParaRPr lang="en-US" sz="1100" dirty="0"/>
          </a:p>
        </p:txBody>
      </p:sp>
      <p:sp>
        <p:nvSpPr>
          <p:cNvPr id="36" name="Text 18"/>
          <p:cNvSpPr txBox="1"/>
          <p:nvPr/>
        </p:nvSpPr>
        <p:spPr>
          <a:xfrm>
            <a:off x="5623560"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Enterprise knowledge</a:t>
            </a:r>
            <a:endParaRPr lang="en-US" sz="1150" dirty="0"/>
          </a:p>
          <a:p>
            <a:pPr marL="165100" indent="-165100">
              <a:spcAft>
                <a:spcPts val="200"/>
              </a:spcAft>
              <a:buClr>
                <a:srgbClr val="F7941E"/>
              </a:buClr>
              <a:buSzPct val="100000"/>
              <a:buChar char="●"/>
            </a:pPr>
            <a:r>
              <a:rPr lang="en-US" sz="1150" dirty="0">
                <a:solidFill>
                  <a:schemeClr val="bg1"/>
                </a:solidFill>
              </a:rPr>
              <a:t>Business processes</a:t>
            </a:r>
            <a:endParaRPr lang="en-US" sz="1150" dirty="0"/>
          </a:p>
          <a:p>
            <a:pPr marL="165100" indent="-165100">
              <a:spcAft>
                <a:spcPts val="200"/>
              </a:spcAft>
              <a:buClr>
                <a:srgbClr val="F7941E"/>
              </a:buClr>
              <a:buSzPct val="100000"/>
              <a:buChar char="●"/>
            </a:pPr>
            <a:r>
              <a:rPr lang="en-US" sz="1150" dirty="0">
                <a:solidFill>
                  <a:schemeClr val="bg1"/>
                </a:solidFill>
              </a:rPr>
              <a:t>Semantics</a:t>
            </a:r>
            <a:endParaRPr lang="en-US" sz="1150" dirty="0"/>
          </a:p>
          <a:p>
            <a:pPr marL="165100" indent="-165100">
              <a:spcAft>
                <a:spcPts val="200"/>
              </a:spcAft>
              <a:buClr>
                <a:srgbClr val="F7941E"/>
              </a:buClr>
              <a:buSzPct val="100000"/>
              <a:buChar char="●"/>
            </a:pPr>
            <a:r>
              <a:rPr lang="en-US" sz="1150" dirty="0">
                <a:solidFill>
                  <a:schemeClr val="bg1"/>
                </a:solidFill>
              </a:rPr>
              <a:t>Real-time context</a:t>
            </a:r>
            <a:endParaRPr lang="en-US" sz="1150" dirty="0"/>
          </a:p>
        </p:txBody>
      </p:sp>
      <p:pic>
        <p:nvPicPr>
          <p:cNvPr id="37" name="Card" descr="preencoded.png">    </p:cNvPr>
          <p:cNvPicPr>
            <a:picLocks noChangeAspect="1"/>
          </p:cNvPicPr>
          <p:nvPr/>
        </p:nvPicPr>
        <p:blipFill>
          <a:blip r:embed="rId17"/>
          <a:stretch>
            <a:fillRect/>
          </a:stretch>
        </p:blipFill>
        <p:spPr>
          <a:xfrm>
            <a:off x="7434072" y="3404893"/>
            <a:ext cx="2304288" cy="2685011"/>
          </a:xfrm>
          <a:prstGeom prst="rect">
            <a:avLst/>
          </a:prstGeom>
        </p:spPr>
      </p:pic>
      <p:pic>
        <p:nvPicPr>
          <p:cNvPr id="38" name="Badge" descr="preencoded.png">    </p:cNvPr>
          <p:cNvPicPr>
            <a:picLocks noChangeAspect="1"/>
          </p:cNvPicPr>
          <p:nvPr/>
        </p:nvPicPr>
        <p:blipFill>
          <a:blip r:embed="rId18"/>
          <a:stretch>
            <a:fillRect/>
          </a:stretch>
        </p:blipFill>
        <p:spPr>
          <a:xfrm>
            <a:off x="7744968" y="3734077"/>
            <a:ext cx="457200" cy="457200"/>
          </a:xfrm>
          <a:prstGeom prst="rect">
            <a:avLst/>
          </a:prstGeom>
        </p:spPr>
      </p:pic>
      <p:sp>
        <p:nvSpPr>
          <p:cNvPr id="39" name="Text 19"/>
          <p:cNvSpPr txBox="1"/>
          <p:nvPr/>
        </p:nvSpPr>
        <p:spPr>
          <a:xfrm>
            <a:off x="8311896"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Governance</a:t>
            </a:r>
            <a:endParaRPr lang="en-US" sz="1600" dirty="0"/>
          </a:p>
        </p:txBody>
      </p:sp>
      <p:sp>
        <p:nvSpPr>
          <p:cNvPr id="40" name="Text 20"/>
          <p:cNvSpPr txBox="1"/>
          <p:nvPr/>
        </p:nvSpPr>
        <p:spPr>
          <a:xfrm>
            <a:off x="7744968"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is AI allowed to do?</a:t>
            </a:r>
            <a:endParaRPr lang="en-US" sz="1100" dirty="0"/>
          </a:p>
        </p:txBody>
      </p:sp>
      <p:sp>
        <p:nvSpPr>
          <p:cNvPr id="41" name="Text 21"/>
          <p:cNvSpPr txBox="1"/>
          <p:nvPr/>
        </p:nvSpPr>
        <p:spPr>
          <a:xfrm>
            <a:off x="7744968"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Policies &amp; guardrails</a:t>
            </a:r>
            <a:endParaRPr lang="en-US" sz="1150" dirty="0"/>
          </a:p>
          <a:p>
            <a:pPr marL="165100" indent="-165100">
              <a:spcAft>
                <a:spcPts val="200"/>
              </a:spcAft>
              <a:buClr>
                <a:srgbClr val="F7941E"/>
              </a:buClr>
              <a:buSzPct val="100000"/>
              <a:buChar char="●"/>
            </a:pPr>
            <a:r>
              <a:rPr lang="en-US" sz="1150" dirty="0">
                <a:solidFill>
                  <a:schemeClr val="bg1"/>
                </a:solidFill>
              </a:rPr>
              <a:t>Access &amp; permissions</a:t>
            </a:r>
            <a:endParaRPr lang="en-US" sz="1150" dirty="0"/>
          </a:p>
          <a:p>
            <a:pPr marL="165100" indent="-165100">
              <a:spcAft>
                <a:spcPts val="200"/>
              </a:spcAft>
              <a:buClr>
                <a:srgbClr val="F7941E"/>
              </a:buClr>
              <a:buSzPct val="100000"/>
              <a:buChar char="●"/>
            </a:pPr>
            <a:r>
              <a:rPr lang="en-US" sz="1150" dirty="0">
                <a:solidFill>
                  <a:schemeClr val="bg1"/>
                </a:solidFill>
              </a:rPr>
              <a:t>Human-in-the-loop</a:t>
            </a:r>
            <a:endParaRPr lang="en-US" sz="1150" dirty="0"/>
          </a:p>
          <a:p>
            <a:pPr marL="165100" indent="-165100">
              <a:spcAft>
                <a:spcPts val="200"/>
              </a:spcAft>
              <a:buClr>
                <a:srgbClr val="F7941E"/>
              </a:buClr>
              <a:buSzPct val="100000"/>
              <a:buChar char="●"/>
            </a:pPr>
            <a:r>
              <a:rPr lang="en-US" sz="1150" dirty="0">
                <a:solidFill>
                  <a:schemeClr val="bg1"/>
                </a:solidFill>
              </a:rPr>
              <a:t>Regulatory compliance</a:t>
            </a:r>
            <a:endParaRPr lang="en-US" sz="1150" dirty="0"/>
          </a:p>
        </p:txBody>
      </p:sp>
      <p:pic>
        <p:nvPicPr>
          <p:cNvPr id="42" name="Card" descr="preencoded.png">    </p:cNvPr>
          <p:cNvPicPr>
            <a:picLocks noChangeAspect="1"/>
          </p:cNvPicPr>
          <p:nvPr/>
        </p:nvPicPr>
        <p:blipFill>
          <a:blip r:embed="rId19"/>
          <a:stretch>
            <a:fillRect/>
          </a:stretch>
        </p:blipFill>
        <p:spPr>
          <a:xfrm>
            <a:off x="9555480" y="3404893"/>
            <a:ext cx="2304288" cy="2685011"/>
          </a:xfrm>
          <a:prstGeom prst="rect">
            <a:avLst/>
          </a:prstGeom>
        </p:spPr>
      </p:pic>
      <p:pic>
        <p:nvPicPr>
          <p:cNvPr id="43" name="Badge" descr="preencoded.png">    </p:cNvPr>
          <p:cNvPicPr>
            <a:picLocks noChangeAspect="1"/>
          </p:cNvPicPr>
          <p:nvPr/>
        </p:nvPicPr>
        <p:blipFill>
          <a:blip r:embed="rId20"/>
          <a:stretch>
            <a:fillRect/>
          </a:stretch>
        </p:blipFill>
        <p:spPr>
          <a:xfrm>
            <a:off x="9866376" y="3734077"/>
            <a:ext cx="457200" cy="457200"/>
          </a:xfrm>
          <a:prstGeom prst="rect">
            <a:avLst/>
          </a:prstGeom>
        </p:spPr>
      </p:pic>
      <p:sp>
        <p:nvSpPr>
          <p:cNvPr id="44" name="Text 22"/>
          <p:cNvSpPr txBox="1"/>
          <p:nvPr/>
        </p:nvSpPr>
        <p:spPr>
          <a:xfrm>
            <a:off x="10433304" y="3734077"/>
            <a:ext cx="1188720" cy="457200"/>
          </a:xfrm>
          <a:prstGeom prst="rect">
            <a:avLst/>
          </a:prstGeom>
          <a:noFill/>
          <a:ln/>
        </p:spPr>
        <p:txBody>
          <a:bodyPr wrap="square" lIns="0" tIns="0" rIns="0" bIns="0" rtlCol="0" anchor="ctr"/>
          <a:lstStyle/>
          <a:p>
            <a:pPr indent="0" marL="0">
              <a:buNone/>
            </a:pPr>
            <a:r>
              <a:rPr lang="en-US" sz="1600" b="1" dirty="0">
                <a:solidFill>
                  <a:schemeClr val="bg1"/>
                </a:solidFill>
              </a:rPr>
              <a:t>Trust</a:t>
            </a:r>
            <a:endParaRPr lang="en-US" sz="1600" dirty="0"/>
          </a:p>
        </p:txBody>
      </p:sp>
      <p:sp>
        <p:nvSpPr>
          <p:cNvPr id="45" name="Text 23"/>
          <p:cNvSpPr txBox="1"/>
          <p:nvPr/>
        </p:nvSpPr>
        <p:spPr>
          <a:xfrm>
            <a:off x="9866376"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Can we depend on it?</a:t>
            </a:r>
            <a:endParaRPr lang="en-US" sz="1100" dirty="0"/>
          </a:p>
        </p:txBody>
      </p:sp>
      <p:sp>
        <p:nvSpPr>
          <p:cNvPr id="46" name="Text 24"/>
          <p:cNvSpPr txBox="1"/>
          <p:nvPr/>
        </p:nvSpPr>
        <p:spPr>
          <a:xfrm>
            <a:off x="9866376"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Security &amp; privacy</a:t>
            </a:r>
            <a:endParaRPr lang="en-US" sz="1150" dirty="0"/>
          </a:p>
          <a:p>
            <a:pPr marL="165100" indent="-165100">
              <a:spcAft>
                <a:spcPts val="200"/>
              </a:spcAft>
              <a:buClr>
                <a:srgbClr val="F7941E"/>
              </a:buClr>
              <a:buSzPct val="100000"/>
              <a:buChar char="●"/>
            </a:pPr>
            <a:r>
              <a:rPr lang="en-US" sz="1150" dirty="0">
                <a:solidFill>
                  <a:schemeClr val="bg1"/>
                </a:solidFill>
              </a:rPr>
              <a:t>Accuracy</a:t>
            </a:r>
            <a:endParaRPr lang="en-US" sz="1150" dirty="0"/>
          </a:p>
          <a:p>
            <a:pPr marL="165100" indent="-165100">
              <a:spcAft>
                <a:spcPts val="200"/>
              </a:spcAft>
              <a:buClr>
                <a:srgbClr val="F7941E"/>
              </a:buClr>
              <a:buSzPct val="100000"/>
              <a:buChar char="●"/>
            </a:pPr>
            <a:r>
              <a:rPr lang="en-US" sz="1150" dirty="0">
                <a:solidFill>
                  <a:schemeClr val="bg1"/>
                </a:solidFill>
              </a:rPr>
              <a:t>Explainability</a:t>
            </a:r>
            <a:endParaRPr lang="en-US" sz="1150" dirty="0"/>
          </a:p>
          <a:p>
            <a:pPr marL="165100" indent="-165100">
              <a:spcAft>
                <a:spcPts val="200"/>
              </a:spcAft>
              <a:buClr>
                <a:srgbClr val="F7941E"/>
              </a:buClr>
              <a:buSzPct val="100000"/>
              <a:buChar char="●"/>
            </a:pPr>
            <a:r>
              <a:rPr lang="en-US" sz="1150" dirty="0">
                <a:solidFill>
                  <a:schemeClr val="bg1"/>
                </a:solidFill>
              </a:rPr>
              <a:t>Reliability</a:t>
            </a:r>
            <a:endParaRPr lang="en-US" sz="1150" dirty="0"/>
          </a:p>
          <a:p>
            <a:pPr marL="165100" indent="-165100">
              <a:spcAft>
                <a:spcPts val="200"/>
              </a:spcAft>
              <a:buClr>
                <a:srgbClr val="F7941E"/>
              </a:buClr>
              <a:buSzPct val="100000"/>
              <a:buChar char="●"/>
            </a:pPr>
            <a:r>
              <a:rPr lang="en-US" sz="1150" dirty="0">
                <a:solidFill>
                  <a:schemeClr val="bg1"/>
                </a:solidFill>
              </a:rPr>
              <a:t>Auditability</a:t>
            </a:r>
            <a:endParaRPr lang="en-US" sz="1150" dirty="0"/>
          </a:p>
        </p:txBody>
      </p:sp>
      <p:sp>
        <p:nvSpPr>
          <p:cNvPr id="47" name="Text 25"/>
          <p:cNvSpPr txBox="1"/>
          <p:nvPr/>
        </p:nvSpPr>
        <p:spPr>
          <a:xfrm>
            <a:off x="3337560" y="6053328"/>
            <a:ext cx="8412480" cy="274320"/>
          </a:xfrm>
          <a:prstGeom prst="rect">
            <a:avLst/>
          </a:prstGeom>
          <a:noFill/>
          <a:ln/>
        </p:spPr>
        <p:txBody>
          <a:bodyPr wrap="square" lIns="0" tIns="0" rIns="0" bIns="0" rtlCol="0" anchor="t"/>
          <a:lstStyle/>
          <a:p>
            <a:pPr indent="0" marL="0">
              <a:buNone/>
            </a:pPr>
            <a:r>
              <a:rPr lang="en-US" sz="1200" b="1" dirty="0">
                <a:solidFill>
                  <a:schemeClr val="tx1"/>
                </a:solidFill>
              </a:rPr>
              <a:t>AI &amp; Agents are what users see.  </a:t>
            </a:r>
            <a:pPr indent="0" marL="0">
              <a:buNone/>
            </a:pPr>
            <a:r>
              <a:rPr lang="en-US" sz="1200" b="1" dirty="0">
                <a:solidFill>
                  <a:schemeClr val="accent1"/>
                </a:solidFill>
              </a:rPr>
              <a:t>Data, Context, Governance and Trust make them enterprise-ready.</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Service Offerings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WHAT WE DO</a:t>
            </a:r>
            <a:endParaRPr lang="en-US" sz="1100" dirty="0"/>
          </a:p>
        </p:txBody>
      </p:sp>
      <p:sp>
        <p:nvSpPr>
          <p:cNvPr id="4" name="Connector"/>
          <p:cNvSpPr/>
          <p:nvPr/>
        </p:nvSpPr>
        <p:spPr>
          <a:xfrm flipH="1">
            <a:off x="6095848" y="2944368"/>
            <a:ext cx="914" cy="1261872"/>
          </a:xfrm>
          <a:prstGeom prst="line">
            <a:avLst/>
          </a:prstGeom>
          <a:noFill/>
          <a:ln w="15875">
            <a:solidFill>
              <a:schemeClr val="accent2">
                <a:alpha val="60000"/>
              </a:schemeClr>
            </a:solidFill>
            <a:prstDash val="dash"/>
          </a:ln>
        </p:spPr>
      </p:sp>
      <p:sp>
        <p:nvSpPr>
          <p:cNvPr id="5" name="Connector"/>
          <p:cNvSpPr/>
          <p:nvPr/>
        </p:nvSpPr>
        <p:spPr>
          <a:xfrm>
            <a:off x="3429000" y="2011680"/>
            <a:ext cx="2666848" cy="2194560"/>
          </a:xfrm>
          <a:prstGeom prst="line">
            <a:avLst/>
          </a:prstGeom>
          <a:noFill/>
          <a:ln w="15875">
            <a:solidFill>
              <a:schemeClr val="accent2">
                <a:alpha val="60000"/>
              </a:schemeClr>
            </a:solidFill>
            <a:prstDash val="dash"/>
          </a:ln>
        </p:spPr>
      </p:sp>
      <p:sp>
        <p:nvSpPr>
          <p:cNvPr id="6" name="Connector"/>
          <p:cNvSpPr/>
          <p:nvPr/>
        </p:nvSpPr>
        <p:spPr>
          <a:xfrm flipH="1">
            <a:off x="3429000" y="4206240"/>
            <a:ext cx="2666848" cy="347472"/>
          </a:xfrm>
          <a:prstGeom prst="line">
            <a:avLst/>
          </a:prstGeom>
          <a:noFill/>
          <a:ln w="15875">
            <a:solidFill>
              <a:schemeClr val="accent2">
                <a:alpha val="60000"/>
              </a:schemeClr>
            </a:solidFill>
            <a:prstDash val="dash"/>
          </a:ln>
        </p:spPr>
      </p:sp>
      <p:sp>
        <p:nvSpPr>
          <p:cNvPr id="7" name="Connector"/>
          <p:cNvSpPr/>
          <p:nvPr/>
        </p:nvSpPr>
        <p:spPr>
          <a:xfrm flipH="1">
            <a:off x="6095848" y="2011680"/>
            <a:ext cx="2666848" cy="2194560"/>
          </a:xfrm>
          <a:prstGeom prst="line">
            <a:avLst/>
          </a:prstGeom>
          <a:noFill/>
          <a:ln w="15875">
            <a:solidFill>
              <a:schemeClr val="accent2">
                <a:alpha val="60000"/>
              </a:schemeClr>
            </a:solidFill>
            <a:prstDash val="dash"/>
          </a:ln>
        </p:spPr>
      </p:sp>
      <p:sp>
        <p:nvSpPr>
          <p:cNvPr id="8" name="Connector"/>
          <p:cNvSpPr/>
          <p:nvPr/>
        </p:nvSpPr>
        <p:spPr>
          <a:xfrm>
            <a:off x="6095848" y="4206240"/>
            <a:ext cx="2666848" cy="347472"/>
          </a:xfrm>
          <a:prstGeom prst="line">
            <a:avLst/>
          </a:prstGeom>
          <a:noFill/>
          <a:ln w="15875">
            <a:solidFill>
              <a:schemeClr val="accent2">
                <a:alpha val="60000"/>
              </a:schemeClr>
            </a:solidFill>
            <a:prstDash val="dash"/>
          </a:ln>
        </p:spPr>
      </p:sp>
      <p:pic>
        <p:nvPicPr>
          <p:cNvPr id="9" name="Core" descr="preencoded.png">    </p:cNvPr>
          <p:cNvPicPr>
            <a:picLocks noChangeAspect="1"/>
          </p:cNvPicPr>
          <p:nvPr/>
        </p:nvPicPr>
        <p:blipFill>
          <a:blip r:embed="rId1"/>
          <a:stretch>
            <a:fillRect/>
          </a:stretch>
        </p:blipFill>
        <p:spPr>
          <a:xfrm>
            <a:off x="4495648" y="2606040"/>
            <a:ext cx="3200400" cy="3200400"/>
          </a:xfrm>
          <a:prstGeom prst="rect">
            <a:avLst/>
          </a:prstGeom>
        </p:spPr>
      </p:pic>
      <p:sp>
        <p:nvSpPr>
          <p:cNvPr id="10" name="Text 7"/>
          <p:cNvSpPr txBox="1"/>
          <p:nvPr/>
        </p:nvSpPr>
        <p:spPr>
          <a:xfrm>
            <a:off x="5044288" y="3749040"/>
            <a:ext cx="2103120" cy="914400"/>
          </a:xfrm>
          <a:prstGeom prst="rect">
            <a:avLst/>
          </a:prstGeom>
          <a:noFill/>
          <a:ln/>
        </p:spPr>
        <p:txBody>
          <a:bodyPr wrap="square" lIns="0" tIns="0" rIns="0" bIns="0" rtlCol="0" anchor="ctr"/>
          <a:lstStyle/>
          <a:p>
            <a:pPr algn="ctr" indent="0" marL="0">
              <a:buNone/>
            </a:pPr>
            <a:r>
              <a:rPr lang="en-US" sz="2100" b="1" dirty="0">
                <a:solidFill>
                  <a:schemeClr val="bg1"/>
                </a:solidFill>
                <a:latin typeface="Arial" pitchFamily="34" charset="0"/>
                <a:ea typeface="Arial" pitchFamily="34" charset="-122"/>
                <a:cs typeface="Arial" pitchFamily="34" charset="-120"/>
              </a:rPr>
              <a:t>Our Core</a:t>
            </a:r>
            <a:endParaRPr lang="en-US" sz="2100" dirty="0"/>
          </a:p>
          <a:p>
            <a:pPr algn="ctr" indent="0" marL="0">
              <a:buNone/>
            </a:pPr>
            <a:r>
              <a:rPr lang="en-US" sz="2100" b="1" dirty="0">
                <a:solidFill>
                  <a:schemeClr val="bg1"/>
                </a:solidFill>
                <a:latin typeface="Arial" pitchFamily="34" charset="0"/>
                <a:ea typeface="Arial" pitchFamily="34" charset="-122"/>
                <a:cs typeface="Arial" pitchFamily="34" charset="-120"/>
              </a:rPr>
              <a:t>Services</a:t>
            </a:r>
            <a:endParaRPr lang="en-US" sz="2100" dirty="0"/>
          </a:p>
        </p:txBody>
      </p:sp>
      <p:pic>
        <p:nvPicPr>
          <p:cNvPr id="11" name="Card" descr="preencoded.png">    </p:cNvPr>
          <p:cNvPicPr>
            <a:picLocks noChangeAspect="1"/>
          </p:cNvPicPr>
          <p:nvPr/>
        </p:nvPicPr>
        <p:blipFill>
          <a:blip r:embed="rId2"/>
          <a:stretch>
            <a:fillRect/>
          </a:stretch>
        </p:blipFill>
        <p:spPr>
          <a:xfrm>
            <a:off x="3465576" y="1316736"/>
            <a:ext cx="5257800" cy="1773936"/>
          </a:xfrm>
          <a:prstGeom prst="rect">
            <a:avLst/>
          </a:prstGeom>
        </p:spPr>
      </p:pic>
      <p:pic>
        <p:nvPicPr>
          <p:cNvPr id="12" name="Badge" descr="preencoded.png">    </p:cNvPr>
          <p:cNvPicPr>
            <a:picLocks noChangeAspect="1"/>
          </p:cNvPicPr>
          <p:nvPr/>
        </p:nvPicPr>
        <p:blipFill>
          <a:blip r:embed="rId3"/>
          <a:stretch>
            <a:fillRect/>
          </a:stretch>
        </p:blipFill>
        <p:spPr>
          <a:xfrm>
            <a:off x="3794760" y="1627632"/>
            <a:ext cx="457200" cy="457200"/>
          </a:xfrm>
          <a:prstGeom prst="rect">
            <a:avLst/>
          </a:prstGeom>
        </p:spPr>
      </p:pic>
      <p:sp>
        <p:nvSpPr>
          <p:cNvPr id="13" name="Text 8"/>
          <p:cNvSpPr txBox="1"/>
          <p:nvPr/>
        </p:nvSpPr>
        <p:spPr>
          <a:xfrm>
            <a:off x="4361688" y="1627632"/>
            <a:ext cx="4096512" cy="457200"/>
          </a:xfrm>
          <a:prstGeom prst="rect">
            <a:avLst/>
          </a:prstGeom>
          <a:noFill/>
          <a:ln/>
        </p:spPr>
        <p:txBody>
          <a:bodyPr wrap="square" lIns="0" tIns="0" rIns="0" bIns="0" rtlCol="0" anchor="ctr"/>
          <a:lstStyle/>
          <a:p>
            <a:pPr indent="0" marL="0">
              <a:buNone/>
            </a:pPr>
            <a:r>
              <a:rPr lang="en-US" sz="1400" b="1" dirty="0">
                <a:solidFill>
                  <a:schemeClr val="tx1"/>
                </a:solidFill>
              </a:rPr>
              <a:t>Decision Augmenting Solution</a:t>
            </a:r>
            <a:endParaRPr lang="en-US" sz="1400" dirty="0"/>
          </a:p>
        </p:txBody>
      </p:sp>
      <p:sp>
        <p:nvSpPr>
          <p:cNvPr id="14" name="Text 9"/>
          <p:cNvSpPr txBox="1"/>
          <p:nvPr/>
        </p:nvSpPr>
        <p:spPr>
          <a:xfrm>
            <a:off x="3813048" y="2194560"/>
            <a:ext cx="4599432" cy="65836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b="1" dirty="0">
                <a:solidFill>
                  <a:schemeClr val="tx1"/>
                </a:solidFill>
              </a:rPr>
              <a:t>Auto Report</a:t>
            </a:r>
            <a:pPr indent="0" marL="0">
              <a:buNone/>
            </a:pPr>
            <a:r>
              <a:rPr lang="en-US" sz="1200" dirty="0">
                <a:solidFill>
                  <a:schemeClr val="accent5"/>
                </a:solidFill>
              </a:rPr>
              <a:t> – No-code report automation solution</a:t>
            </a:r>
            <a:endParaRPr lang="en-US" sz="1200" dirty="0"/>
          </a:p>
          <a:p>
            <a:pPr marL="165100" indent="-165100">
              <a:spcAft>
                <a:spcPts val="200"/>
              </a:spcAft>
              <a:buClr>
                <a:srgbClr val="F7941E"/>
              </a:buClr>
              <a:buSzPct val="100000"/>
              <a:buChar char="●"/>
            </a:pPr>
            <a:r>
              <a:rPr lang="en-US" sz="1200" b="1" dirty="0">
                <a:solidFill>
                  <a:schemeClr val="tx1"/>
                </a:solidFill>
              </a:rPr>
              <a:t>Auto Insights</a:t>
            </a:r>
            <a:pPr indent="0" marL="0">
              <a:buNone/>
            </a:pPr>
            <a:r>
              <a:rPr lang="en-US" sz="1200" dirty="0">
                <a:solidFill>
                  <a:schemeClr val="accent5"/>
                </a:solidFill>
              </a:rPr>
              <a:t> – AI-powered insights engine</a:t>
            </a:r>
            <a:endParaRPr lang="en-US" sz="1200" dirty="0"/>
          </a:p>
          <a:p>
            <a:pPr marL="165100" indent="-165100">
              <a:spcAft>
                <a:spcPts val="200"/>
              </a:spcAft>
              <a:buClr>
                <a:srgbClr val="F7941E"/>
              </a:buClr>
              <a:buSzPct val="100000"/>
              <a:buChar char="●"/>
            </a:pPr>
            <a:r>
              <a:rPr lang="en-US" sz="1200" b="1" dirty="0">
                <a:solidFill>
                  <a:schemeClr val="tx1"/>
                </a:solidFill>
              </a:rPr>
              <a:t>AppsIQ</a:t>
            </a:r>
            <a:pPr indent="0" marL="0">
              <a:buNone/>
            </a:pPr>
            <a:r>
              <a:rPr lang="en-US" sz="1200" dirty="0">
                <a:solidFill>
                  <a:schemeClr val="accent5"/>
                </a:solidFill>
              </a:rPr>
              <a:t> – AI assistant for transactional systems</a:t>
            </a:r>
            <a:endParaRPr lang="en-US" sz="1200" dirty="0"/>
          </a:p>
        </p:txBody>
      </p:sp>
      <p:pic>
        <p:nvPicPr>
          <p:cNvPr id="15" name="Card" descr="preencoded.png">    </p:cNvPr>
          <p:cNvPicPr>
            <a:picLocks noChangeAspect="1"/>
          </p:cNvPicPr>
          <p:nvPr/>
        </p:nvPicPr>
        <p:blipFill>
          <a:blip r:embed="rId4"/>
          <a:stretch>
            <a:fillRect/>
          </a:stretch>
        </p:blipFill>
        <p:spPr>
          <a:xfrm>
            <a:off x="356616" y="1316736"/>
            <a:ext cx="3218688" cy="2670048"/>
          </a:xfrm>
          <a:prstGeom prst="rect">
            <a:avLst/>
          </a:prstGeom>
        </p:spPr>
      </p:pic>
      <p:pic>
        <p:nvPicPr>
          <p:cNvPr id="16" name="Badge" descr="preencoded.png">    </p:cNvPr>
          <p:cNvPicPr>
            <a:picLocks noChangeAspect="1"/>
          </p:cNvPicPr>
          <p:nvPr/>
        </p:nvPicPr>
        <p:blipFill>
          <a:blip r:embed="rId5"/>
          <a:stretch>
            <a:fillRect/>
          </a:stretch>
        </p:blipFill>
        <p:spPr>
          <a:xfrm>
            <a:off x="685800" y="1627632"/>
            <a:ext cx="457200" cy="457200"/>
          </a:xfrm>
          <a:prstGeom prst="rect">
            <a:avLst/>
          </a:prstGeom>
        </p:spPr>
      </p:pic>
      <p:sp>
        <p:nvSpPr>
          <p:cNvPr id="17" name="Text 10"/>
          <p:cNvSpPr txBox="1"/>
          <p:nvPr/>
        </p:nvSpPr>
        <p:spPr>
          <a:xfrm>
            <a:off x="1252728" y="1627632"/>
            <a:ext cx="2057400" cy="457200"/>
          </a:xfrm>
          <a:prstGeom prst="rect">
            <a:avLst/>
          </a:prstGeom>
          <a:noFill/>
          <a:ln/>
        </p:spPr>
        <p:txBody>
          <a:bodyPr wrap="square" lIns="0" tIns="0" rIns="0" bIns="0" rtlCol="0" anchor="ctr"/>
          <a:lstStyle/>
          <a:p>
            <a:pPr indent="0" marL="0">
              <a:buNone/>
            </a:pPr>
            <a:r>
              <a:rPr lang="en-US" sz="1400" b="1" dirty="0">
                <a:solidFill>
                  <a:schemeClr val="tx1"/>
                </a:solidFill>
              </a:rPr>
              <a:t>Data Visualization</a:t>
            </a:r>
            <a:endParaRPr lang="en-US" sz="1400" dirty="0"/>
          </a:p>
        </p:txBody>
      </p:sp>
      <p:sp>
        <p:nvSpPr>
          <p:cNvPr id="18" name="Text 11"/>
          <p:cNvSpPr txBox="1"/>
          <p:nvPr/>
        </p:nvSpPr>
        <p:spPr>
          <a:xfrm>
            <a:off x="704088" y="2194560"/>
            <a:ext cx="2560320" cy="1554480"/>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Data Modeling</a:t>
            </a:r>
            <a:endParaRPr lang="en-US" sz="1200" dirty="0"/>
          </a:p>
          <a:p>
            <a:pPr marL="165100" indent="-165100">
              <a:spcAft>
                <a:spcPts val="200"/>
              </a:spcAft>
              <a:buClr>
                <a:srgbClr val="F7941E"/>
              </a:buClr>
              <a:buSzPct val="100000"/>
              <a:buChar char="●"/>
            </a:pPr>
            <a:r>
              <a:rPr lang="en-US" sz="1200" dirty="0">
                <a:solidFill>
                  <a:schemeClr val="accent5"/>
                </a:solidFill>
              </a:rPr>
              <a:t>Dashboards &amp; Paginated Reports</a:t>
            </a:r>
            <a:endParaRPr lang="en-US" sz="1200" dirty="0"/>
          </a:p>
          <a:p>
            <a:pPr marL="165100" indent="-165100">
              <a:spcAft>
                <a:spcPts val="200"/>
              </a:spcAft>
              <a:buClr>
                <a:srgbClr val="F7941E"/>
              </a:buClr>
              <a:buSzPct val="100000"/>
              <a:buChar char="●"/>
            </a:pPr>
            <a:r>
              <a:rPr lang="en-US" sz="1200" dirty="0">
                <a:solidFill>
                  <a:schemeClr val="accent5"/>
                </a:solidFill>
              </a:rPr>
              <a:t>Insights</a:t>
            </a:r>
            <a:endParaRPr lang="en-US" sz="1200" dirty="0"/>
          </a:p>
          <a:p>
            <a:pPr marL="165100" indent="-165100">
              <a:spcAft>
                <a:spcPts val="200"/>
              </a:spcAft>
              <a:buClr>
                <a:srgbClr val="F7941E"/>
              </a:buClr>
              <a:buSzPct val="100000"/>
              <a:buChar char="●"/>
            </a:pPr>
            <a:r>
              <a:rPr lang="en-US" sz="1200" dirty="0">
                <a:solidFill>
                  <a:schemeClr val="accent5"/>
                </a:solidFill>
              </a:rPr>
              <a:t>Self-service BI</a:t>
            </a:r>
            <a:endParaRPr lang="en-US" sz="1200" dirty="0"/>
          </a:p>
          <a:p>
            <a:pPr marL="165100" indent="-165100">
              <a:spcAft>
                <a:spcPts val="200"/>
              </a:spcAft>
              <a:buClr>
                <a:srgbClr val="F7941E"/>
              </a:buClr>
              <a:buSzPct val="100000"/>
              <a:buChar char="●"/>
            </a:pPr>
            <a:r>
              <a:rPr lang="en-US" sz="1200" dirty="0">
                <a:solidFill>
                  <a:schemeClr val="accent5"/>
                </a:solidFill>
              </a:rPr>
              <a:t>Embedded Analytics</a:t>
            </a:r>
            <a:endParaRPr lang="en-US" sz="1200" dirty="0"/>
          </a:p>
          <a:p>
            <a:pPr marL="165100" indent="-165100">
              <a:spcAft>
                <a:spcPts val="200"/>
              </a:spcAft>
              <a:buClr>
                <a:srgbClr val="F7941E"/>
              </a:buClr>
              <a:buSzPct val="100000"/>
              <a:buChar char="●"/>
            </a:pPr>
            <a:r>
              <a:rPr lang="en-US" sz="1200" dirty="0">
                <a:solidFill>
                  <a:schemeClr val="accent5"/>
                </a:solidFill>
              </a:rPr>
              <a:t>Real-time Analytics</a:t>
            </a:r>
            <a:endParaRPr lang="en-US" sz="1200" dirty="0"/>
          </a:p>
        </p:txBody>
      </p:sp>
      <p:pic>
        <p:nvPicPr>
          <p:cNvPr id="19" name="Card" descr="preencoded.png">    </p:cNvPr>
          <p:cNvPicPr>
            <a:picLocks noChangeAspect="1"/>
          </p:cNvPicPr>
          <p:nvPr/>
        </p:nvPicPr>
        <p:blipFill>
          <a:blip r:embed="rId6"/>
          <a:stretch>
            <a:fillRect/>
          </a:stretch>
        </p:blipFill>
        <p:spPr>
          <a:xfrm>
            <a:off x="356616" y="3858768"/>
            <a:ext cx="3218688" cy="2505456"/>
          </a:xfrm>
          <a:prstGeom prst="rect">
            <a:avLst/>
          </a:prstGeom>
        </p:spPr>
      </p:pic>
      <p:pic>
        <p:nvPicPr>
          <p:cNvPr id="20" name="Badge" descr="preencoded.png">    </p:cNvPr>
          <p:cNvPicPr>
            <a:picLocks noChangeAspect="1"/>
          </p:cNvPicPr>
          <p:nvPr/>
        </p:nvPicPr>
        <p:blipFill>
          <a:blip r:embed="rId7"/>
          <a:stretch>
            <a:fillRect/>
          </a:stretch>
        </p:blipFill>
        <p:spPr>
          <a:xfrm>
            <a:off x="685800" y="4169664"/>
            <a:ext cx="457200" cy="457200"/>
          </a:xfrm>
          <a:prstGeom prst="rect">
            <a:avLst/>
          </a:prstGeom>
        </p:spPr>
      </p:pic>
      <p:sp>
        <p:nvSpPr>
          <p:cNvPr id="21" name="Text 12"/>
          <p:cNvSpPr txBox="1"/>
          <p:nvPr/>
        </p:nvSpPr>
        <p:spPr>
          <a:xfrm>
            <a:off x="1252728" y="4169664"/>
            <a:ext cx="2057400" cy="457200"/>
          </a:xfrm>
          <a:prstGeom prst="rect">
            <a:avLst/>
          </a:prstGeom>
          <a:noFill/>
          <a:ln/>
        </p:spPr>
        <p:txBody>
          <a:bodyPr wrap="square" lIns="0" tIns="0" rIns="0" bIns="0" rtlCol="0" anchor="ctr"/>
          <a:lstStyle/>
          <a:p>
            <a:pPr indent="0" marL="0">
              <a:buNone/>
            </a:pPr>
            <a:r>
              <a:rPr lang="en-US" sz="1400" b="1" dirty="0">
                <a:solidFill>
                  <a:schemeClr val="tx1"/>
                </a:solidFill>
              </a:rPr>
              <a:t>Data Engineering</a:t>
            </a:r>
            <a:endParaRPr lang="en-US" sz="1400" dirty="0"/>
          </a:p>
        </p:txBody>
      </p:sp>
      <p:sp>
        <p:nvSpPr>
          <p:cNvPr id="22" name="Text 13"/>
          <p:cNvSpPr txBox="1"/>
          <p:nvPr/>
        </p:nvSpPr>
        <p:spPr>
          <a:xfrm>
            <a:off x="704088" y="4736592"/>
            <a:ext cx="2560320" cy="138988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Data Modernization</a:t>
            </a:r>
            <a:endParaRPr lang="en-US" sz="1200" dirty="0"/>
          </a:p>
          <a:p>
            <a:pPr marL="165100" indent="-165100">
              <a:spcAft>
                <a:spcPts val="200"/>
              </a:spcAft>
              <a:buClr>
                <a:srgbClr val="F7941E"/>
              </a:buClr>
              <a:buSzPct val="100000"/>
              <a:buChar char="●"/>
            </a:pPr>
            <a:r>
              <a:rPr lang="en-US" sz="1200" dirty="0">
                <a:solidFill>
                  <a:schemeClr val="accent5"/>
                </a:solidFill>
              </a:rPr>
              <a:t>Data Strategy</a:t>
            </a:r>
            <a:endParaRPr lang="en-US" sz="1200" dirty="0"/>
          </a:p>
          <a:p>
            <a:pPr marL="165100" indent="-165100">
              <a:spcAft>
                <a:spcPts val="200"/>
              </a:spcAft>
              <a:buClr>
                <a:srgbClr val="F7941E"/>
              </a:buClr>
              <a:buSzPct val="100000"/>
              <a:buChar char="●"/>
            </a:pPr>
            <a:r>
              <a:rPr lang="en-US" sz="1200" dirty="0">
                <a:solidFill>
                  <a:schemeClr val="accent5"/>
                </a:solidFill>
              </a:rPr>
              <a:t>Data Pipeline</a:t>
            </a:r>
            <a:endParaRPr lang="en-US" sz="1200" dirty="0"/>
          </a:p>
          <a:p>
            <a:pPr marL="165100" indent="-165100">
              <a:spcAft>
                <a:spcPts val="200"/>
              </a:spcAft>
              <a:buClr>
                <a:srgbClr val="F7941E"/>
              </a:buClr>
              <a:buSzPct val="100000"/>
              <a:buChar char="●"/>
            </a:pPr>
            <a:r>
              <a:rPr lang="en-US" sz="1200" dirty="0">
                <a:solidFill>
                  <a:schemeClr val="accent5"/>
                </a:solidFill>
              </a:rPr>
              <a:t>Data Governance</a:t>
            </a:r>
            <a:endParaRPr lang="en-US" sz="1200" dirty="0"/>
          </a:p>
          <a:p>
            <a:pPr marL="165100" indent="-165100">
              <a:spcAft>
                <a:spcPts val="200"/>
              </a:spcAft>
              <a:buClr>
                <a:srgbClr val="F7941E"/>
              </a:buClr>
              <a:buSzPct val="100000"/>
              <a:buChar char="●"/>
            </a:pPr>
            <a:r>
              <a:rPr lang="en-US" sz="1200" dirty="0">
                <a:solidFill>
                  <a:schemeClr val="accent5"/>
                </a:solidFill>
              </a:rPr>
              <a:t>Data Enrichment / Market Data Capture</a:t>
            </a:r>
            <a:endParaRPr lang="en-US" sz="1200" dirty="0"/>
          </a:p>
        </p:txBody>
      </p:sp>
      <p:pic>
        <p:nvPicPr>
          <p:cNvPr id="23" name="Card" descr="preencoded.png">    </p:cNvPr>
          <p:cNvPicPr>
            <a:picLocks noChangeAspect="1"/>
          </p:cNvPicPr>
          <p:nvPr/>
        </p:nvPicPr>
        <p:blipFill>
          <a:blip r:embed="rId8"/>
          <a:stretch>
            <a:fillRect/>
          </a:stretch>
        </p:blipFill>
        <p:spPr>
          <a:xfrm>
            <a:off x="8616391" y="1316736"/>
            <a:ext cx="3218688" cy="2670048"/>
          </a:xfrm>
          <a:prstGeom prst="rect">
            <a:avLst/>
          </a:prstGeom>
        </p:spPr>
      </p:pic>
      <p:pic>
        <p:nvPicPr>
          <p:cNvPr id="24" name="Badge" descr="preencoded.png">    </p:cNvPr>
          <p:cNvPicPr>
            <a:picLocks noChangeAspect="1"/>
          </p:cNvPicPr>
          <p:nvPr/>
        </p:nvPicPr>
        <p:blipFill>
          <a:blip r:embed="rId9"/>
          <a:stretch>
            <a:fillRect/>
          </a:stretch>
        </p:blipFill>
        <p:spPr>
          <a:xfrm>
            <a:off x="8945575" y="1627632"/>
            <a:ext cx="457200" cy="457200"/>
          </a:xfrm>
          <a:prstGeom prst="rect">
            <a:avLst/>
          </a:prstGeom>
        </p:spPr>
      </p:pic>
      <p:sp>
        <p:nvSpPr>
          <p:cNvPr id="25" name="Text 14"/>
          <p:cNvSpPr txBox="1"/>
          <p:nvPr/>
        </p:nvSpPr>
        <p:spPr>
          <a:xfrm>
            <a:off x="9512503" y="1627632"/>
            <a:ext cx="2057400" cy="457200"/>
          </a:xfrm>
          <a:prstGeom prst="rect">
            <a:avLst/>
          </a:prstGeom>
          <a:noFill/>
          <a:ln/>
        </p:spPr>
        <p:txBody>
          <a:bodyPr wrap="square" lIns="0" tIns="0" rIns="0" bIns="0" rtlCol="0" anchor="ctr"/>
          <a:lstStyle/>
          <a:p>
            <a:pPr indent="0" marL="0">
              <a:buNone/>
            </a:pPr>
            <a:r>
              <a:rPr lang="en-US" sz="1400" b="1" dirty="0">
                <a:solidFill>
                  <a:schemeClr val="tx1"/>
                </a:solidFill>
              </a:rPr>
              <a:t>Digitization</a:t>
            </a:r>
            <a:endParaRPr lang="en-US" sz="1400" dirty="0"/>
          </a:p>
        </p:txBody>
      </p:sp>
      <p:sp>
        <p:nvSpPr>
          <p:cNvPr id="26" name="Text 15"/>
          <p:cNvSpPr txBox="1"/>
          <p:nvPr/>
        </p:nvSpPr>
        <p:spPr>
          <a:xfrm>
            <a:off x="8963863" y="2194560"/>
            <a:ext cx="2560320" cy="1554480"/>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Process Consultation</a:t>
            </a:r>
            <a:endParaRPr lang="en-US" sz="1200" dirty="0"/>
          </a:p>
          <a:p>
            <a:pPr marL="165100" indent="-165100">
              <a:spcAft>
                <a:spcPts val="200"/>
              </a:spcAft>
              <a:buClr>
                <a:srgbClr val="F7941E"/>
              </a:buClr>
              <a:buSzPct val="100000"/>
              <a:buChar char="●"/>
            </a:pPr>
            <a:r>
              <a:rPr lang="en-US" sz="1200" dirty="0">
                <a:solidFill>
                  <a:schemeClr val="accent5"/>
                </a:solidFill>
              </a:rPr>
              <a:t>Process Automation</a:t>
            </a:r>
            <a:endParaRPr lang="en-US" sz="1200" dirty="0"/>
          </a:p>
          <a:p>
            <a:pPr marL="165100" indent="-165100">
              <a:spcAft>
                <a:spcPts val="200"/>
              </a:spcAft>
              <a:buClr>
                <a:srgbClr val="F7941E"/>
              </a:buClr>
              <a:buSzPct val="100000"/>
              <a:buChar char="●"/>
            </a:pPr>
            <a:r>
              <a:rPr lang="en-US" sz="1200" dirty="0">
                <a:solidFill>
                  <a:schemeClr val="accent5"/>
                </a:solidFill>
              </a:rPr>
              <a:t>Process Optimization</a:t>
            </a:r>
            <a:endParaRPr lang="en-US" sz="1200" dirty="0"/>
          </a:p>
          <a:p>
            <a:pPr marL="165100" indent="-165100">
              <a:spcAft>
                <a:spcPts val="200"/>
              </a:spcAft>
              <a:buClr>
                <a:srgbClr val="F7941E"/>
              </a:buClr>
              <a:buSzPct val="100000"/>
              <a:buChar char="●"/>
            </a:pPr>
            <a:r>
              <a:rPr lang="en-US" sz="1200" dirty="0">
                <a:solidFill>
                  <a:schemeClr val="accent5"/>
                </a:solidFill>
              </a:rPr>
              <a:t>Digital Experience for External Stakeholders</a:t>
            </a:r>
            <a:endParaRPr lang="en-US" sz="1200" dirty="0"/>
          </a:p>
          <a:p>
            <a:pPr marL="165100" indent="-165100">
              <a:spcAft>
                <a:spcPts val="200"/>
              </a:spcAft>
              <a:buClr>
                <a:srgbClr val="F7941E"/>
              </a:buClr>
              <a:buSzPct val="100000"/>
              <a:buChar char="●"/>
            </a:pPr>
            <a:r>
              <a:rPr lang="en-US" sz="1200" dirty="0">
                <a:solidFill>
                  <a:schemeClr val="accent5"/>
                </a:solidFill>
              </a:rPr>
              <a:t>No Code / Low Code Development</a:t>
            </a:r>
            <a:endParaRPr lang="en-US" sz="1200" dirty="0"/>
          </a:p>
        </p:txBody>
      </p:sp>
      <p:pic>
        <p:nvPicPr>
          <p:cNvPr id="27" name="Card" descr="preencoded.png">    </p:cNvPr>
          <p:cNvPicPr>
            <a:picLocks noChangeAspect="1"/>
          </p:cNvPicPr>
          <p:nvPr/>
        </p:nvPicPr>
        <p:blipFill>
          <a:blip r:embed="rId10"/>
          <a:stretch>
            <a:fillRect/>
          </a:stretch>
        </p:blipFill>
        <p:spPr>
          <a:xfrm>
            <a:off x="8616391" y="3858768"/>
            <a:ext cx="3218688" cy="2505456"/>
          </a:xfrm>
          <a:prstGeom prst="rect">
            <a:avLst/>
          </a:prstGeom>
        </p:spPr>
      </p:pic>
      <p:pic>
        <p:nvPicPr>
          <p:cNvPr id="28" name="Badge" descr="preencoded.png">    </p:cNvPr>
          <p:cNvPicPr>
            <a:picLocks noChangeAspect="1"/>
          </p:cNvPicPr>
          <p:nvPr/>
        </p:nvPicPr>
        <p:blipFill>
          <a:blip r:embed="rId11"/>
          <a:stretch>
            <a:fillRect/>
          </a:stretch>
        </p:blipFill>
        <p:spPr>
          <a:xfrm>
            <a:off x="8945575" y="4169664"/>
            <a:ext cx="457200" cy="457200"/>
          </a:xfrm>
          <a:prstGeom prst="rect">
            <a:avLst/>
          </a:prstGeom>
        </p:spPr>
      </p:pic>
      <p:sp>
        <p:nvSpPr>
          <p:cNvPr id="29" name="Text 16"/>
          <p:cNvSpPr txBox="1"/>
          <p:nvPr/>
        </p:nvSpPr>
        <p:spPr>
          <a:xfrm>
            <a:off x="9512503" y="4169664"/>
            <a:ext cx="2057400" cy="457200"/>
          </a:xfrm>
          <a:prstGeom prst="rect">
            <a:avLst/>
          </a:prstGeom>
          <a:noFill/>
          <a:ln/>
        </p:spPr>
        <p:txBody>
          <a:bodyPr wrap="square" lIns="0" tIns="0" rIns="0" bIns="0" rtlCol="0" anchor="ctr"/>
          <a:lstStyle/>
          <a:p>
            <a:pPr indent="0" marL="0">
              <a:buNone/>
            </a:pPr>
            <a:r>
              <a:rPr lang="en-US" sz="1400" b="1" dirty="0">
                <a:solidFill>
                  <a:schemeClr val="tx1"/>
                </a:solidFill>
              </a:rPr>
              <a:t>Data Science</a:t>
            </a:r>
            <a:endParaRPr lang="en-US" sz="1400" dirty="0"/>
          </a:p>
        </p:txBody>
      </p:sp>
      <p:sp>
        <p:nvSpPr>
          <p:cNvPr id="30" name="Text 17"/>
          <p:cNvSpPr txBox="1"/>
          <p:nvPr/>
        </p:nvSpPr>
        <p:spPr>
          <a:xfrm>
            <a:off x="8963863" y="4736592"/>
            <a:ext cx="2560320" cy="138988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Predictive Analytics</a:t>
            </a:r>
            <a:endParaRPr lang="en-US" sz="1200" dirty="0"/>
          </a:p>
          <a:p>
            <a:pPr marL="165100" indent="-165100">
              <a:spcAft>
                <a:spcPts val="200"/>
              </a:spcAft>
              <a:buClr>
                <a:srgbClr val="F7941E"/>
              </a:buClr>
              <a:buSzPct val="100000"/>
              <a:buChar char="●"/>
            </a:pPr>
            <a:r>
              <a:rPr lang="en-US" sz="1200" dirty="0">
                <a:solidFill>
                  <a:schemeClr val="accent5"/>
                </a:solidFill>
              </a:rPr>
              <a:t>Prescriptive Analytics</a:t>
            </a:r>
            <a:endParaRPr lang="en-US" sz="1200" dirty="0"/>
          </a:p>
          <a:p>
            <a:pPr marL="165100" indent="-165100">
              <a:spcAft>
                <a:spcPts val="200"/>
              </a:spcAft>
              <a:buClr>
                <a:srgbClr val="F7941E"/>
              </a:buClr>
              <a:buSzPct val="100000"/>
              <a:buChar char="●"/>
            </a:pPr>
            <a:r>
              <a:rPr lang="en-US" sz="1200" dirty="0">
                <a:solidFill>
                  <a:schemeClr val="accent5"/>
                </a:solidFill>
              </a:rPr>
              <a:t>Gen-AI / LLM</a:t>
            </a:r>
            <a:endParaRPr lang="en-US" sz="1200" dirty="0"/>
          </a:p>
          <a:p>
            <a:pPr marL="165100" indent="-165100">
              <a:spcAft>
                <a:spcPts val="200"/>
              </a:spcAft>
              <a:buClr>
                <a:srgbClr val="F7941E"/>
              </a:buClr>
              <a:buSzPct val="100000"/>
              <a:buChar char="●"/>
            </a:pPr>
            <a:r>
              <a:rPr lang="en-US" sz="1200" dirty="0">
                <a:solidFill>
                  <a:schemeClr val="accent5"/>
                </a:solidFill>
              </a:rPr>
              <a:t>Agentic AI</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Enterprise AI: The Visible Intelligence Is Only the Tip</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LOGESYS VALUE CHAIN</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Logesys builds the data, context, intelligence and workflows that make enterprise AI work.</a:t>
            </a:r>
            <a:endParaRPr lang="en-US" sz="1500" dirty="0"/>
          </a:p>
        </p:txBody>
      </p:sp>
      <p:sp>
        <p:nvSpPr>
          <p:cNvPr id="5" name="Text 3"/>
          <p:cNvSpPr txBox="1"/>
          <p:nvPr/>
        </p:nvSpPr>
        <p:spPr>
          <a:xfrm>
            <a:off x="1280160" y="1691640"/>
            <a:ext cx="2651760" cy="182880"/>
          </a:xfrm>
          <a:prstGeom prst="rect">
            <a:avLst/>
          </a:prstGeom>
          <a:noFill/>
          <a:ln/>
        </p:spPr>
        <p:txBody>
          <a:bodyPr wrap="square" lIns="0" tIns="0" rIns="0" bIns="0" rtlCol="0" anchor="b"/>
          <a:lstStyle/>
          <a:p>
            <a:pPr indent="0" marL="0">
              <a:buNone/>
            </a:pPr>
            <a:r>
              <a:rPr lang="en-US" sz="900" b="1" spc="300" kern="0" dirty="0">
                <a:solidFill>
                  <a:schemeClr val="accent5"/>
                </a:solidFill>
              </a:rPr>
              <a:t>LAYER</a:t>
            </a:r>
            <a:endParaRPr lang="en-US" sz="900" dirty="0"/>
          </a:p>
        </p:txBody>
      </p:sp>
      <p:sp>
        <p:nvSpPr>
          <p:cNvPr id="6" name="Text 4"/>
          <p:cNvSpPr txBox="1"/>
          <p:nvPr/>
        </p:nvSpPr>
        <p:spPr>
          <a:xfrm>
            <a:off x="3291840" y="1691640"/>
            <a:ext cx="2377440" cy="182880"/>
          </a:xfrm>
          <a:prstGeom prst="rect">
            <a:avLst/>
          </a:prstGeom>
          <a:noFill/>
          <a:ln/>
        </p:spPr>
        <p:txBody>
          <a:bodyPr wrap="square" lIns="0" tIns="0" rIns="0" bIns="0" rtlCol="0" anchor="b"/>
          <a:lstStyle/>
          <a:p>
            <a:pPr indent="0" marL="0">
              <a:buNone/>
            </a:pPr>
            <a:r>
              <a:rPr lang="en-US" sz="900" b="1" spc="300" kern="0" dirty="0">
                <a:solidFill>
                  <a:schemeClr val="accent5"/>
                </a:solidFill>
              </a:rPr>
              <a:t>ROLE IN ENTERPRISE AI</a:t>
            </a:r>
            <a:endParaRPr lang="en-US" sz="900" dirty="0"/>
          </a:p>
        </p:txBody>
      </p:sp>
      <p:sp>
        <p:nvSpPr>
          <p:cNvPr id="7" name="Text 5"/>
          <p:cNvSpPr txBox="1"/>
          <p:nvPr/>
        </p:nvSpPr>
        <p:spPr>
          <a:xfrm>
            <a:off x="5852160" y="1691640"/>
            <a:ext cx="3566160" cy="182880"/>
          </a:xfrm>
          <a:prstGeom prst="rect">
            <a:avLst/>
          </a:prstGeom>
          <a:noFill/>
          <a:ln/>
        </p:spPr>
        <p:txBody>
          <a:bodyPr wrap="square" lIns="0" tIns="0" rIns="0" bIns="0" rtlCol="0" anchor="b"/>
          <a:lstStyle/>
          <a:p>
            <a:pPr indent="0" marL="0">
              <a:buNone/>
            </a:pPr>
            <a:r>
              <a:rPr lang="en-US" sz="900" b="1" spc="300" kern="0" dirty="0">
                <a:solidFill>
                  <a:schemeClr val="accent5"/>
                </a:solidFill>
              </a:rPr>
              <a:t>EXAMPLES</a:t>
            </a:r>
            <a:endParaRPr lang="en-US" sz="900" dirty="0"/>
          </a:p>
        </p:txBody>
      </p:sp>
      <p:sp>
        <p:nvSpPr>
          <p:cNvPr id="8" name="Text 6"/>
          <p:cNvSpPr txBox="1"/>
          <p:nvPr/>
        </p:nvSpPr>
        <p:spPr>
          <a:xfrm>
            <a:off x="9601200" y="1691640"/>
            <a:ext cx="2084832" cy="182880"/>
          </a:xfrm>
          <a:prstGeom prst="rect">
            <a:avLst/>
          </a:prstGeom>
          <a:noFill/>
          <a:ln/>
        </p:spPr>
        <p:txBody>
          <a:bodyPr wrap="square" lIns="0" tIns="0" rIns="0" bIns="0" rtlCol="0" anchor="b"/>
          <a:lstStyle/>
          <a:p>
            <a:pPr indent="0" marL="0">
              <a:buNone/>
            </a:pPr>
            <a:r>
              <a:rPr lang="en-US" sz="900" b="1" spc="300" kern="0" dirty="0">
                <a:solidFill>
                  <a:schemeClr val="accent5"/>
                </a:solidFill>
              </a:rPr>
              <a:t>LOGESYS OFFERINGS</a:t>
            </a:r>
            <a:endParaRPr lang="en-US" sz="900" dirty="0"/>
          </a:p>
        </p:txBody>
      </p:sp>
      <p:pic>
        <p:nvPicPr>
          <p:cNvPr id="9" name="Card" descr="preencoded.png">    </p:cNvPr>
          <p:cNvPicPr>
            <a:picLocks noChangeAspect="1"/>
          </p:cNvPicPr>
          <p:nvPr/>
        </p:nvPicPr>
        <p:blipFill>
          <a:blip r:embed="rId1"/>
          <a:stretch>
            <a:fillRect/>
          </a:stretch>
        </p:blipFill>
        <p:spPr>
          <a:xfrm>
            <a:off x="356616" y="1801368"/>
            <a:ext cx="11478463" cy="1316736"/>
          </a:xfrm>
          <a:prstGeom prst="rect">
            <a:avLst/>
          </a:prstGeom>
        </p:spPr>
      </p:pic>
      <p:pic>
        <p:nvPicPr>
          <p:cNvPr id="10" name="NumBadge" descr="preencoded.png">    </p:cNvPr>
          <p:cNvPicPr>
            <a:picLocks noChangeAspect="1"/>
          </p:cNvPicPr>
          <p:nvPr/>
        </p:nvPicPr>
        <p:blipFill>
          <a:blip r:embed="rId2"/>
          <a:stretch>
            <a:fillRect/>
          </a:stretch>
        </p:blipFill>
        <p:spPr>
          <a:xfrm>
            <a:off x="685800" y="2240280"/>
            <a:ext cx="457200" cy="457200"/>
          </a:xfrm>
          <a:prstGeom prst="rect">
            <a:avLst/>
          </a:prstGeom>
        </p:spPr>
      </p:pic>
      <p:sp>
        <p:nvSpPr>
          <p:cNvPr id="11" name="Text 7"/>
          <p:cNvSpPr txBox="1"/>
          <p:nvPr/>
        </p:nvSpPr>
        <p:spPr>
          <a:xfrm>
            <a:off x="685800" y="22402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4</a:t>
            </a:r>
            <a:endParaRPr lang="en-US" sz="1500" dirty="0"/>
          </a:p>
        </p:txBody>
      </p:sp>
      <p:sp>
        <p:nvSpPr>
          <p:cNvPr id="12" name="Text 8"/>
          <p:cNvSpPr txBox="1"/>
          <p:nvPr/>
        </p:nvSpPr>
        <p:spPr>
          <a:xfrm>
            <a:off x="1280160" y="2057400"/>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ACTION</a:t>
            </a:r>
            <a:endParaRPr lang="en-US" sz="950" dirty="0"/>
          </a:p>
        </p:txBody>
      </p:sp>
      <p:sp>
        <p:nvSpPr>
          <p:cNvPr id="13" name="Text 9"/>
          <p:cNvSpPr txBox="1"/>
          <p:nvPr/>
        </p:nvSpPr>
        <p:spPr>
          <a:xfrm>
            <a:off x="1280160" y="2276856"/>
            <a:ext cx="1920240" cy="411480"/>
          </a:xfrm>
          <a:prstGeom prst="rect">
            <a:avLst/>
          </a:prstGeom>
          <a:noFill/>
          <a:ln/>
        </p:spPr>
        <p:txBody>
          <a:bodyPr wrap="square" lIns="0" tIns="0" rIns="0" bIns="0" rtlCol="0" anchor="ctr"/>
          <a:lstStyle/>
          <a:p>
            <a:pPr indent="0" marL="0">
              <a:buNone/>
            </a:pPr>
            <a:r>
              <a:rPr lang="en-US" sz="1300" b="1" dirty="0">
                <a:solidFill>
                  <a:schemeClr val="tx1"/>
                </a:solidFill>
              </a:rPr>
              <a:t>AI &amp; Agent Experiences</a:t>
            </a:r>
            <a:endParaRPr lang="en-US" sz="1300" dirty="0"/>
          </a:p>
        </p:txBody>
      </p:sp>
      <p:sp>
        <p:nvSpPr>
          <p:cNvPr id="14" name="Text 10"/>
          <p:cNvSpPr txBox="1"/>
          <p:nvPr/>
        </p:nvSpPr>
        <p:spPr>
          <a:xfrm>
            <a:off x="1280160" y="2679192"/>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users see</a:t>
            </a:r>
            <a:endParaRPr lang="en-US" sz="1000" dirty="0"/>
          </a:p>
        </p:txBody>
      </p:sp>
      <p:sp>
        <p:nvSpPr>
          <p:cNvPr id="15" name="Text 11"/>
          <p:cNvSpPr txBox="1"/>
          <p:nvPr/>
        </p:nvSpPr>
        <p:spPr>
          <a:xfrm>
            <a:off x="3291840" y="2039112"/>
            <a:ext cx="2377440" cy="841248"/>
          </a:xfrm>
          <a:prstGeom prst="rect">
            <a:avLst/>
          </a:prstGeom>
          <a:noFill/>
          <a:ln/>
        </p:spPr>
        <p:txBody>
          <a:bodyPr wrap="square" lIns="0" tIns="0" rIns="0" bIns="0" rtlCol="0" anchor="ctr"/>
          <a:lstStyle/>
          <a:p>
            <a:pPr indent="0" marL="0">
              <a:buNone/>
            </a:pPr>
            <a:r>
              <a:rPr lang="en-US" sz="1100" dirty="0">
                <a:solidFill>
                  <a:schemeClr val="accent5"/>
                </a:solidFill>
              </a:rPr>
              <a:t>AI experiences that augment how people work</a:t>
            </a:r>
            <a:endParaRPr lang="en-US" sz="1100" dirty="0"/>
          </a:p>
          <a:p>
            <a:pPr indent="0" marL="0">
              <a:buNone/>
            </a:pPr>
            <a:r>
              <a:rPr lang="en-US" sz="1000" b="1" dirty="0">
                <a:solidFill>
                  <a:schemeClr val="accent1"/>
                </a:solidFill>
              </a:rPr>
              <a:t>Agents execute and drive outcomes</a:t>
            </a:r>
            <a:endParaRPr lang="en-US" sz="1100" dirty="0"/>
          </a:p>
        </p:txBody>
      </p:sp>
      <p:sp>
        <p:nvSpPr>
          <p:cNvPr id="16" name="Chip"/>
          <p:cNvSpPr/>
          <p:nvPr/>
        </p:nvSpPr>
        <p:spPr>
          <a:xfrm>
            <a:off x="5852160" y="2039112"/>
            <a:ext cx="1139952" cy="402336"/>
          </a:xfrm>
          <a:prstGeom prst="roundRect">
            <a:avLst>
              <a:gd name="adj" fmla="val 13636"/>
            </a:avLst>
          </a:prstGeom>
          <a:solidFill>
            <a:schemeClr val="bg1"/>
          </a:solidFill>
          <a:ln w="9525">
            <a:solidFill>
              <a:schemeClr val="accent6"/>
            </a:solidFill>
            <a:prstDash val="solid"/>
          </a:ln>
        </p:spPr>
      </p:sp>
      <p:sp>
        <p:nvSpPr>
          <p:cNvPr id="17" name="Text 13"/>
          <p:cNvSpPr txBox="1"/>
          <p:nvPr/>
        </p:nvSpPr>
        <p:spPr>
          <a:xfrm>
            <a:off x="5897880" y="203911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AI Assistants (Copilots)</a:t>
            </a:r>
            <a:endParaRPr lang="en-US" sz="950" dirty="0"/>
          </a:p>
        </p:txBody>
      </p:sp>
      <p:sp>
        <p:nvSpPr>
          <p:cNvPr id="18" name="Chip"/>
          <p:cNvSpPr/>
          <p:nvPr/>
        </p:nvSpPr>
        <p:spPr>
          <a:xfrm>
            <a:off x="7065264" y="2039112"/>
            <a:ext cx="1139952" cy="402336"/>
          </a:xfrm>
          <a:prstGeom prst="roundRect">
            <a:avLst>
              <a:gd name="adj" fmla="val 13636"/>
            </a:avLst>
          </a:prstGeom>
          <a:solidFill>
            <a:schemeClr val="bg1"/>
          </a:solidFill>
          <a:ln w="9525">
            <a:solidFill>
              <a:schemeClr val="accent6"/>
            </a:solidFill>
            <a:prstDash val="solid"/>
          </a:ln>
        </p:spPr>
      </p:sp>
      <p:sp>
        <p:nvSpPr>
          <p:cNvPr id="19" name="Text 15"/>
          <p:cNvSpPr txBox="1"/>
          <p:nvPr/>
        </p:nvSpPr>
        <p:spPr>
          <a:xfrm>
            <a:off x="7110984" y="203911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Enterprise Search &amp; Q&amp;A</a:t>
            </a:r>
            <a:endParaRPr lang="en-US" sz="950" dirty="0"/>
          </a:p>
        </p:txBody>
      </p:sp>
      <p:sp>
        <p:nvSpPr>
          <p:cNvPr id="20" name="Chip"/>
          <p:cNvSpPr/>
          <p:nvPr/>
        </p:nvSpPr>
        <p:spPr>
          <a:xfrm>
            <a:off x="8278368" y="2039112"/>
            <a:ext cx="1139952" cy="402336"/>
          </a:xfrm>
          <a:prstGeom prst="roundRect">
            <a:avLst>
              <a:gd name="adj" fmla="val 13636"/>
            </a:avLst>
          </a:prstGeom>
          <a:solidFill>
            <a:schemeClr val="bg1"/>
          </a:solidFill>
          <a:ln w="9525">
            <a:solidFill>
              <a:schemeClr val="accent6"/>
            </a:solidFill>
            <a:prstDash val="solid"/>
          </a:ln>
        </p:spPr>
      </p:sp>
      <p:sp>
        <p:nvSpPr>
          <p:cNvPr id="21" name="Text 17"/>
          <p:cNvSpPr txBox="1"/>
          <p:nvPr/>
        </p:nvSpPr>
        <p:spPr>
          <a:xfrm>
            <a:off x="8324088" y="203911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Conversational Analytics</a:t>
            </a:r>
            <a:endParaRPr lang="en-US" sz="950" dirty="0"/>
          </a:p>
        </p:txBody>
      </p:sp>
      <p:sp>
        <p:nvSpPr>
          <p:cNvPr id="22" name="Chip"/>
          <p:cNvSpPr/>
          <p:nvPr/>
        </p:nvSpPr>
        <p:spPr>
          <a:xfrm>
            <a:off x="5852160" y="2496312"/>
            <a:ext cx="1746504" cy="402336"/>
          </a:xfrm>
          <a:prstGeom prst="roundRect">
            <a:avLst>
              <a:gd name="adj" fmla="val 13636"/>
            </a:avLst>
          </a:prstGeom>
          <a:solidFill>
            <a:schemeClr val="bg1"/>
          </a:solidFill>
          <a:ln w="9525">
            <a:solidFill>
              <a:schemeClr val="accent6"/>
            </a:solidFill>
            <a:prstDash val="solid"/>
          </a:ln>
        </p:spPr>
      </p:sp>
      <p:sp>
        <p:nvSpPr>
          <p:cNvPr id="23" name="Text 19"/>
          <p:cNvSpPr txBox="1"/>
          <p:nvPr/>
        </p:nvSpPr>
        <p:spPr>
          <a:xfrm>
            <a:off x="5897880" y="249631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Task-specific Agents</a:t>
            </a:r>
            <a:endParaRPr lang="en-US" sz="950" dirty="0"/>
          </a:p>
        </p:txBody>
      </p:sp>
      <p:sp>
        <p:nvSpPr>
          <p:cNvPr id="24" name="Chip"/>
          <p:cNvSpPr/>
          <p:nvPr/>
        </p:nvSpPr>
        <p:spPr>
          <a:xfrm>
            <a:off x="7671816" y="2496312"/>
            <a:ext cx="1746504" cy="402336"/>
          </a:xfrm>
          <a:prstGeom prst="roundRect">
            <a:avLst>
              <a:gd name="adj" fmla="val 13636"/>
            </a:avLst>
          </a:prstGeom>
          <a:solidFill>
            <a:schemeClr val="bg1"/>
          </a:solidFill>
          <a:ln w="9525">
            <a:solidFill>
              <a:schemeClr val="accent6"/>
            </a:solidFill>
            <a:prstDash val="solid"/>
          </a:ln>
        </p:spPr>
      </p:sp>
      <p:sp>
        <p:nvSpPr>
          <p:cNvPr id="25" name="Text 21"/>
          <p:cNvSpPr txBox="1"/>
          <p:nvPr/>
        </p:nvSpPr>
        <p:spPr>
          <a:xfrm>
            <a:off x="7717536" y="249631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Content Generation</a:t>
            </a:r>
            <a:endParaRPr lang="en-US" sz="950" dirty="0"/>
          </a:p>
        </p:txBody>
      </p:sp>
      <p:sp>
        <p:nvSpPr>
          <p:cNvPr id="26" name="Text 22"/>
          <p:cNvSpPr txBox="1"/>
          <p:nvPr/>
        </p:nvSpPr>
        <p:spPr>
          <a:xfrm>
            <a:off x="9601200" y="2039112"/>
            <a:ext cx="2084832" cy="841248"/>
          </a:xfrm>
          <a:prstGeom prst="rect">
            <a:avLst/>
          </a:prstGeom>
          <a:noFill/>
          <a:ln/>
        </p:spPr>
        <p:txBody>
          <a:bodyPr wrap="square" lIns="0" tIns="0" rIns="0" bIns="0" rtlCol="0" anchor="ctr"/>
          <a:lstStyle/>
          <a:p>
            <a:pPr indent="0" marL="0">
              <a:buNone/>
            </a:pPr>
            <a:r>
              <a:rPr lang="en-US" sz="1100" b="1" dirty="0">
                <a:solidFill>
                  <a:schemeClr val="tx2"/>
                </a:solidFill>
              </a:rPr>
              <a:t>Auto Insights  |  Apps IQ  |  Enterprise AI Agents</a:t>
            </a:r>
            <a:endParaRPr lang="en-US" sz="1100" dirty="0"/>
          </a:p>
        </p:txBody>
      </p:sp>
      <p:pic>
        <p:nvPicPr>
          <p:cNvPr id="27" name="Card" descr="preencoded.png">    </p:cNvPr>
          <p:cNvPicPr>
            <a:picLocks noChangeAspect="1"/>
          </p:cNvPicPr>
          <p:nvPr/>
        </p:nvPicPr>
        <p:blipFill>
          <a:blip r:embed="rId3"/>
          <a:stretch>
            <a:fillRect/>
          </a:stretch>
        </p:blipFill>
        <p:spPr>
          <a:xfrm>
            <a:off x="502920" y="3044952"/>
            <a:ext cx="11185855" cy="1024128"/>
          </a:xfrm>
          <a:prstGeom prst="rect">
            <a:avLst/>
          </a:prstGeom>
        </p:spPr>
      </p:pic>
      <p:pic>
        <p:nvPicPr>
          <p:cNvPr id="28" name="NumBadge" descr="preencoded.png">    </p:cNvPr>
          <p:cNvPicPr>
            <a:picLocks noChangeAspect="1"/>
          </p:cNvPicPr>
          <p:nvPr/>
        </p:nvPicPr>
        <p:blipFill>
          <a:blip r:embed="rId4"/>
          <a:stretch>
            <a:fillRect/>
          </a:stretch>
        </p:blipFill>
        <p:spPr>
          <a:xfrm>
            <a:off x="685800" y="3337560"/>
            <a:ext cx="457200" cy="457200"/>
          </a:xfrm>
          <a:prstGeom prst="rect">
            <a:avLst/>
          </a:prstGeom>
        </p:spPr>
      </p:pic>
      <p:sp>
        <p:nvSpPr>
          <p:cNvPr id="29" name="Text 23"/>
          <p:cNvSpPr txBox="1"/>
          <p:nvPr/>
        </p:nvSpPr>
        <p:spPr>
          <a:xfrm>
            <a:off x="685800" y="33375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3</a:t>
            </a:r>
            <a:endParaRPr lang="en-US" sz="1500" dirty="0"/>
          </a:p>
        </p:txBody>
      </p:sp>
      <p:sp>
        <p:nvSpPr>
          <p:cNvPr id="30" name="Text 24"/>
          <p:cNvSpPr txBox="1"/>
          <p:nvPr/>
        </p:nvSpPr>
        <p:spPr>
          <a:xfrm>
            <a:off x="1280160" y="3154680"/>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INTELLIGENCE</a:t>
            </a:r>
            <a:endParaRPr lang="en-US" sz="950" dirty="0"/>
          </a:p>
        </p:txBody>
      </p:sp>
      <p:sp>
        <p:nvSpPr>
          <p:cNvPr id="31" name="Text 25"/>
          <p:cNvSpPr txBox="1"/>
          <p:nvPr/>
        </p:nvSpPr>
        <p:spPr>
          <a:xfrm>
            <a:off x="1280160" y="3374136"/>
            <a:ext cx="1920240" cy="411480"/>
          </a:xfrm>
          <a:prstGeom prst="rect">
            <a:avLst/>
          </a:prstGeom>
          <a:noFill/>
          <a:ln/>
        </p:spPr>
        <p:txBody>
          <a:bodyPr wrap="square" lIns="0" tIns="0" rIns="0" bIns="0" rtlCol="0" anchor="ctr"/>
          <a:lstStyle/>
          <a:p>
            <a:pPr indent="0" marL="0">
              <a:buNone/>
            </a:pPr>
            <a:r>
              <a:rPr lang="en-US" sz="1300" b="1" dirty="0">
                <a:solidFill>
                  <a:schemeClr val="tx1"/>
                </a:solidFill>
              </a:rPr>
              <a:t>Intelligence &amp; Action</a:t>
            </a:r>
            <a:endParaRPr lang="en-US" sz="1300" dirty="0"/>
          </a:p>
        </p:txBody>
      </p:sp>
      <p:sp>
        <p:nvSpPr>
          <p:cNvPr id="32" name="Text 26"/>
          <p:cNvSpPr txBox="1"/>
          <p:nvPr/>
        </p:nvSpPr>
        <p:spPr>
          <a:xfrm>
            <a:off x="1280160" y="3776472"/>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makes AI useful</a:t>
            </a:r>
            <a:endParaRPr lang="en-US" sz="1000" dirty="0"/>
          </a:p>
        </p:txBody>
      </p:sp>
      <p:sp>
        <p:nvSpPr>
          <p:cNvPr id="33" name="Text 27"/>
          <p:cNvSpPr txBox="1"/>
          <p:nvPr/>
        </p:nvSpPr>
        <p:spPr>
          <a:xfrm>
            <a:off x="3291840" y="3136392"/>
            <a:ext cx="2377440" cy="841248"/>
          </a:xfrm>
          <a:prstGeom prst="rect">
            <a:avLst/>
          </a:prstGeom>
          <a:noFill/>
          <a:ln/>
        </p:spPr>
        <p:txBody>
          <a:bodyPr wrap="square" lIns="0" tIns="0" rIns="0" bIns="0" rtlCol="0" anchor="ctr"/>
          <a:lstStyle/>
          <a:p>
            <a:pPr indent="0" marL="0">
              <a:buNone/>
            </a:pPr>
            <a:r>
              <a:rPr lang="en-US" sz="1100" dirty="0">
                <a:solidFill>
                  <a:schemeClr val="accent5"/>
                </a:solidFill>
              </a:rPr>
              <a:t>Enterprise context and orchestration to turn data into intelligence and action</a:t>
            </a:r>
            <a:endParaRPr lang="en-US" sz="1100" dirty="0"/>
          </a:p>
          <a:p>
            <a:pPr indent="0" marL="0">
              <a:buNone/>
            </a:pPr>
            <a:r>
              <a:rPr lang="en-US" sz="1000" b="1" dirty="0">
                <a:solidFill>
                  <a:schemeClr val="accent1"/>
                </a:solidFill>
              </a:rPr>
              <a:t>AI turns data and context into insights and actions</a:t>
            </a:r>
            <a:endParaRPr lang="en-US" sz="1100" dirty="0"/>
          </a:p>
        </p:txBody>
      </p:sp>
      <p:sp>
        <p:nvSpPr>
          <p:cNvPr id="34" name="Chip"/>
          <p:cNvSpPr/>
          <p:nvPr/>
        </p:nvSpPr>
        <p:spPr>
          <a:xfrm>
            <a:off x="5852160" y="3136392"/>
            <a:ext cx="1139952" cy="402336"/>
          </a:xfrm>
          <a:prstGeom prst="roundRect">
            <a:avLst>
              <a:gd name="adj" fmla="val 13636"/>
            </a:avLst>
          </a:prstGeom>
          <a:solidFill>
            <a:schemeClr val="bg1"/>
          </a:solidFill>
          <a:ln w="9525">
            <a:solidFill>
              <a:schemeClr val="accent6"/>
            </a:solidFill>
            <a:prstDash val="solid"/>
          </a:ln>
        </p:spPr>
      </p:sp>
      <p:sp>
        <p:nvSpPr>
          <p:cNvPr id="35" name="Text 29"/>
          <p:cNvSpPr txBox="1"/>
          <p:nvPr/>
        </p:nvSpPr>
        <p:spPr>
          <a:xfrm>
            <a:off x="5897880" y="313639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Advanced Analytics</a:t>
            </a:r>
            <a:endParaRPr lang="en-US" sz="950" dirty="0"/>
          </a:p>
        </p:txBody>
      </p:sp>
      <p:sp>
        <p:nvSpPr>
          <p:cNvPr id="36" name="Chip"/>
          <p:cNvSpPr/>
          <p:nvPr/>
        </p:nvSpPr>
        <p:spPr>
          <a:xfrm>
            <a:off x="7065264" y="3136392"/>
            <a:ext cx="1139952" cy="402336"/>
          </a:xfrm>
          <a:prstGeom prst="roundRect">
            <a:avLst>
              <a:gd name="adj" fmla="val 13636"/>
            </a:avLst>
          </a:prstGeom>
          <a:solidFill>
            <a:schemeClr val="bg1"/>
          </a:solidFill>
          <a:ln w="9525">
            <a:solidFill>
              <a:schemeClr val="accent6"/>
            </a:solidFill>
            <a:prstDash val="solid"/>
          </a:ln>
        </p:spPr>
      </p:sp>
      <p:sp>
        <p:nvSpPr>
          <p:cNvPr id="37" name="Text 31"/>
          <p:cNvSpPr txBox="1"/>
          <p:nvPr/>
        </p:nvSpPr>
        <p:spPr>
          <a:xfrm>
            <a:off x="7110984" y="313639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Generative AI / LLM Integration</a:t>
            </a:r>
            <a:endParaRPr lang="en-US" sz="950" dirty="0"/>
          </a:p>
        </p:txBody>
      </p:sp>
      <p:sp>
        <p:nvSpPr>
          <p:cNvPr id="38" name="Chip"/>
          <p:cNvSpPr/>
          <p:nvPr/>
        </p:nvSpPr>
        <p:spPr>
          <a:xfrm>
            <a:off x="8278368" y="3136392"/>
            <a:ext cx="1139952" cy="402336"/>
          </a:xfrm>
          <a:prstGeom prst="roundRect">
            <a:avLst>
              <a:gd name="adj" fmla="val 13636"/>
            </a:avLst>
          </a:prstGeom>
          <a:solidFill>
            <a:schemeClr val="bg1"/>
          </a:solidFill>
          <a:ln w="9525">
            <a:solidFill>
              <a:schemeClr val="accent6"/>
            </a:solidFill>
            <a:prstDash val="solid"/>
          </a:ln>
        </p:spPr>
      </p:sp>
      <p:sp>
        <p:nvSpPr>
          <p:cNvPr id="39" name="Text 33"/>
          <p:cNvSpPr txBox="1"/>
          <p:nvPr/>
        </p:nvSpPr>
        <p:spPr>
          <a:xfrm>
            <a:off x="8324088" y="313639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RAG &amp; Knowledge Solutions</a:t>
            </a:r>
            <a:endParaRPr lang="en-US" sz="950" dirty="0"/>
          </a:p>
        </p:txBody>
      </p:sp>
      <p:sp>
        <p:nvSpPr>
          <p:cNvPr id="40" name="Chip"/>
          <p:cNvSpPr/>
          <p:nvPr/>
        </p:nvSpPr>
        <p:spPr>
          <a:xfrm>
            <a:off x="5852160" y="3593592"/>
            <a:ext cx="1746504" cy="402336"/>
          </a:xfrm>
          <a:prstGeom prst="roundRect">
            <a:avLst>
              <a:gd name="adj" fmla="val 13636"/>
            </a:avLst>
          </a:prstGeom>
          <a:solidFill>
            <a:schemeClr val="bg1"/>
          </a:solidFill>
          <a:ln w="9525">
            <a:solidFill>
              <a:schemeClr val="accent6"/>
            </a:solidFill>
            <a:prstDash val="solid"/>
          </a:ln>
        </p:spPr>
      </p:sp>
      <p:sp>
        <p:nvSpPr>
          <p:cNvPr id="41" name="Text 35"/>
          <p:cNvSpPr txBox="1"/>
          <p:nvPr/>
        </p:nvSpPr>
        <p:spPr>
          <a:xfrm>
            <a:off x="5897880" y="359359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Agent Development</a:t>
            </a:r>
            <a:endParaRPr lang="en-US" sz="950" dirty="0"/>
          </a:p>
        </p:txBody>
      </p:sp>
      <p:sp>
        <p:nvSpPr>
          <p:cNvPr id="42" name="Chip"/>
          <p:cNvSpPr/>
          <p:nvPr/>
        </p:nvSpPr>
        <p:spPr>
          <a:xfrm>
            <a:off x="7671816" y="3593592"/>
            <a:ext cx="1746504" cy="402336"/>
          </a:xfrm>
          <a:prstGeom prst="roundRect">
            <a:avLst>
              <a:gd name="adj" fmla="val 13636"/>
            </a:avLst>
          </a:prstGeom>
          <a:solidFill>
            <a:schemeClr val="bg1"/>
          </a:solidFill>
          <a:ln w="9525">
            <a:solidFill>
              <a:schemeClr val="accent6"/>
            </a:solidFill>
            <a:prstDash val="solid"/>
          </a:ln>
        </p:spPr>
      </p:sp>
      <p:sp>
        <p:nvSpPr>
          <p:cNvPr id="43" name="Text 37"/>
          <p:cNvSpPr txBox="1"/>
          <p:nvPr/>
        </p:nvSpPr>
        <p:spPr>
          <a:xfrm>
            <a:off x="7717536" y="359359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Decision Augmentation</a:t>
            </a:r>
            <a:endParaRPr lang="en-US" sz="950" dirty="0"/>
          </a:p>
        </p:txBody>
      </p:sp>
      <p:sp>
        <p:nvSpPr>
          <p:cNvPr id="44" name="Text 38"/>
          <p:cNvSpPr txBox="1"/>
          <p:nvPr/>
        </p:nvSpPr>
        <p:spPr>
          <a:xfrm>
            <a:off x="9601200" y="3136392"/>
            <a:ext cx="2084832" cy="841248"/>
          </a:xfrm>
          <a:prstGeom prst="rect">
            <a:avLst/>
          </a:prstGeom>
          <a:noFill/>
          <a:ln/>
        </p:spPr>
        <p:txBody>
          <a:bodyPr wrap="square" lIns="0" tIns="0" rIns="0" bIns="0" rtlCol="0" anchor="ctr"/>
          <a:lstStyle/>
          <a:p>
            <a:pPr indent="0" marL="0">
              <a:buNone/>
            </a:pPr>
            <a:r>
              <a:rPr lang="en-US" sz="1100" b="1" dirty="0">
                <a:solidFill>
                  <a:schemeClr val="tx2"/>
                </a:solidFill>
              </a:rPr>
              <a:t>Data Science  |  GenAI &amp; Agentic AI  |  Auto Insights  |  Apps IQ</a:t>
            </a:r>
            <a:endParaRPr lang="en-US" sz="1100" dirty="0"/>
          </a:p>
        </p:txBody>
      </p:sp>
      <p:pic>
        <p:nvPicPr>
          <p:cNvPr id="45" name="Card" descr="preencoded.png">    </p:cNvPr>
          <p:cNvPicPr>
            <a:picLocks noChangeAspect="1"/>
          </p:cNvPicPr>
          <p:nvPr/>
        </p:nvPicPr>
        <p:blipFill>
          <a:blip r:embed="rId5"/>
          <a:stretch>
            <a:fillRect/>
          </a:stretch>
        </p:blipFill>
        <p:spPr>
          <a:xfrm>
            <a:off x="502920" y="4142232"/>
            <a:ext cx="11185855" cy="1024128"/>
          </a:xfrm>
          <a:prstGeom prst="rect">
            <a:avLst/>
          </a:prstGeom>
        </p:spPr>
      </p:pic>
      <p:pic>
        <p:nvPicPr>
          <p:cNvPr id="46" name="NumBadge" descr="preencoded.png">    </p:cNvPr>
          <p:cNvPicPr>
            <a:picLocks noChangeAspect="1"/>
          </p:cNvPicPr>
          <p:nvPr/>
        </p:nvPicPr>
        <p:blipFill>
          <a:blip r:embed="rId6"/>
          <a:stretch>
            <a:fillRect/>
          </a:stretch>
        </p:blipFill>
        <p:spPr>
          <a:xfrm>
            <a:off x="685800" y="4434840"/>
            <a:ext cx="457200" cy="457200"/>
          </a:xfrm>
          <a:prstGeom prst="rect">
            <a:avLst/>
          </a:prstGeom>
        </p:spPr>
      </p:pic>
      <p:sp>
        <p:nvSpPr>
          <p:cNvPr id="47" name="Text 39"/>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2</a:t>
            </a:r>
            <a:endParaRPr lang="en-US" sz="1500" dirty="0"/>
          </a:p>
        </p:txBody>
      </p:sp>
      <p:sp>
        <p:nvSpPr>
          <p:cNvPr id="48" name="Text 40"/>
          <p:cNvSpPr txBox="1"/>
          <p:nvPr/>
        </p:nvSpPr>
        <p:spPr>
          <a:xfrm>
            <a:off x="1280160" y="4251960"/>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CONTEXT</a:t>
            </a:r>
            <a:endParaRPr lang="en-US" sz="950" dirty="0"/>
          </a:p>
        </p:txBody>
      </p:sp>
      <p:sp>
        <p:nvSpPr>
          <p:cNvPr id="49" name="Text 41"/>
          <p:cNvSpPr txBox="1"/>
          <p:nvPr/>
        </p:nvSpPr>
        <p:spPr>
          <a:xfrm>
            <a:off x="1280160" y="4471416"/>
            <a:ext cx="1920240" cy="411480"/>
          </a:xfrm>
          <a:prstGeom prst="rect">
            <a:avLst/>
          </a:prstGeom>
          <a:noFill/>
          <a:ln/>
        </p:spPr>
        <p:txBody>
          <a:bodyPr wrap="square" lIns="0" tIns="0" rIns="0" bIns="0" rtlCol="0" anchor="ctr"/>
          <a:lstStyle/>
          <a:p>
            <a:pPr indent="0" marL="0">
              <a:buNone/>
            </a:pPr>
            <a:r>
              <a:rPr lang="en-US" sz="1300" b="1" dirty="0">
                <a:solidFill>
                  <a:schemeClr val="tx1"/>
                </a:solidFill>
              </a:rPr>
              <a:t>Process &amp; Enterprise Context</a:t>
            </a:r>
            <a:endParaRPr lang="en-US" sz="1300" dirty="0"/>
          </a:p>
        </p:txBody>
      </p:sp>
      <p:sp>
        <p:nvSpPr>
          <p:cNvPr id="50" name="Text 42"/>
          <p:cNvSpPr txBox="1"/>
          <p:nvPr/>
        </p:nvSpPr>
        <p:spPr>
          <a:xfrm>
            <a:off x="1280160" y="4873752"/>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makes AI relevant</a:t>
            </a:r>
            <a:endParaRPr lang="en-US" sz="1000" dirty="0"/>
          </a:p>
        </p:txBody>
      </p:sp>
      <p:sp>
        <p:nvSpPr>
          <p:cNvPr id="51" name="Text 43"/>
          <p:cNvSpPr txBox="1"/>
          <p:nvPr/>
        </p:nvSpPr>
        <p:spPr>
          <a:xfrm>
            <a:off x="3291840" y="4233672"/>
            <a:ext cx="2377440" cy="841248"/>
          </a:xfrm>
          <a:prstGeom prst="rect">
            <a:avLst/>
          </a:prstGeom>
          <a:noFill/>
          <a:ln/>
        </p:spPr>
        <p:txBody>
          <a:bodyPr wrap="square" lIns="0" tIns="0" rIns="0" bIns="0" rtlCol="0" anchor="ctr"/>
          <a:lstStyle/>
          <a:p>
            <a:pPr indent="0" marL="0">
              <a:buNone/>
            </a:pPr>
            <a:r>
              <a:rPr lang="en-US" sz="1100" dirty="0">
                <a:solidFill>
                  <a:schemeClr val="accent5"/>
                </a:solidFill>
              </a:rPr>
              <a:t>Processes, workflows and applications to connect AI to the business</a:t>
            </a:r>
            <a:endParaRPr lang="en-US" sz="1100" dirty="0"/>
          </a:p>
          <a:p>
            <a:pPr indent="0" marL="0">
              <a:buNone/>
            </a:pPr>
            <a:r>
              <a:rPr lang="en-US" sz="1000" b="1" dirty="0">
                <a:solidFill>
                  <a:schemeClr val="accent1"/>
                </a:solidFill>
              </a:rPr>
              <a:t>Connected to processes, applications and business rules</a:t>
            </a:r>
            <a:endParaRPr lang="en-US" sz="1100" dirty="0"/>
          </a:p>
        </p:txBody>
      </p:sp>
      <p:sp>
        <p:nvSpPr>
          <p:cNvPr id="52" name="Chip"/>
          <p:cNvSpPr/>
          <p:nvPr/>
        </p:nvSpPr>
        <p:spPr>
          <a:xfrm>
            <a:off x="5852160" y="4233672"/>
            <a:ext cx="1139952" cy="402336"/>
          </a:xfrm>
          <a:prstGeom prst="roundRect">
            <a:avLst>
              <a:gd name="adj" fmla="val 13636"/>
            </a:avLst>
          </a:prstGeom>
          <a:solidFill>
            <a:schemeClr val="bg1"/>
          </a:solidFill>
          <a:ln w="9525">
            <a:solidFill>
              <a:schemeClr val="accent6"/>
            </a:solidFill>
            <a:prstDash val="solid"/>
          </a:ln>
        </p:spPr>
      </p:sp>
      <p:sp>
        <p:nvSpPr>
          <p:cNvPr id="53" name="Text 45"/>
          <p:cNvSpPr txBox="1"/>
          <p:nvPr/>
        </p:nvSpPr>
        <p:spPr>
          <a:xfrm>
            <a:off x="5897880" y="423367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Process Redesign</a:t>
            </a:r>
            <a:endParaRPr lang="en-US" sz="950" dirty="0"/>
          </a:p>
        </p:txBody>
      </p:sp>
      <p:sp>
        <p:nvSpPr>
          <p:cNvPr id="54" name="Chip"/>
          <p:cNvSpPr/>
          <p:nvPr/>
        </p:nvSpPr>
        <p:spPr>
          <a:xfrm>
            <a:off x="7065264" y="4233672"/>
            <a:ext cx="1139952" cy="402336"/>
          </a:xfrm>
          <a:prstGeom prst="roundRect">
            <a:avLst>
              <a:gd name="adj" fmla="val 13636"/>
            </a:avLst>
          </a:prstGeom>
          <a:solidFill>
            <a:schemeClr val="bg1"/>
          </a:solidFill>
          <a:ln w="9525">
            <a:solidFill>
              <a:schemeClr val="accent6"/>
            </a:solidFill>
            <a:prstDash val="solid"/>
          </a:ln>
        </p:spPr>
      </p:sp>
      <p:sp>
        <p:nvSpPr>
          <p:cNvPr id="55" name="Text 47"/>
          <p:cNvSpPr txBox="1"/>
          <p:nvPr/>
        </p:nvSpPr>
        <p:spPr>
          <a:xfrm>
            <a:off x="7110984" y="423367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Workflow Automation</a:t>
            </a:r>
            <a:endParaRPr lang="en-US" sz="950" dirty="0"/>
          </a:p>
        </p:txBody>
      </p:sp>
      <p:sp>
        <p:nvSpPr>
          <p:cNvPr id="56" name="Chip"/>
          <p:cNvSpPr/>
          <p:nvPr/>
        </p:nvSpPr>
        <p:spPr>
          <a:xfrm>
            <a:off x="8278368" y="4233672"/>
            <a:ext cx="1139952" cy="402336"/>
          </a:xfrm>
          <a:prstGeom prst="roundRect">
            <a:avLst>
              <a:gd name="adj" fmla="val 13636"/>
            </a:avLst>
          </a:prstGeom>
          <a:solidFill>
            <a:schemeClr val="bg1"/>
          </a:solidFill>
          <a:ln w="9525">
            <a:solidFill>
              <a:schemeClr val="accent6"/>
            </a:solidFill>
            <a:prstDash val="solid"/>
          </a:ln>
        </p:spPr>
      </p:sp>
      <p:sp>
        <p:nvSpPr>
          <p:cNvPr id="57" name="Text 49"/>
          <p:cNvSpPr txBox="1"/>
          <p:nvPr/>
        </p:nvSpPr>
        <p:spPr>
          <a:xfrm>
            <a:off x="8324088" y="423367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Enterprise Application Integration</a:t>
            </a:r>
            <a:endParaRPr lang="en-US" sz="950" dirty="0"/>
          </a:p>
        </p:txBody>
      </p:sp>
      <p:sp>
        <p:nvSpPr>
          <p:cNvPr id="58" name="Chip"/>
          <p:cNvSpPr/>
          <p:nvPr/>
        </p:nvSpPr>
        <p:spPr>
          <a:xfrm>
            <a:off x="5852160" y="4690872"/>
            <a:ext cx="1746504" cy="402336"/>
          </a:xfrm>
          <a:prstGeom prst="roundRect">
            <a:avLst>
              <a:gd name="adj" fmla="val 13636"/>
            </a:avLst>
          </a:prstGeom>
          <a:solidFill>
            <a:schemeClr val="bg1"/>
          </a:solidFill>
          <a:ln w="9525">
            <a:solidFill>
              <a:schemeClr val="accent6"/>
            </a:solidFill>
            <a:prstDash val="solid"/>
          </a:ln>
        </p:spPr>
      </p:sp>
      <p:sp>
        <p:nvSpPr>
          <p:cNvPr id="59" name="Text 51"/>
          <p:cNvSpPr txBox="1"/>
          <p:nvPr/>
        </p:nvSpPr>
        <p:spPr>
          <a:xfrm>
            <a:off x="5897880" y="469087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Digital Experiences</a:t>
            </a:r>
            <a:endParaRPr lang="en-US" sz="950" dirty="0"/>
          </a:p>
        </p:txBody>
      </p:sp>
      <p:sp>
        <p:nvSpPr>
          <p:cNvPr id="60" name="Chip"/>
          <p:cNvSpPr/>
          <p:nvPr/>
        </p:nvSpPr>
        <p:spPr>
          <a:xfrm>
            <a:off x="7671816" y="4690872"/>
            <a:ext cx="1746504" cy="402336"/>
          </a:xfrm>
          <a:prstGeom prst="roundRect">
            <a:avLst>
              <a:gd name="adj" fmla="val 13636"/>
            </a:avLst>
          </a:prstGeom>
          <a:solidFill>
            <a:schemeClr val="bg1"/>
          </a:solidFill>
          <a:ln w="9525">
            <a:solidFill>
              <a:schemeClr val="accent6"/>
            </a:solidFill>
            <a:prstDash val="solid"/>
          </a:ln>
        </p:spPr>
      </p:sp>
      <p:sp>
        <p:nvSpPr>
          <p:cNvPr id="61" name="Text 53"/>
          <p:cNvSpPr txBox="1"/>
          <p:nvPr/>
        </p:nvSpPr>
        <p:spPr>
          <a:xfrm>
            <a:off x="7717536" y="469087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Low-code / No-code Solutions</a:t>
            </a:r>
            <a:endParaRPr lang="en-US" sz="950" dirty="0"/>
          </a:p>
        </p:txBody>
      </p:sp>
      <p:sp>
        <p:nvSpPr>
          <p:cNvPr id="62" name="Text 54"/>
          <p:cNvSpPr txBox="1"/>
          <p:nvPr/>
        </p:nvSpPr>
        <p:spPr>
          <a:xfrm>
            <a:off x="9601200" y="4233672"/>
            <a:ext cx="2084832" cy="841248"/>
          </a:xfrm>
          <a:prstGeom prst="rect">
            <a:avLst/>
          </a:prstGeom>
          <a:noFill/>
          <a:ln/>
        </p:spPr>
        <p:txBody>
          <a:bodyPr wrap="square" lIns="0" tIns="0" rIns="0" bIns="0" rtlCol="0" anchor="ctr"/>
          <a:lstStyle/>
          <a:p>
            <a:pPr indent="0" marL="0">
              <a:buNone/>
            </a:pPr>
            <a:r>
              <a:rPr lang="en-US" sz="1100" b="1" dirty="0">
                <a:solidFill>
                  <a:schemeClr val="tx2"/>
                </a:solidFill>
              </a:rPr>
              <a:t>Digitization Services  |  Process Optimization  |  Intelligent Automation</a:t>
            </a:r>
            <a:endParaRPr lang="en-US" sz="1100" dirty="0"/>
          </a:p>
        </p:txBody>
      </p:sp>
      <p:pic>
        <p:nvPicPr>
          <p:cNvPr id="63" name="Card" descr="preencoded.png">    </p:cNvPr>
          <p:cNvPicPr>
            <a:picLocks noChangeAspect="1"/>
          </p:cNvPicPr>
          <p:nvPr/>
        </p:nvPicPr>
        <p:blipFill>
          <a:blip r:embed="rId7"/>
          <a:stretch>
            <a:fillRect/>
          </a:stretch>
        </p:blipFill>
        <p:spPr>
          <a:xfrm>
            <a:off x="356616" y="5093208"/>
            <a:ext cx="11478463" cy="1316736"/>
          </a:xfrm>
          <a:prstGeom prst="rect">
            <a:avLst/>
          </a:prstGeom>
        </p:spPr>
      </p:pic>
      <p:pic>
        <p:nvPicPr>
          <p:cNvPr id="64" name="NumBadge" descr="preencoded.png">    </p:cNvPr>
          <p:cNvPicPr>
            <a:picLocks noChangeAspect="1"/>
          </p:cNvPicPr>
          <p:nvPr/>
        </p:nvPicPr>
        <p:blipFill>
          <a:blip r:embed="rId8"/>
          <a:stretch>
            <a:fillRect/>
          </a:stretch>
        </p:blipFill>
        <p:spPr>
          <a:xfrm>
            <a:off x="685800" y="5532120"/>
            <a:ext cx="457200" cy="457200"/>
          </a:xfrm>
          <a:prstGeom prst="rect">
            <a:avLst/>
          </a:prstGeom>
        </p:spPr>
      </p:pic>
      <p:sp>
        <p:nvSpPr>
          <p:cNvPr id="65" name="Text 55"/>
          <p:cNvSpPr txBox="1"/>
          <p:nvPr/>
        </p:nvSpPr>
        <p:spPr>
          <a:xfrm>
            <a:off x="685800" y="55321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Arial" pitchFamily="34" charset="0"/>
                <a:ea typeface="Arial" pitchFamily="34" charset="-122"/>
                <a:cs typeface="Arial" pitchFamily="34" charset="-120"/>
              </a:rPr>
              <a:t>1</a:t>
            </a:r>
            <a:endParaRPr lang="en-US" sz="1500" dirty="0"/>
          </a:p>
        </p:txBody>
      </p:sp>
      <p:sp>
        <p:nvSpPr>
          <p:cNvPr id="66" name="Text 56"/>
          <p:cNvSpPr txBox="1"/>
          <p:nvPr/>
        </p:nvSpPr>
        <p:spPr>
          <a:xfrm>
            <a:off x="1280160" y="5349240"/>
            <a:ext cx="1920240" cy="219456"/>
          </a:xfrm>
          <a:prstGeom prst="rect">
            <a:avLst/>
          </a:prstGeom>
          <a:noFill/>
          <a:ln/>
        </p:spPr>
        <p:txBody>
          <a:bodyPr wrap="square" lIns="0" tIns="0" rIns="0" bIns="0" rtlCol="0" anchor="t"/>
          <a:lstStyle/>
          <a:p>
            <a:pPr indent="0" marL="0">
              <a:buNone/>
            </a:pPr>
            <a:r>
              <a:rPr lang="en-US" sz="950" b="1" spc="300" kern="0" dirty="0">
                <a:solidFill>
                  <a:schemeClr val="accent1"/>
                </a:solidFill>
              </a:rPr>
              <a:t>DATA</a:t>
            </a:r>
            <a:endParaRPr lang="en-US" sz="950" dirty="0"/>
          </a:p>
        </p:txBody>
      </p:sp>
      <p:sp>
        <p:nvSpPr>
          <p:cNvPr id="67" name="Text 57"/>
          <p:cNvSpPr txBox="1"/>
          <p:nvPr/>
        </p:nvSpPr>
        <p:spPr>
          <a:xfrm>
            <a:off x="1280160" y="5568696"/>
            <a:ext cx="1920240" cy="411480"/>
          </a:xfrm>
          <a:prstGeom prst="rect">
            <a:avLst/>
          </a:prstGeom>
          <a:noFill/>
          <a:ln/>
        </p:spPr>
        <p:txBody>
          <a:bodyPr wrap="square" lIns="0" tIns="0" rIns="0" bIns="0" rtlCol="0" anchor="ctr"/>
          <a:lstStyle/>
          <a:p>
            <a:pPr indent="0" marL="0">
              <a:buNone/>
            </a:pPr>
            <a:r>
              <a:rPr lang="en-US" sz="1300" b="1" dirty="0">
                <a:solidFill>
                  <a:schemeClr val="bg1"/>
                </a:solidFill>
              </a:rPr>
              <a:t>Data &amp; Trust Foundation</a:t>
            </a:r>
            <a:endParaRPr lang="en-US" sz="1300" dirty="0"/>
          </a:p>
        </p:txBody>
      </p:sp>
      <p:sp>
        <p:nvSpPr>
          <p:cNvPr id="68" name="Text 58"/>
          <p:cNvSpPr txBox="1"/>
          <p:nvPr/>
        </p:nvSpPr>
        <p:spPr>
          <a:xfrm>
            <a:off x="1280160" y="5971032"/>
            <a:ext cx="1920240" cy="256032"/>
          </a:xfrm>
          <a:prstGeom prst="rect">
            <a:avLst/>
          </a:prstGeom>
          <a:noFill/>
          <a:ln/>
        </p:spPr>
        <p:txBody>
          <a:bodyPr wrap="square" lIns="0" tIns="0" rIns="0" bIns="0" rtlCol="0" anchor="t"/>
          <a:lstStyle/>
          <a:p>
            <a:pPr indent="0" marL="0">
              <a:buNone/>
            </a:pPr>
            <a:r>
              <a:rPr lang="en-US" sz="1000" i="1" dirty="0">
                <a:solidFill>
                  <a:schemeClr val="accent3"/>
                </a:solidFill>
              </a:rPr>
              <a:t>What makes AI scalable and trusted</a:t>
            </a:r>
            <a:endParaRPr lang="en-US" sz="1000" dirty="0"/>
          </a:p>
        </p:txBody>
      </p:sp>
      <p:sp>
        <p:nvSpPr>
          <p:cNvPr id="69" name="Text 59"/>
          <p:cNvSpPr txBox="1"/>
          <p:nvPr/>
        </p:nvSpPr>
        <p:spPr>
          <a:xfrm>
            <a:off x="3291840" y="5330952"/>
            <a:ext cx="2377440" cy="841248"/>
          </a:xfrm>
          <a:prstGeom prst="rect">
            <a:avLst/>
          </a:prstGeom>
          <a:noFill/>
          <a:ln/>
        </p:spPr>
        <p:txBody>
          <a:bodyPr wrap="square" lIns="0" tIns="0" rIns="0" bIns="0" rtlCol="0" anchor="ctr"/>
          <a:lstStyle/>
          <a:p>
            <a:pPr indent="0" marL="0">
              <a:buNone/>
            </a:pPr>
            <a:r>
              <a:rPr lang="en-US" sz="1100" dirty="0">
                <a:solidFill>
                  <a:schemeClr val="bg1"/>
                </a:solidFill>
              </a:rPr>
              <a:t>Data, technology and governance foundation to make AI enterprise-ready</a:t>
            </a:r>
            <a:endParaRPr lang="en-US" sz="1100" dirty="0"/>
          </a:p>
          <a:p>
            <a:pPr indent="0" marL="0">
              <a:buNone/>
            </a:pPr>
            <a:r>
              <a:rPr lang="en-US" sz="1000" b="1" dirty="0">
                <a:solidFill>
                  <a:schemeClr val="accent3"/>
                </a:solidFill>
              </a:rPr>
              <a:t>Reliable, governed data foundation</a:t>
            </a:r>
            <a:endParaRPr lang="en-US" sz="1100" dirty="0"/>
          </a:p>
        </p:txBody>
      </p:sp>
      <p:sp>
        <p:nvSpPr>
          <p:cNvPr id="70" name="Chip"/>
          <p:cNvSpPr/>
          <p:nvPr/>
        </p:nvSpPr>
        <p:spPr>
          <a:xfrm>
            <a:off x="5852160" y="5330952"/>
            <a:ext cx="1139952"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1" name="Text 61"/>
          <p:cNvSpPr txBox="1"/>
          <p:nvPr/>
        </p:nvSpPr>
        <p:spPr>
          <a:xfrm>
            <a:off x="5897880" y="533095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Data Ingestion &amp; Integration</a:t>
            </a:r>
            <a:endParaRPr lang="en-US" sz="950" dirty="0"/>
          </a:p>
        </p:txBody>
      </p:sp>
      <p:sp>
        <p:nvSpPr>
          <p:cNvPr id="72" name="Chip"/>
          <p:cNvSpPr/>
          <p:nvPr/>
        </p:nvSpPr>
        <p:spPr>
          <a:xfrm>
            <a:off x="7065264" y="5330952"/>
            <a:ext cx="1139952"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3" name="Text 63"/>
          <p:cNvSpPr txBox="1"/>
          <p:nvPr/>
        </p:nvSpPr>
        <p:spPr>
          <a:xfrm>
            <a:off x="7110984" y="533095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Lakehouse / Data Warehouse</a:t>
            </a:r>
            <a:endParaRPr lang="en-US" sz="950" dirty="0"/>
          </a:p>
        </p:txBody>
      </p:sp>
      <p:sp>
        <p:nvSpPr>
          <p:cNvPr id="74" name="Chip"/>
          <p:cNvSpPr/>
          <p:nvPr/>
        </p:nvSpPr>
        <p:spPr>
          <a:xfrm>
            <a:off x="8278368" y="5330952"/>
            <a:ext cx="1139952"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5" name="Text 65"/>
          <p:cNvSpPr txBox="1"/>
          <p:nvPr/>
        </p:nvSpPr>
        <p:spPr>
          <a:xfrm>
            <a:off x="8324088" y="533095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Data Quality &amp; Governance</a:t>
            </a:r>
            <a:endParaRPr lang="en-US" sz="950" dirty="0"/>
          </a:p>
        </p:txBody>
      </p:sp>
      <p:sp>
        <p:nvSpPr>
          <p:cNvPr id="76" name="Chip"/>
          <p:cNvSpPr/>
          <p:nvPr/>
        </p:nvSpPr>
        <p:spPr>
          <a:xfrm>
            <a:off x="5852160" y="5788152"/>
            <a:ext cx="1746504"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7" name="Text 67"/>
          <p:cNvSpPr txBox="1"/>
          <p:nvPr/>
        </p:nvSpPr>
        <p:spPr>
          <a:xfrm>
            <a:off x="5897880" y="5788152"/>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Cloud Platforms (Databricks, Azure, AWS)</a:t>
            </a:r>
            <a:endParaRPr lang="en-US" sz="950" dirty="0"/>
          </a:p>
        </p:txBody>
      </p:sp>
      <p:sp>
        <p:nvSpPr>
          <p:cNvPr id="78" name="Chip"/>
          <p:cNvSpPr/>
          <p:nvPr/>
        </p:nvSpPr>
        <p:spPr>
          <a:xfrm>
            <a:off x="7671816" y="5788152"/>
            <a:ext cx="1746504"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9" name="Text 69"/>
          <p:cNvSpPr txBox="1"/>
          <p:nvPr/>
        </p:nvSpPr>
        <p:spPr>
          <a:xfrm>
            <a:off x="7717536" y="5788152"/>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Security &amp; Access Controls</a:t>
            </a:r>
            <a:endParaRPr lang="en-US" sz="950" dirty="0"/>
          </a:p>
        </p:txBody>
      </p:sp>
      <p:sp>
        <p:nvSpPr>
          <p:cNvPr id="80" name="Text 70"/>
          <p:cNvSpPr txBox="1"/>
          <p:nvPr/>
        </p:nvSpPr>
        <p:spPr>
          <a:xfrm>
            <a:off x="9601200" y="5330952"/>
            <a:ext cx="2084832" cy="841248"/>
          </a:xfrm>
          <a:prstGeom prst="rect">
            <a:avLst/>
          </a:prstGeom>
          <a:noFill/>
          <a:ln/>
        </p:spPr>
        <p:txBody>
          <a:bodyPr wrap="square" lIns="0" tIns="0" rIns="0" bIns="0" rtlCol="0" anchor="ctr"/>
          <a:lstStyle/>
          <a:p>
            <a:pPr indent="0" marL="0">
              <a:buNone/>
            </a:pPr>
            <a:r>
              <a:rPr lang="en-US" sz="1100" b="1" dirty="0">
                <a:solidFill>
                  <a:schemeClr val="bg1"/>
                </a:solidFill>
              </a:rPr>
              <a:t>Data Engineering  |  Databricks  |  Microsoft Fabric  |  Data Modernization  |  Governance &amp; Unity Catalog</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claude-0/-home-user-ad-gallery/7fc27a5a-8417-58c4-b3ff-7a7825ba0161/scratchpad/assets/logo.png">    </p:cNvPr>
          <p:cNvPicPr>
            <a:picLocks noChangeAspect="1"/>
          </p:cNvPicPr>
          <p:nvPr/>
        </p:nvPicPr>
        <p:blipFill>
          <a:blip r:embed="rId1"/>
          <a:stretch>
            <a:fillRect/>
          </a:stretch>
        </p:blipFill>
        <p:spPr>
          <a:xfrm>
            <a:off x="502920" y="502920"/>
            <a:ext cx="1737360" cy="479629"/>
          </a:xfrm>
          <a:prstGeom prst="rect">
            <a:avLst/>
          </a:prstGeom>
        </p:spPr>
      </p:pic>
      <p:sp>
        <p:nvSpPr>
          <p:cNvPr id="3" name="Text 0"/>
          <p:cNvSpPr txBox="1"/>
          <p:nvPr/>
        </p:nvSpPr>
        <p:spPr>
          <a:xfrm>
            <a:off x="502920" y="1737360"/>
            <a:ext cx="5486400" cy="274320"/>
          </a:xfrm>
          <a:prstGeom prst="rect">
            <a:avLst/>
          </a:prstGeom>
          <a:noFill/>
          <a:ln/>
        </p:spPr>
        <p:txBody>
          <a:bodyPr wrap="square" lIns="0" tIns="0" rIns="0" bIns="0" rtlCol="0" anchor="t"/>
          <a:lstStyle/>
          <a:p>
            <a:pPr indent="0" marL="0">
              <a:buNone/>
            </a:pPr>
            <a:r>
              <a:rPr lang="en-US" sz="1200" b="1" spc="500" kern="0" dirty="0">
                <a:solidFill>
                  <a:schemeClr val="accent1"/>
                </a:solidFill>
              </a:rPr>
              <a:t>OUR FRAMEWORK</a:t>
            </a:r>
            <a:endParaRPr lang="en-US" sz="1200" dirty="0"/>
          </a:p>
        </p:txBody>
      </p:sp>
      <p:sp>
        <p:nvSpPr>
          <p:cNvPr id="4" name="Text 1"/>
          <p:cNvSpPr txBox="1"/>
          <p:nvPr/>
        </p:nvSpPr>
        <p:spPr>
          <a:xfrm>
            <a:off x="466344" y="2011680"/>
            <a:ext cx="6400800" cy="1280160"/>
          </a:xfrm>
          <a:prstGeom prst="rect">
            <a:avLst/>
          </a:prstGeom>
          <a:noFill/>
          <a:ln/>
        </p:spPr>
        <p:txBody>
          <a:bodyPr wrap="square" lIns="0" tIns="0" rIns="0" bIns="0" rtlCol="0" anchor="ctr"/>
          <a:lstStyle/>
          <a:p>
            <a:pPr indent="0" marL="0">
              <a:buNone/>
            </a:pPr>
            <a:r>
              <a:rPr lang="en-US" sz="8800" b="1" dirty="0">
                <a:solidFill>
                  <a:schemeClr val="accent1"/>
                </a:solidFill>
                <a:latin typeface="Arial" pitchFamily="34" charset="0"/>
                <a:ea typeface="Arial" pitchFamily="34" charset="-122"/>
                <a:cs typeface="Arial" pitchFamily="34" charset="-120"/>
              </a:rPr>
              <a:t>D.A.T.A</a:t>
            </a:r>
            <a:endParaRPr lang="en-US" sz="8800" dirty="0"/>
          </a:p>
        </p:txBody>
      </p:sp>
      <p:sp>
        <p:nvSpPr>
          <p:cNvPr id="5" name="Text 2"/>
          <p:cNvSpPr txBox="1"/>
          <p:nvPr/>
        </p:nvSpPr>
        <p:spPr>
          <a:xfrm>
            <a:off x="502920" y="3429000"/>
            <a:ext cx="6217920" cy="1280160"/>
          </a:xfrm>
          <a:prstGeom prst="rect">
            <a:avLst/>
          </a:prstGeom>
          <a:noFill/>
          <a:ln/>
        </p:spPr>
        <p:txBody>
          <a:bodyPr wrap="square" lIns="0" tIns="0" rIns="0" bIns="0" rtlCol="0" anchor="t"/>
          <a:lstStyle/>
          <a:p>
            <a:pPr indent="0" marL="0">
              <a:buNone/>
            </a:pPr>
            <a:r>
              <a:rPr lang="en-US" sz="3800" b="1" dirty="0">
                <a:solidFill>
                  <a:schemeClr val="tx1"/>
                </a:solidFill>
                <a:latin typeface="Arial" pitchFamily="34" charset="0"/>
                <a:ea typeface="Arial" pitchFamily="34" charset="-122"/>
                <a:cs typeface="Arial" pitchFamily="34" charset="-120"/>
              </a:rPr>
              <a:t>Data is at the core of our focus</a:t>
            </a:r>
            <a:endParaRPr lang="en-US" sz="3800" dirty="0"/>
          </a:p>
        </p:txBody>
      </p:sp>
      <p:sp>
        <p:nvSpPr>
          <p:cNvPr id="6" name="Text 3"/>
          <p:cNvSpPr txBox="1"/>
          <p:nvPr/>
        </p:nvSpPr>
        <p:spPr>
          <a:xfrm>
            <a:off x="502920" y="4754880"/>
            <a:ext cx="5943600" cy="457200"/>
          </a:xfrm>
          <a:prstGeom prst="rect">
            <a:avLst/>
          </a:prstGeom>
          <a:noFill/>
          <a:ln/>
        </p:spPr>
        <p:txBody>
          <a:bodyPr wrap="square" lIns="0" tIns="0" rIns="0" bIns="0" rtlCol="0" anchor="t"/>
          <a:lstStyle/>
          <a:p>
            <a:pPr indent="0" marL="0">
              <a:buNone/>
            </a:pPr>
            <a:r>
              <a:rPr lang="en-US" sz="2000" dirty="0">
                <a:solidFill>
                  <a:schemeClr val="accent5"/>
                </a:solidFill>
              </a:rPr>
              <a:t>and it holds a unique significance for us.</a:t>
            </a:r>
            <a:endParaRPr lang="en-US" sz="2000" dirty="0"/>
          </a:p>
        </p:txBody>
      </p:sp>
      <p:pic>
        <p:nvPicPr>
          <p:cNvPr id="7" name="Card" descr="preencoded.png">    </p:cNvPr>
          <p:cNvPicPr>
            <a:picLocks noChangeAspect="1"/>
          </p:cNvPicPr>
          <p:nvPr/>
        </p:nvPicPr>
        <p:blipFill>
          <a:blip r:embed="rId2"/>
          <a:stretch>
            <a:fillRect/>
          </a:stretch>
        </p:blipFill>
        <p:spPr>
          <a:xfrm>
            <a:off x="7031736" y="996696"/>
            <a:ext cx="2395728" cy="2441448"/>
          </a:xfrm>
          <a:prstGeom prst="rect">
            <a:avLst/>
          </a:prstGeom>
        </p:spPr>
      </p:pic>
      <p:sp>
        <p:nvSpPr>
          <p:cNvPr id="8" name="Text 4"/>
          <p:cNvSpPr txBox="1"/>
          <p:nvPr/>
        </p:nvSpPr>
        <p:spPr>
          <a:xfrm>
            <a:off x="7406640" y="132588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D</a:t>
            </a:r>
            <a:endParaRPr lang="en-US" sz="8000" dirty="0"/>
          </a:p>
        </p:txBody>
      </p:sp>
      <p:pic>
        <p:nvPicPr>
          <p:cNvPr id="9" name="Badge" descr="preencoded.png">    </p:cNvPr>
          <p:cNvPicPr>
            <a:picLocks noChangeAspect="1"/>
          </p:cNvPicPr>
          <p:nvPr/>
        </p:nvPicPr>
        <p:blipFill>
          <a:blip r:embed="rId3"/>
          <a:stretch>
            <a:fillRect/>
          </a:stretch>
        </p:blipFill>
        <p:spPr>
          <a:xfrm>
            <a:off x="8641080" y="1417320"/>
            <a:ext cx="438912" cy="438912"/>
          </a:xfrm>
          <a:prstGeom prst="rect">
            <a:avLst/>
          </a:prstGeom>
        </p:spPr>
      </p:pic>
      <p:sp>
        <p:nvSpPr>
          <p:cNvPr id="10" name="Text 5"/>
          <p:cNvSpPr txBox="1"/>
          <p:nvPr/>
        </p:nvSpPr>
        <p:spPr>
          <a:xfrm>
            <a:off x="7434072" y="2606040"/>
            <a:ext cx="1737360" cy="411480"/>
          </a:xfrm>
          <a:prstGeom prst="rect">
            <a:avLst/>
          </a:prstGeom>
          <a:noFill/>
          <a:ln/>
        </p:spPr>
        <p:txBody>
          <a:bodyPr wrap="square" lIns="0" tIns="0" rIns="0" bIns="0" rtlCol="0" anchor="t"/>
          <a:lstStyle/>
          <a:p>
            <a:pPr indent="0" marL="0">
              <a:buNone/>
            </a:pPr>
            <a:r>
              <a:rPr lang="en-US" sz="1800" b="1" dirty="0">
                <a:solidFill>
                  <a:schemeClr val="bg1"/>
                </a:solidFill>
              </a:rPr>
              <a:t>Discovery</a:t>
            </a:r>
            <a:endParaRPr lang="en-US" sz="1800" dirty="0"/>
          </a:p>
        </p:txBody>
      </p:sp>
      <p:pic>
        <p:nvPicPr>
          <p:cNvPr id="11" name="Card" descr="preencoded.png">    </p:cNvPr>
          <p:cNvPicPr>
            <a:picLocks noChangeAspect="1"/>
          </p:cNvPicPr>
          <p:nvPr/>
        </p:nvPicPr>
        <p:blipFill>
          <a:blip r:embed="rId4"/>
          <a:stretch>
            <a:fillRect/>
          </a:stretch>
        </p:blipFill>
        <p:spPr>
          <a:xfrm>
            <a:off x="9317736" y="996696"/>
            <a:ext cx="2395728" cy="2441448"/>
          </a:xfrm>
          <a:prstGeom prst="rect">
            <a:avLst/>
          </a:prstGeom>
        </p:spPr>
      </p:pic>
      <p:sp>
        <p:nvSpPr>
          <p:cNvPr id="12" name="Text 6"/>
          <p:cNvSpPr txBox="1"/>
          <p:nvPr/>
        </p:nvSpPr>
        <p:spPr>
          <a:xfrm>
            <a:off x="9692640" y="132588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A</a:t>
            </a:r>
            <a:endParaRPr lang="en-US" sz="8000" dirty="0"/>
          </a:p>
        </p:txBody>
      </p:sp>
      <p:pic>
        <p:nvPicPr>
          <p:cNvPr id="13" name="Badge" descr="preencoded.png">    </p:cNvPr>
          <p:cNvPicPr>
            <a:picLocks noChangeAspect="1"/>
          </p:cNvPicPr>
          <p:nvPr/>
        </p:nvPicPr>
        <p:blipFill>
          <a:blip r:embed="rId5"/>
          <a:stretch>
            <a:fillRect/>
          </a:stretch>
        </p:blipFill>
        <p:spPr>
          <a:xfrm>
            <a:off x="10927080" y="1417320"/>
            <a:ext cx="438912" cy="438912"/>
          </a:xfrm>
          <a:prstGeom prst="rect">
            <a:avLst/>
          </a:prstGeom>
        </p:spPr>
      </p:pic>
      <p:sp>
        <p:nvSpPr>
          <p:cNvPr id="14" name="Text 7"/>
          <p:cNvSpPr txBox="1"/>
          <p:nvPr/>
        </p:nvSpPr>
        <p:spPr>
          <a:xfrm>
            <a:off x="9720072" y="2606040"/>
            <a:ext cx="1737360" cy="411480"/>
          </a:xfrm>
          <a:prstGeom prst="rect">
            <a:avLst/>
          </a:prstGeom>
          <a:noFill/>
          <a:ln/>
        </p:spPr>
        <p:txBody>
          <a:bodyPr wrap="square" lIns="0" tIns="0" rIns="0" bIns="0" rtlCol="0" anchor="t"/>
          <a:lstStyle/>
          <a:p>
            <a:pPr indent="0" marL="0">
              <a:buNone/>
            </a:pPr>
            <a:r>
              <a:rPr lang="en-US" sz="1800" b="1" dirty="0">
                <a:solidFill>
                  <a:schemeClr val="accent3"/>
                </a:solidFill>
              </a:rPr>
              <a:t>Approach</a:t>
            </a:r>
            <a:endParaRPr lang="en-US" sz="1800" dirty="0"/>
          </a:p>
        </p:txBody>
      </p:sp>
      <p:pic>
        <p:nvPicPr>
          <p:cNvPr id="15" name="Card" descr="preencoded.png">    </p:cNvPr>
          <p:cNvPicPr>
            <a:picLocks noChangeAspect="1"/>
          </p:cNvPicPr>
          <p:nvPr/>
        </p:nvPicPr>
        <p:blipFill>
          <a:blip r:embed="rId6"/>
          <a:stretch>
            <a:fillRect/>
          </a:stretch>
        </p:blipFill>
        <p:spPr>
          <a:xfrm>
            <a:off x="7031736" y="3328416"/>
            <a:ext cx="2395728" cy="2441448"/>
          </a:xfrm>
          <a:prstGeom prst="rect">
            <a:avLst/>
          </a:prstGeom>
        </p:spPr>
      </p:pic>
      <p:sp>
        <p:nvSpPr>
          <p:cNvPr id="16" name="Text 8"/>
          <p:cNvSpPr txBox="1"/>
          <p:nvPr/>
        </p:nvSpPr>
        <p:spPr>
          <a:xfrm>
            <a:off x="7406640" y="365760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T</a:t>
            </a:r>
            <a:endParaRPr lang="en-US" sz="8000" dirty="0"/>
          </a:p>
        </p:txBody>
      </p:sp>
      <p:pic>
        <p:nvPicPr>
          <p:cNvPr id="17" name="Badge" descr="preencoded.png">    </p:cNvPr>
          <p:cNvPicPr>
            <a:picLocks noChangeAspect="1"/>
          </p:cNvPicPr>
          <p:nvPr/>
        </p:nvPicPr>
        <p:blipFill>
          <a:blip r:embed="rId7"/>
          <a:stretch>
            <a:fillRect/>
          </a:stretch>
        </p:blipFill>
        <p:spPr>
          <a:xfrm>
            <a:off x="8641080" y="3749040"/>
            <a:ext cx="438912" cy="438912"/>
          </a:xfrm>
          <a:prstGeom prst="rect">
            <a:avLst/>
          </a:prstGeom>
        </p:spPr>
      </p:pic>
      <p:sp>
        <p:nvSpPr>
          <p:cNvPr id="18" name="Text 9"/>
          <p:cNvSpPr txBox="1"/>
          <p:nvPr/>
        </p:nvSpPr>
        <p:spPr>
          <a:xfrm>
            <a:off x="7434072" y="4937760"/>
            <a:ext cx="1737360" cy="411480"/>
          </a:xfrm>
          <a:prstGeom prst="rect">
            <a:avLst/>
          </a:prstGeom>
          <a:noFill/>
          <a:ln/>
        </p:spPr>
        <p:txBody>
          <a:bodyPr wrap="square" lIns="0" tIns="0" rIns="0" bIns="0" rtlCol="0" anchor="t"/>
          <a:lstStyle/>
          <a:p>
            <a:pPr indent="0" marL="0">
              <a:buNone/>
            </a:pPr>
            <a:r>
              <a:rPr lang="en-US" sz="1800" b="1" dirty="0">
                <a:solidFill>
                  <a:schemeClr val="accent3"/>
                </a:solidFill>
              </a:rPr>
              <a:t>Technology</a:t>
            </a:r>
            <a:endParaRPr lang="en-US" sz="1800" dirty="0"/>
          </a:p>
        </p:txBody>
      </p:sp>
      <p:pic>
        <p:nvPicPr>
          <p:cNvPr id="19" name="Card" descr="preencoded.png">    </p:cNvPr>
          <p:cNvPicPr>
            <a:picLocks noChangeAspect="1"/>
          </p:cNvPicPr>
          <p:nvPr/>
        </p:nvPicPr>
        <p:blipFill>
          <a:blip r:embed="rId8"/>
          <a:stretch>
            <a:fillRect/>
          </a:stretch>
        </p:blipFill>
        <p:spPr>
          <a:xfrm>
            <a:off x="9317736" y="3328416"/>
            <a:ext cx="2395728" cy="2441448"/>
          </a:xfrm>
          <a:prstGeom prst="rect">
            <a:avLst/>
          </a:prstGeom>
        </p:spPr>
      </p:pic>
      <p:sp>
        <p:nvSpPr>
          <p:cNvPr id="20" name="Text 10"/>
          <p:cNvSpPr txBox="1"/>
          <p:nvPr/>
        </p:nvSpPr>
        <p:spPr>
          <a:xfrm>
            <a:off x="9692640" y="3657600"/>
            <a:ext cx="1188720" cy="1143000"/>
          </a:xfrm>
          <a:prstGeom prst="rect">
            <a:avLst/>
          </a:prstGeom>
          <a:noFill/>
          <a:ln/>
        </p:spPr>
        <p:txBody>
          <a:bodyPr wrap="square" lIns="0" tIns="0" rIns="0" bIns="0" rtlCol="0" anchor="ctr"/>
          <a:lstStyle/>
          <a:p>
            <a:pPr indent="0" marL="0">
              <a:buNone/>
            </a:pPr>
            <a:r>
              <a:rPr lang="en-US" sz="8000" b="1" dirty="0">
                <a:solidFill>
                  <a:schemeClr val="bg1"/>
                </a:solidFill>
                <a:latin typeface="Arial" pitchFamily="34" charset="0"/>
                <a:ea typeface="Arial" pitchFamily="34" charset="-122"/>
                <a:cs typeface="Arial" pitchFamily="34" charset="-120"/>
              </a:rPr>
              <a:t>A</a:t>
            </a:r>
            <a:endParaRPr lang="en-US" sz="8000" dirty="0"/>
          </a:p>
        </p:txBody>
      </p:sp>
      <p:pic>
        <p:nvPicPr>
          <p:cNvPr id="21" name="Badge" descr="preencoded.png">    </p:cNvPr>
          <p:cNvPicPr>
            <a:picLocks noChangeAspect="1"/>
          </p:cNvPicPr>
          <p:nvPr/>
        </p:nvPicPr>
        <p:blipFill>
          <a:blip r:embed="rId9"/>
          <a:stretch>
            <a:fillRect/>
          </a:stretch>
        </p:blipFill>
        <p:spPr>
          <a:xfrm>
            <a:off x="10927080" y="3749040"/>
            <a:ext cx="438912" cy="438912"/>
          </a:xfrm>
          <a:prstGeom prst="rect">
            <a:avLst/>
          </a:prstGeom>
        </p:spPr>
      </p:pic>
      <p:sp>
        <p:nvSpPr>
          <p:cNvPr id="22" name="Text 11"/>
          <p:cNvSpPr txBox="1"/>
          <p:nvPr/>
        </p:nvSpPr>
        <p:spPr>
          <a:xfrm>
            <a:off x="9720072" y="4937760"/>
            <a:ext cx="1737360" cy="411480"/>
          </a:xfrm>
          <a:prstGeom prst="rect">
            <a:avLst/>
          </a:prstGeom>
          <a:noFill/>
          <a:ln/>
        </p:spPr>
        <p:txBody>
          <a:bodyPr wrap="square" lIns="0" tIns="0" rIns="0" bIns="0" rtlCol="0" anchor="t"/>
          <a:lstStyle/>
          <a:p>
            <a:pPr indent="0" marL="0">
              <a:buNone/>
            </a:pPr>
            <a:r>
              <a:rPr lang="en-US" sz="1800" b="1" dirty="0">
                <a:solidFill>
                  <a:schemeClr val="bg1"/>
                </a:solidFill>
              </a:rPr>
              <a:t>Adoption</a:t>
            </a:r>
            <a:endParaRPr lang="en-US" sz="1800" dirty="0"/>
          </a:p>
        </p:txBody>
      </p:sp>
      <p:sp>
        <p:nvSpPr>
          <p:cNvPr id="23" name="Text 12"/>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CLASP Principle: Problem Finding over Problem Solving</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D – DISCOVERY</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We start by understanding the business before proposing any technology.</a:t>
            </a:r>
            <a:endParaRPr lang="en-US" sz="1500" dirty="0"/>
          </a:p>
        </p:txBody>
      </p:sp>
      <p:pic>
        <p:nvPicPr>
          <p:cNvPr id="5" name="NumBadge" descr="preencoded.png">    </p:cNvPr>
          <p:cNvPicPr>
            <a:picLocks noChangeAspect="1"/>
          </p:cNvPicPr>
          <p:nvPr/>
        </p:nvPicPr>
        <p:blipFill>
          <a:blip r:embed="rId1"/>
          <a:stretch>
            <a:fillRect/>
          </a:stretch>
        </p:blipFill>
        <p:spPr>
          <a:xfrm>
            <a:off x="8366760" y="329184"/>
            <a:ext cx="310896" cy="310896"/>
          </a:xfrm>
          <a:prstGeom prst="rect">
            <a:avLst/>
          </a:prstGeom>
        </p:spPr>
      </p:pic>
      <p:sp>
        <p:nvSpPr>
          <p:cNvPr id="6" name="Text 3"/>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D</a:t>
            </a:r>
            <a:endParaRPr lang="en-US" sz="1100" dirty="0"/>
          </a:p>
        </p:txBody>
      </p:sp>
      <p:sp>
        <p:nvSpPr>
          <p:cNvPr id="7" name="TrackDot"/>
          <p:cNvSpPr/>
          <p:nvPr/>
        </p:nvSpPr>
        <p:spPr>
          <a:xfrm>
            <a:off x="8750808" y="329184"/>
            <a:ext cx="310896" cy="310896"/>
          </a:xfrm>
          <a:prstGeom prst="ellipse">
            <a:avLst/>
          </a:prstGeom>
          <a:solidFill>
            <a:schemeClr val="bg2"/>
          </a:solidFill>
          <a:ln w="9525">
            <a:solidFill>
              <a:schemeClr val="accent6"/>
            </a:solidFill>
            <a:prstDash val="solid"/>
          </a:ln>
        </p:spPr>
      </p:sp>
      <p:sp>
        <p:nvSpPr>
          <p:cNvPr id="8" name="Text 5"/>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9" name="TrackDot"/>
          <p:cNvSpPr/>
          <p:nvPr/>
        </p:nvSpPr>
        <p:spPr>
          <a:xfrm>
            <a:off x="9134856" y="329184"/>
            <a:ext cx="310896" cy="310896"/>
          </a:xfrm>
          <a:prstGeom prst="ellipse">
            <a:avLst/>
          </a:prstGeom>
          <a:solidFill>
            <a:schemeClr val="bg2"/>
          </a:solidFill>
          <a:ln w="9525">
            <a:solidFill>
              <a:schemeClr val="accent6"/>
            </a:solidFill>
            <a:prstDash val="solid"/>
          </a:ln>
        </p:spPr>
      </p:sp>
      <p:sp>
        <p:nvSpPr>
          <p:cNvPr id="10" name="Text 7"/>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sp>
        <p:nvSpPr>
          <p:cNvPr id="11" name="TrackDot"/>
          <p:cNvSpPr/>
          <p:nvPr/>
        </p:nvSpPr>
        <p:spPr>
          <a:xfrm>
            <a:off x="9518904" y="329184"/>
            <a:ext cx="310896" cy="310896"/>
          </a:xfrm>
          <a:prstGeom prst="ellipse">
            <a:avLst/>
          </a:prstGeom>
          <a:solidFill>
            <a:schemeClr val="bg2"/>
          </a:solidFill>
          <a:ln w="9525">
            <a:solidFill>
              <a:schemeClr val="accent6"/>
            </a:solidFill>
            <a:prstDash val="solid"/>
          </a:ln>
        </p:spPr>
      </p:sp>
      <p:sp>
        <p:nvSpPr>
          <p:cNvPr id="12" name="Text 9"/>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13" name="Card" descr="preencoded.png">    </p:cNvPr>
          <p:cNvPicPr>
            <a:picLocks noChangeAspect="1"/>
          </p:cNvPicPr>
          <p:nvPr/>
        </p:nvPicPr>
        <p:blipFill>
          <a:blip r:embed="rId2"/>
          <a:stretch>
            <a:fillRect/>
          </a:stretch>
        </p:blipFill>
        <p:spPr>
          <a:xfrm>
            <a:off x="356616" y="1682496"/>
            <a:ext cx="3584448" cy="2761488"/>
          </a:xfrm>
          <a:prstGeom prst="rect">
            <a:avLst/>
          </a:prstGeom>
        </p:spPr>
      </p:pic>
      <p:sp>
        <p:nvSpPr>
          <p:cNvPr id="14" name="Text 10"/>
          <p:cNvSpPr txBox="1"/>
          <p:nvPr/>
        </p:nvSpPr>
        <p:spPr>
          <a:xfrm>
            <a:off x="777240" y="2057400"/>
            <a:ext cx="1097280" cy="960120"/>
          </a:xfrm>
          <a:prstGeom prst="rect">
            <a:avLst/>
          </a:prstGeom>
          <a:noFill/>
          <a:ln/>
        </p:spPr>
        <p:txBody>
          <a:bodyPr wrap="square" lIns="0" tIns="0" rIns="0" bIns="0" rtlCol="0" anchor="ctr"/>
          <a:lstStyle/>
          <a:p>
            <a:pPr indent="0" marL="0">
              <a:buNone/>
            </a:pPr>
            <a:r>
              <a:rPr lang="en-US" sz="6400" b="1" dirty="0">
                <a:solidFill>
                  <a:schemeClr val="accent1"/>
                </a:solidFill>
                <a:latin typeface="Arial" pitchFamily="34" charset="0"/>
                <a:ea typeface="Arial" pitchFamily="34" charset="-122"/>
                <a:cs typeface="Arial" pitchFamily="34" charset="-120"/>
              </a:rPr>
              <a:t>C</a:t>
            </a:r>
            <a:endParaRPr lang="en-US" sz="6400" dirty="0"/>
          </a:p>
        </p:txBody>
      </p:sp>
      <p:pic>
        <p:nvPicPr>
          <p:cNvPr id="15" name="Badge" descr="preencoded.png">    </p:cNvPr>
          <p:cNvPicPr>
            <a:picLocks noChangeAspect="1"/>
          </p:cNvPicPr>
          <p:nvPr/>
        </p:nvPicPr>
        <p:blipFill>
          <a:blip r:embed="rId3"/>
          <a:stretch>
            <a:fillRect/>
          </a:stretch>
        </p:blipFill>
        <p:spPr>
          <a:xfrm>
            <a:off x="3017520" y="2148840"/>
            <a:ext cx="502920" cy="502920"/>
          </a:xfrm>
          <a:prstGeom prst="rect">
            <a:avLst/>
          </a:prstGeom>
        </p:spPr>
      </p:pic>
      <p:sp>
        <p:nvSpPr>
          <p:cNvPr id="16" name="Text 11"/>
          <p:cNvSpPr txBox="1"/>
          <p:nvPr/>
        </p:nvSpPr>
        <p:spPr>
          <a:xfrm>
            <a:off x="777240" y="3154680"/>
            <a:ext cx="2743200" cy="384048"/>
          </a:xfrm>
          <a:prstGeom prst="rect">
            <a:avLst/>
          </a:prstGeom>
          <a:noFill/>
          <a:ln/>
        </p:spPr>
        <p:txBody>
          <a:bodyPr wrap="square" lIns="0" tIns="0" rIns="0" bIns="0" rtlCol="0" anchor="t"/>
          <a:lstStyle/>
          <a:p>
            <a:pPr indent="0" marL="0">
              <a:buNone/>
            </a:pPr>
            <a:r>
              <a:rPr lang="en-US" sz="1900" b="1" dirty="0">
                <a:solidFill>
                  <a:schemeClr val="tx1"/>
                </a:solidFill>
              </a:rPr>
              <a:t>Current System</a:t>
            </a:r>
            <a:endParaRPr lang="en-US" sz="1900" dirty="0"/>
          </a:p>
        </p:txBody>
      </p:sp>
      <p:sp>
        <p:nvSpPr>
          <p:cNvPr id="17" name="Text 12"/>
          <p:cNvSpPr txBox="1"/>
          <p:nvPr/>
        </p:nvSpPr>
        <p:spPr>
          <a:xfrm>
            <a:off x="777240" y="3566160"/>
            <a:ext cx="2743200" cy="548640"/>
          </a:xfrm>
          <a:prstGeom prst="rect">
            <a:avLst/>
          </a:prstGeom>
          <a:noFill/>
          <a:ln/>
        </p:spPr>
        <p:txBody>
          <a:bodyPr wrap="square" lIns="0" tIns="0" rIns="0" bIns="0" rtlCol="0" anchor="t"/>
          <a:lstStyle/>
          <a:p>
            <a:pPr indent="0" marL="0">
              <a:buNone/>
            </a:pPr>
            <a:r>
              <a:rPr lang="en-US" sz="1400" dirty="0">
                <a:solidFill>
                  <a:schemeClr val="accent5"/>
                </a:solidFill>
              </a:rPr>
              <a:t>Existing data landscape &amp; flows</a:t>
            </a:r>
            <a:endParaRPr lang="en-US" sz="1400" dirty="0"/>
          </a:p>
        </p:txBody>
      </p:sp>
      <p:pic>
        <p:nvPicPr>
          <p:cNvPr id="18" name="Icon" descr="preencoded.png">    </p:cNvPr>
          <p:cNvPicPr>
            <a:picLocks noChangeAspect="1"/>
          </p:cNvPicPr>
          <p:nvPr/>
        </p:nvPicPr>
        <p:blipFill>
          <a:blip r:embed="rId4"/>
          <a:stretch>
            <a:fillRect/>
          </a:stretch>
        </p:blipFill>
        <p:spPr>
          <a:xfrm>
            <a:off x="3904488" y="2880360"/>
            <a:ext cx="347472" cy="347472"/>
          </a:xfrm>
          <a:prstGeom prst="rect">
            <a:avLst/>
          </a:prstGeom>
        </p:spPr>
      </p:pic>
      <p:pic>
        <p:nvPicPr>
          <p:cNvPr id="19" name="Card" descr="preencoded.png">    </p:cNvPr>
          <p:cNvPicPr>
            <a:picLocks noChangeAspect="1"/>
          </p:cNvPicPr>
          <p:nvPr/>
        </p:nvPicPr>
        <p:blipFill>
          <a:blip r:embed="rId5"/>
          <a:stretch>
            <a:fillRect/>
          </a:stretch>
        </p:blipFill>
        <p:spPr>
          <a:xfrm>
            <a:off x="4224528" y="1682496"/>
            <a:ext cx="3749040" cy="1463040"/>
          </a:xfrm>
          <a:prstGeom prst="rect">
            <a:avLst/>
          </a:prstGeom>
        </p:spPr>
      </p:pic>
      <p:sp>
        <p:nvSpPr>
          <p:cNvPr id="20" name="Text 13"/>
          <p:cNvSpPr txBox="1"/>
          <p:nvPr/>
        </p:nvSpPr>
        <p:spPr>
          <a:xfrm>
            <a:off x="4572000" y="2002536"/>
            <a:ext cx="640080" cy="8229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L</a:t>
            </a:r>
            <a:endParaRPr lang="en-US" sz="4400" dirty="0"/>
          </a:p>
        </p:txBody>
      </p:sp>
      <p:sp>
        <p:nvSpPr>
          <p:cNvPr id="21" name="Text 14"/>
          <p:cNvSpPr txBox="1"/>
          <p:nvPr/>
        </p:nvSpPr>
        <p:spPr>
          <a:xfrm>
            <a:off x="5303520" y="2002536"/>
            <a:ext cx="1828800" cy="822960"/>
          </a:xfrm>
          <a:prstGeom prst="rect">
            <a:avLst/>
          </a:prstGeom>
          <a:noFill/>
          <a:ln/>
        </p:spPr>
        <p:txBody>
          <a:bodyPr wrap="square" lIns="0" tIns="0" rIns="0" bIns="0" rtlCol="0" anchor="ctr"/>
          <a:lstStyle/>
          <a:p>
            <a:pPr indent="0" marL="0">
              <a:buNone/>
            </a:pPr>
            <a:r>
              <a:rPr lang="en-US" sz="1800" b="1" dirty="0">
                <a:solidFill>
                  <a:schemeClr val="tx1"/>
                </a:solidFill>
              </a:rPr>
              <a:t>Like</a:t>
            </a:r>
            <a:endParaRPr lang="en-US" sz="1400" dirty="0"/>
          </a:p>
          <a:p>
            <a:pPr indent="0" marL="0">
              <a:buNone/>
            </a:pPr>
            <a:r>
              <a:rPr lang="en-US" sz="1400" dirty="0">
                <a:solidFill>
                  <a:schemeClr val="accent5"/>
                </a:solidFill>
              </a:rPr>
              <a:t>What works &amp; stays</a:t>
            </a:r>
            <a:endParaRPr lang="en-US" sz="1400" dirty="0"/>
          </a:p>
        </p:txBody>
      </p:sp>
      <p:pic>
        <p:nvPicPr>
          <p:cNvPr id="22" name="Badge" descr="preencoded.png">    </p:cNvPr>
          <p:cNvPicPr>
            <a:picLocks noChangeAspect="1"/>
          </p:cNvPicPr>
          <p:nvPr/>
        </p:nvPicPr>
        <p:blipFill>
          <a:blip r:embed="rId6"/>
          <a:stretch>
            <a:fillRect/>
          </a:stretch>
        </p:blipFill>
        <p:spPr>
          <a:xfrm>
            <a:off x="7178040" y="2185416"/>
            <a:ext cx="457200" cy="457200"/>
          </a:xfrm>
          <a:prstGeom prst="rect">
            <a:avLst/>
          </a:prstGeom>
        </p:spPr>
      </p:pic>
      <p:pic>
        <p:nvPicPr>
          <p:cNvPr id="23" name="Card" descr="preencoded.png">    </p:cNvPr>
          <p:cNvPicPr>
            <a:picLocks noChangeAspect="1"/>
          </p:cNvPicPr>
          <p:nvPr/>
        </p:nvPicPr>
        <p:blipFill>
          <a:blip r:embed="rId7"/>
          <a:stretch>
            <a:fillRect/>
          </a:stretch>
        </p:blipFill>
        <p:spPr>
          <a:xfrm>
            <a:off x="4224528" y="2980944"/>
            <a:ext cx="3749040" cy="1463040"/>
          </a:xfrm>
          <a:prstGeom prst="rect">
            <a:avLst/>
          </a:prstGeom>
        </p:spPr>
      </p:pic>
      <p:sp>
        <p:nvSpPr>
          <p:cNvPr id="24" name="Text 15"/>
          <p:cNvSpPr txBox="1"/>
          <p:nvPr/>
        </p:nvSpPr>
        <p:spPr>
          <a:xfrm>
            <a:off x="4572000" y="3300984"/>
            <a:ext cx="640080" cy="8229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A</a:t>
            </a:r>
            <a:endParaRPr lang="en-US" sz="4400" dirty="0"/>
          </a:p>
        </p:txBody>
      </p:sp>
      <p:sp>
        <p:nvSpPr>
          <p:cNvPr id="25" name="Text 16"/>
          <p:cNvSpPr txBox="1"/>
          <p:nvPr/>
        </p:nvSpPr>
        <p:spPr>
          <a:xfrm>
            <a:off x="5303520" y="3300984"/>
            <a:ext cx="1828800" cy="822960"/>
          </a:xfrm>
          <a:prstGeom prst="rect">
            <a:avLst/>
          </a:prstGeom>
          <a:noFill/>
          <a:ln/>
        </p:spPr>
        <p:txBody>
          <a:bodyPr wrap="square" lIns="0" tIns="0" rIns="0" bIns="0" rtlCol="0" anchor="ctr"/>
          <a:lstStyle/>
          <a:p>
            <a:pPr indent="0" marL="0">
              <a:buNone/>
            </a:pPr>
            <a:r>
              <a:rPr lang="en-US" sz="1800" b="1" dirty="0">
                <a:solidFill>
                  <a:schemeClr val="tx1"/>
                </a:solidFill>
              </a:rPr>
              <a:t>Alter</a:t>
            </a:r>
            <a:endParaRPr lang="en-US" sz="1400" dirty="0"/>
          </a:p>
          <a:p>
            <a:pPr indent="0" marL="0">
              <a:buNone/>
            </a:pPr>
            <a:r>
              <a:rPr lang="en-US" sz="1400" dirty="0">
                <a:solidFill>
                  <a:schemeClr val="accent5"/>
                </a:solidFill>
              </a:rPr>
              <a:t>What must change</a:t>
            </a:r>
            <a:endParaRPr lang="en-US" sz="1400" dirty="0"/>
          </a:p>
        </p:txBody>
      </p:sp>
      <p:pic>
        <p:nvPicPr>
          <p:cNvPr id="26" name="Badge" descr="preencoded.png">    </p:cNvPr>
          <p:cNvPicPr>
            <a:picLocks noChangeAspect="1"/>
          </p:cNvPicPr>
          <p:nvPr/>
        </p:nvPicPr>
        <p:blipFill>
          <a:blip r:embed="rId8"/>
          <a:stretch>
            <a:fillRect/>
          </a:stretch>
        </p:blipFill>
        <p:spPr>
          <a:xfrm>
            <a:off x="7178040" y="3483864"/>
            <a:ext cx="457200" cy="457200"/>
          </a:xfrm>
          <a:prstGeom prst="rect">
            <a:avLst/>
          </a:prstGeom>
        </p:spPr>
      </p:pic>
      <p:pic>
        <p:nvPicPr>
          <p:cNvPr id="27" name="Icon" descr="preencoded.png">    </p:cNvPr>
          <p:cNvPicPr>
            <a:picLocks noChangeAspect="1"/>
          </p:cNvPicPr>
          <p:nvPr/>
        </p:nvPicPr>
        <p:blipFill>
          <a:blip r:embed="rId9"/>
          <a:stretch>
            <a:fillRect/>
          </a:stretch>
        </p:blipFill>
        <p:spPr>
          <a:xfrm>
            <a:off x="7973568" y="2880360"/>
            <a:ext cx="347472" cy="347472"/>
          </a:xfrm>
          <a:prstGeom prst="rect">
            <a:avLst/>
          </a:prstGeom>
        </p:spPr>
      </p:pic>
      <p:pic>
        <p:nvPicPr>
          <p:cNvPr id="28" name="Card" descr="preencoded.png">    </p:cNvPr>
          <p:cNvPicPr>
            <a:picLocks noChangeAspect="1"/>
          </p:cNvPicPr>
          <p:nvPr/>
        </p:nvPicPr>
        <p:blipFill>
          <a:blip r:embed="rId10"/>
          <a:stretch>
            <a:fillRect/>
          </a:stretch>
        </p:blipFill>
        <p:spPr>
          <a:xfrm>
            <a:off x="8293608" y="1682496"/>
            <a:ext cx="3584448" cy="2761488"/>
          </a:xfrm>
          <a:prstGeom prst="rect">
            <a:avLst/>
          </a:prstGeom>
        </p:spPr>
      </p:pic>
      <p:sp>
        <p:nvSpPr>
          <p:cNvPr id="29" name="Text 17"/>
          <p:cNvSpPr txBox="1"/>
          <p:nvPr/>
        </p:nvSpPr>
        <p:spPr>
          <a:xfrm>
            <a:off x="8714232" y="2057400"/>
            <a:ext cx="1097280" cy="960120"/>
          </a:xfrm>
          <a:prstGeom prst="rect">
            <a:avLst/>
          </a:prstGeom>
          <a:noFill/>
          <a:ln/>
        </p:spPr>
        <p:txBody>
          <a:bodyPr wrap="square" lIns="0" tIns="0" rIns="0" bIns="0" rtlCol="0" anchor="ctr"/>
          <a:lstStyle/>
          <a:p>
            <a:pPr indent="0" marL="0">
              <a:buNone/>
            </a:pPr>
            <a:r>
              <a:rPr lang="en-US" sz="6400" b="1" dirty="0">
                <a:solidFill>
                  <a:schemeClr val="accent1"/>
                </a:solidFill>
                <a:latin typeface="Arial" pitchFamily="34" charset="0"/>
                <a:ea typeface="Arial" pitchFamily="34" charset="-122"/>
                <a:cs typeface="Arial" pitchFamily="34" charset="-120"/>
              </a:rPr>
              <a:t>S</a:t>
            </a:r>
            <a:endParaRPr lang="en-US" sz="6400" dirty="0"/>
          </a:p>
        </p:txBody>
      </p:sp>
      <p:pic>
        <p:nvPicPr>
          <p:cNvPr id="30" name="Badge" descr="preencoded.png">    </p:cNvPr>
          <p:cNvPicPr>
            <a:picLocks noChangeAspect="1"/>
          </p:cNvPicPr>
          <p:nvPr/>
        </p:nvPicPr>
        <p:blipFill>
          <a:blip r:embed="rId11"/>
          <a:stretch>
            <a:fillRect/>
          </a:stretch>
        </p:blipFill>
        <p:spPr>
          <a:xfrm>
            <a:off x="10954512" y="2148840"/>
            <a:ext cx="502920" cy="502920"/>
          </a:xfrm>
          <a:prstGeom prst="rect">
            <a:avLst/>
          </a:prstGeom>
        </p:spPr>
      </p:pic>
      <p:sp>
        <p:nvSpPr>
          <p:cNvPr id="31" name="Text 18"/>
          <p:cNvSpPr txBox="1"/>
          <p:nvPr/>
        </p:nvSpPr>
        <p:spPr>
          <a:xfrm>
            <a:off x="8714232" y="3154680"/>
            <a:ext cx="2743200" cy="384048"/>
          </a:xfrm>
          <a:prstGeom prst="rect">
            <a:avLst/>
          </a:prstGeom>
          <a:noFill/>
          <a:ln/>
        </p:spPr>
        <p:txBody>
          <a:bodyPr wrap="square" lIns="0" tIns="0" rIns="0" bIns="0" rtlCol="0" anchor="t"/>
          <a:lstStyle/>
          <a:p>
            <a:pPr indent="0" marL="0">
              <a:buNone/>
            </a:pPr>
            <a:r>
              <a:rPr lang="en-US" sz="1900" b="1" dirty="0">
                <a:solidFill>
                  <a:schemeClr val="tx1"/>
                </a:solidFill>
              </a:rPr>
              <a:t>Success</a:t>
            </a:r>
            <a:endParaRPr lang="en-US" sz="1900" dirty="0"/>
          </a:p>
        </p:txBody>
      </p:sp>
      <p:sp>
        <p:nvSpPr>
          <p:cNvPr id="32" name="Text 19"/>
          <p:cNvSpPr txBox="1"/>
          <p:nvPr/>
        </p:nvSpPr>
        <p:spPr>
          <a:xfrm>
            <a:off x="8714232" y="3566160"/>
            <a:ext cx="2743200" cy="548640"/>
          </a:xfrm>
          <a:prstGeom prst="rect">
            <a:avLst/>
          </a:prstGeom>
          <a:noFill/>
          <a:ln/>
        </p:spPr>
        <p:txBody>
          <a:bodyPr wrap="square" lIns="0" tIns="0" rIns="0" bIns="0" rtlCol="0" anchor="t"/>
          <a:lstStyle/>
          <a:p>
            <a:pPr indent="0" marL="0">
              <a:buNone/>
            </a:pPr>
            <a:r>
              <a:rPr lang="en-US" sz="1400" dirty="0">
                <a:solidFill>
                  <a:schemeClr val="accent5"/>
                </a:solidFill>
              </a:rPr>
              <a:t>Business outcomes, defined value</a:t>
            </a:r>
            <a:endParaRPr lang="en-US" sz="1400" dirty="0"/>
          </a:p>
        </p:txBody>
      </p:sp>
      <p:pic>
        <p:nvPicPr>
          <p:cNvPr id="33" name="Card" descr="preencoded.png">    </p:cNvPr>
          <p:cNvPicPr>
            <a:picLocks noChangeAspect="1"/>
          </p:cNvPicPr>
          <p:nvPr/>
        </p:nvPicPr>
        <p:blipFill>
          <a:blip r:embed="rId12"/>
          <a:stretch>
            <a:fillRect/>
          </a:stretch>
        </p:blipFill>
        <p:spPr>
          <a:xfrm>
            <a:off x="356616" y="4379976"/>
            <a:ext cx="11478463" cy="1938528"/>
          </a:xfrm>
          <a:prstGeom prst="rect">
            <a:avLst/>
          </a:prstGeom>
        </p:spPr>
      </p:pic>
      <p:sp>
        <p:nvSpPr>
          <p:cNvPr id="34" name="Text 20"/>
          <p:cNvSpPr txBox="1"/>
          <p:nvPr/>
        </p:nvSpPr>
        <p:spPr>
          <a:xfrm>
            <a:off x="868680" y="4800600"/>
            <a:ext cx="914400" cy="1097280"/>
          </a:xfrm>
          <a:prstGeom prst="rect">
            <a:avLst/>
          </a:prstGeom>
          <a:noFill/>
          <a:ln/>
        </p:spPr>
        <p:txBody>
          <a:bodyPr wrap="square" lIns="0" tIns="0" rIns="0" bIns="0" rtlCol="0" anchor="ctr"/>
          <a:lstStyle/>
          <a:p>
            <a:pPr indent="0" marL="0">
              <a:buNone/>
            </a:pPr>
            <a:r>
              <a:rPr lang="en-US" sz="8000" b="1" dirty="0">
                <a:solidFill>
                  <a:schemeClr val="accent1"/>
                </a:solidFill>
                <a:latin typeface="Arial" pitchFamily="34" charset="0"/>
                <a:ea typeface="Arial" pitchFamily="34" charset="-122"/>
                <a:cs typeface="Arial" pitchFamily="34" charset="-120"/>
              </a:rPr>
              <a:t>P</a:t>
            </a:r>
            <a:endParaRPr lang="en-US" sz="8000" dirty="0"/>
          </a:p>
        </p:txBody>
      </p:sp>
      <p:sp>
        <p:nvSpPr>
          <p:cNvPr id="35" name="Text 21"/>
          <p:cNvSpPr txBox="1"/>
          <p:nvPr/>
        </p:nvSpPr>
        <p:spPr>
          <a:xfrm>
            <a:off x="1965960" y="4800600"/>
            <a:ext cx="6400800" cy="1097280"/>
          </a:xfrm>
          <a:prstGeom prst="rect">
            <a:avLst/>
          </a:prstGeom>
          <a:noFill/>
          <a:ln/>
        </p:spPr>
        <p:txBody>
          <a:bodyPr wrap="square" lIns="0" tIns="0" rIns="0" bIns="0" rtlCol="0" anchor="ctr"/>
          <a:lstStyle/>
          <a:p>
            <a:pPr indent="0" marL="0">
              <a:buNone/>
            </a:pPr>
            <a:r>
              <a:rPr lang="en-US" sz="2400" b="1" spc="300" kern="0" dirty="0">
                <a:solidFill>
                  <a:schemeClr val="bg1"/>
                </a:solidFill>
                <a:latin typeface="Arial" pitchFamily="34" charset="0"/>
                <a:ea typeface="Arial" pitchFamily="34" charset="-122"/>
                <a:cs typeface="Arial" pitchFamily="34" charset="-120"/>
              </a:rPr>
              <a:t>PAINT THE PICTURE</a:t>
            </a:r>
            <a:endParaRPr lang="en-US" sz="1400" dirty="0"/>
          </a:p>
          <a:p>
            <a:pPr indent="0" marL="0">
              <a:buNone/>
            </a:pPr>
            <a:r>
              <a:rPr lang="en-US" sz="1700" dirty="0">
                <a:solidFill>
                  <a:schemeClr val="accent3"/>
                </a:solidFill>
                <a:latin typeface="Arial" pitchFamily="34" charset="0"/>
                <a:ea typeface="Arial" pitchFamily="34" charset="-122"/>
                <a:cs typeface="Arial" pitchFamily="34" charset="-120"/>
              </a:rPr>
              <a:t>Clear execution blueprint and priorities</a:t>
            </a:r>
            <a:endParaRPr lang="en-US" sz="1400" dirty="0"/>
          </a:p>
        </p:txBody>
      </p:sp>
      <p:pic>
        <p:nvPicPr>
          <p:cNvPr id="36" name="Badge" descr="preencoded.png">    </p:cNvPr>
          <p:cNvPicPr>
            <a:picLocks noChangeAspect="1"/>
          </p:cNvPicPr>
          <p:nvPr/>
        </p:nvPicPr>
        <p:blipFill>
          <a:blip r:embed="rId13"/>
          <a:stretch>
            <a:fillRect/>
          </a:stretch>
        </p:blipFill>
        <p:spPr>
          <a:xfrm>
            <a:off x="10408615" y="4892040"/>
            <a:ext cx="914400" cy="914400"/>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Business Outcomes First, Technology Second</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 – APPROACH</a:t>
            </a:r>
            <a:endParaRPr lang="en-US" sz="11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500" dirty="0">
                <a:solidFill>
                  <a:schemeClr val="accent5"/>
                </a:solidFill>
              </a:rPr>
              <a:t>A five-step path from business objectives to solutions that scale.</a:t>
            </a:r>
            <a:endParaRPr lang="en-US" sz="1500" dirty="0"/>
          </a:p>
        </p:txBody>
      </p:sp>
      <p:sp>
        <p:nvSpPr>
          <p:cNvPr id="5" name="TrackDot"/>
          <p:cNvSpPr/>
          <p:nvPr/>
        </p:nvSpPr>
        <p:spPr>
          <a:xfrm>
            <a:off x="8366760" y="329184"/>
            <a:ext cx="310896" cy="310896"/>
          </a:xfrm>
          <a:prstGeom prst="ellipse">
            <a:avLst/>
          </a:prstGeom>
          <a:solidFill>
            <a:schemeClr val="bg2"/>
          </a:solidFill>
          <a:ln w="9525">
            <a:solidFill>
              <a:schemeClr val="accent6"/>
            </a:solidFill>
            <a:prstDash val="solid"/>
          </a:ln>
        </p:spPr>
      </p:sp>
      <p:sp>
        <p:nvSpPr>
          <p:cNvPr id="6" name="Text 4"/>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pic>
        <p:nvPicPr>
          <p:cNvPr id="7" name="NumBadge" descr="preencoded.png">    </p:cNvPr>
          <p:cNvPicPr>
            <a:picLocks noChangeAspect="1"/>
          </p:cNvPicPr>
          <p:nvPr/>
        </p:nvPicPr>
        <p:blipFill>
          <a:blip r:embed="rId1"/>
          <a:stretch>
            <a:fillRect/>
          </a:stretch>
        </p:blipFill>
        <p:spPr>
          <a:xfrm>
            <a:off x="8750808" y="329184"/>
            <a:ext cx="310896" cy="310896"/>
          </a:xfrm>
          <a:prstGeom prst="rect">
            <a:avLst/>
          </a:prstGeom>
        </p:spPr>
      </p:pic>
      <p:sp>
        <p:nvSpPr>
          <p:cNvPr id="8" name="Text 5"/>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a:t>
            </a:r>
            <a:endParaRPr lang="en-US" sz="1100" dirty="0"/>
          </a:p>
        </p:txBody>
      </p:sp>
      <p:sp>
        <p:nvSpPr>
          <p:cNvPr id="9" name="TrackDot"/>
          <p:cNvSpPr/>
          <p:nvPr/>
        </p:nvSpPr>
        <p:spPr>
          <a:xfrm>
            <a:off x="9134856" y="329184"/>
            <a:ext cx="310896" cy="310896"/>
          </a:xfrm>
          <a:prstGeom prst="ellipse">
            <a:avLst/>
          </a:prstGeom>
          <a:solidFill>
            <a:schemeClr val="bg2"/>
          </a:solidFill>
          <a:ln w="9525">
            <a:solidFill>
              <a:schemeClr val="accent6"/>
            </a:solidFill>
            <a:prstDash val="solid"/>
          </a:ln>
        </p:spPr>
      </p:sp>
      <p:sp>
        <p:nvSpPr>
          <p:cNvPr id="10" name="Text 7"/>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sp>
        <p:nvSpPr>
          <p:cNvPr id="11" name="TrackDot"/>
          <p:cNvSpPr/>
          <p:nvPr/>
        </p:nvSpPr>
        <p:spPr>
          <a:xfrm>
            <a:off x="9518904" y="329184"/>
            <a:ext cx="310896" cy="310896"/>
          </a:xfrm>
          <a:prstGeom prst="ellipse">
            <a:avLst/>
          </a:prstGeom>
          <a:solidFill>
            <a:schemeClr val="bg2"/>
          </a:solidFill>
          <a:ln w="9525">
            <a:solidFill>
              <a:schemeClr val="accent6"/>
            </a:solidFill>
            <a:prstDash val="solid"/>
          </a:ln>
        </p:spPr>
      </p:sp>
      <p:sp>
        <p:nvSpPr>
          <p:cNvPr id="12" name="Text 9"/>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13" name="Track"/>
          <p:cNvSpPr/>
          <p:nvPr/>
        </p:nvSpPr>
        <p:spPr>
          <a:xfrm>
            <a:off x="1545336" y="2560320"/>
            <a:ext cx="8997696" cy="0"/>
          </a:xfrm>
          <a:prstGeom prst="line">
            <a:avLst/>
          </a:prstGeom>
          <a:noFill/>
          <a:ln w="25400">
            <a:solidFill>
              <a:schemeClr val="accent1"/>
            </a:solidFill>
            <a:prstDash val="dash"/>
          </a:ln>
        </p:spPr>
      </p:sp>
      <p:pic>
        <p:nvPicPr>
          <p:cNvPr id="14" name="NumBadge" descr="preencoded.png">    </p:cNvPr>
          <p:cNvPicPr>
            <a:picLocks noChangeAspect="1"/>
          </p:cNvPicPr>
          <p:nvPr/>
        </p:nvPicPr>
        <p:blipFill>
          <a:blip r:embed="rId2"/>
          <a:stretch>
            <a:fillRect/>
          </a:stretch>
        </p:blipFill>
        <p:spPr>
          <a:xfrm>
            <a:off x="1042416" y="2057400"/>
            <a:ext cx="1005840" cy="1005840"/>
          </a:xfrm>
          <a:prstGeom prst="rect">
            <a:avLst/>
          </a:prstGeom>
        </p:spPr>
      </p:pic>
      <p:sp>
        <p:nvSpPr>
          <p:cNvPr id="15" name="Text 11"/>
          <p:cNvSpPr txBox="1"/>
          <p:nvPr/>
        </p:nvSpPr>
        <p:spPr>
          <a:xfrm>
            <a:off x="1042416"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01</a:t>
            </a:r>
            <a:endParaRPr lang="en-US" sz="2800" dirty="0"/>
          </a:p>
        </p:txBody>
      </p:sp>
      <p:pic>
        <p:nvPicPr>
          <p:cNvPr id="16" name="Card" descr="preencoded.png">    </p:cNvPr>
          <p:cNvPicPr>
            <a:picLocks noChangeAspect="1"/>
          </p:cNvPicPr>
          <p:nvPr/>
        </p:nvPicPr>
        <p:blipFill>
          <a:blip r:embed="rId3"/>
          <a:stretch>
            <a:fillRect/>
          </a:stretch>
        </p:blipFill>
        <p:spPr>
          <a:xfrm>
            <a:off x="356616" y="3236976"/>
            <a:ext cx="2377440" cy="2990088"/>
          </a:xfrm>
          <a:prstGeom prst="rect">
            <a:avLst/>
          </a:prstGeom>
        </p:spPr>
      </p:pic>
      <p:pic>
        <p:nvPicPr>
          <p:cNvPr id="17" name="Badge" descr="preencoded.png">    </p:cNvPr>
          <p:cNvPicPr>
            <a:picLocks noChangeAspect="1"/>
          </p:cNvPicPr>
          <p:nvPr/>
        </p:nvPicPr>
        <p:blipFill>
          <a:blip r:embed="rId4"/>
          <a:stretch>
            <a:fillRect/>
          </a:stretch>
        </p:blipFill>
        <p:spPr>
          <a:xfrm>
            <a:off x="1179576" y="3703320"/>
            <a:ext cx="731520" cy="731520"/>
          </a:xfrm>
          <a:prstGeom prst="rect">
            <a:avLst/>
          </a:prstGeom>
        </p:spPr>
      </p:pic>
      <p:sp>
        <p:nvSpPr>
          <p:cNvPr id="18" name="Text 12"/>
          <p:cNvSpPr txBox="1"/>
          <p:nvPr/>
        </p:nvSpPr>
        <p:spPr>
          <a:xfrm>
            <a:off x="640080" y="4663440"/>
            <a:ext cx="1810512" cy="914400"/>
          </a:xfrm>
          <a:prstGeom prst="rect">
            <a:avLst/>
          </a:prstGeom>
          <a:noFill/>
          <a:ln/>
        </p:spPr>
        <p:txBody>
          <a:bodyPr wrap="square" lIns="0" tIns="0" rIns="0" bIns="0" rtlCol="0" anchor="ctr"/>
          <a:lstStyle/>
          <a:p>
            <a:pPr algn="ctr" indent="0" marL="0">
              <a:buNone/>
            </a:pPr>
            <a:r>
              <a:rPr lang="en-US" sz="1800" b="1" dirty="0">
                <a:solidFill>
                  <a:schemeClr val="tx1"/>
                </a:solidFill>
              </a:rPr>
              <a:t>Objectives</a:t>
            </a:r>
            <a:endParaRPr lang="en-US" sz="1800" dirty="0"/>
          </a:p>
        </p:txBody>
      </p:sp>
      <p:pic>
        <p:nvPicPr>
          <p:cNvPr id="19" name="NumBadge" descr="preencoded.png">    </p:cNvPr>
          <p:cNvPicPr>
            <a:picLocks noChangeAspect="1"/>
          </p:cNvPicPr>
          <p:nvPr/>
        </p:nvPicPr>
        <p:blipFill>
          <a:blip r:embed="rId5"/>
          <a:stretch>
            <a:fillRect/>
          </a:stretch>
        </p:blipFill>
        <p:spPr>
          <a:xfrm>
            <a:off x="3291840" y="2057400"/>
            <a:ext cx="1005840" cy="1005840"/>
          </a:xfrm>
          <a:prstGeom prst="rect">
            <a:avLst/>
          </a:prstGeom>
        </p:spPr>
      </p:pic>
      <p:sp>
        <p:nvSpPr>
          <p:cNvPr id="20" name="Text 13"/>
          <p:cNvSpPr txBox="1"/>
          <p:nvPr/>
        </p:nvSpPr>
        <p:spPr>
          <a:xfrm>
            <a:off x="3291840"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02</a:t>
            </a:r>
            <a:endParaRPr lang="en-US" sz="2800" dirty="0"/>
          </a:p>
        </p:txBody>
      </p:sp>
      <p:pic>
        <p:nvPicPr>
          <p:cNvPr id="21" name="Card" descr="preencoded.png">    </p:cNvPr>
          <p:cNvPicPr>
            <a:picLocks noChangeAspect="1"/>
          </p:cNvPicPr>
          <p:nvPr/>
        </p:nvPicPr>
        <p:blipFill>
          <a:blip r:embed="rId6"/>
          <a:stretch>
            <a:fillRect/>
          </a:stretch>
        </p:blipFill>
        <p:spPr>
          <a:xfrm>
            <a:off x="2606040" y="3236976"/>
            <a:ext cx="2377440" cy="2990088"/>
          </a:xfrm>
          <a:prstGeom prst="rect">
            <a:avLst/>
          </a:prstGeom>
        </p:spPr>
      </p:pic>
      <p:pic>
        <p:nvPicPr>
          <p:cNvPr id="22" name="Badge" descr="preencoded.png">    </p:cNvPr>
          <p:cNvPicPr>
            <a:picLocks noChangeAspect="1"/>
          </p:cNvPicPr>
          <p:nvPr/>
        </p:nvPicPr>
        <p:blipFill>
          <a:blip r:embed="rId7"/>
          <a:stretch>
            <a:fillRect/>
          </a:stretch>
        </p:blipFill>
        <p:spPr>
          <a:xfrm>
            <a:off x="3429000" y="3703320"/>
            <a:ext cx="731520" cy="731520"/>
          </a:xfrm>
          <a:prstGeom prst="rect">
            <a:avLst/>
          </a:prstGeom>
        </p:spPr>
      </p:pic>
      <p:sp>
        <p:nvSpPr>
          <p:cNvPr id="23" name="Text 14"/>
          <p:cNvSpPr txBox="1"/>
          <p:nvPr/>
        </p:nvSpPr>
        <p:spPr>
          <a:xfrm>
            <a:off x="2889504" y="4663440"/>
            <a:ext cx="1810512" cy="914400"/>
          </a:xfrm>
          <a:prstGeom prst="rect">
            <a:avLst/>
          </a:prstGeom>
          <a:noFill/>
          <a:ln/>
        </p:spPr>
        <p:txBody>
          <a:bodyPr wrap="square" lIns="0" tIns="0" rIns="0" bIns="0" rtlCol="0" anchor="ctr"/>
          <a:lstStyle/>
          <a:p>
            <a:pPr algn="ctr" indent="0" marL="0">
              <a:buNone/>
            </a:pPr>
            <a:r>
              <a:rPr lang="en-US" sz="1800" b="1" dirty="0">
                <a:solidFill>
                  <a:schemeClr val="tx1"/>
                </a:solidFill>
              </a:rPr>
              <a:t>Constraints</a:t>
            </a:r>
            <a:endParaRPr lang="en-US" sz="1800" dirty="0"/>
          </a:p>
        </p:txBody>
      </p:sp>
      <p:pic>
        <p:nvPicPr>
          <p:cNvPr id="24" name="NumBadge" descr="preencoded.png">    </p:cNvPr>
          <p:cNvPicPr>
            <a:picLocks noChangeAspect="1"/>
          </p:cNvPicPr>
          <p:nvPr/>
        </p:nvPicPr>
        <p:blipFill>
          <a:blip r:embed="rId8"/>
          <a:stretch>
            <a:fillRect/>
          </a:stretch>
        </p:blipFill>
        <p:spPr>
          <a:xfrm>
            <a:off x="5541264" y="2057400"/>
            <a:ext cx="1005840" cy="1005840"/>
          </a:xfrm>
          <a:prstGeom prst="rect">
            <a:avLst/>
          </a:prstGeom>
        </p:spPr>
      </p:pic>
      <p:sp>
        <p:nvSpPr>
          <p:cNvPr id="25" name="Text 15"/>
          <p:cNvSpPr txBox="1"/>
          <p:nvPr/>
        </p:nvSpPr>
        <p:spPr>
          <a:xfrm>
            <a:off x="5541264"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03</a:t>
            </a:r>
            <a:endParaRPr lang="en-US" sz="2800" dirty="0"/>
          </a:p>
        </p:txBody>
      </p:sp>
      <p:pic>
        <p:nvPicPr>
          <p:cNvPr id="26" name="Card" descr="preencoded.png">    </p:cNvPr>
          <p:cNvPicPr>
            <a:picLocks noChangeAspect="1"/>
          </p:cNvPicPr>
          <p:nvPr/>
        </p:nvPicPr>
        <p:blipFill>
          <a:blip r:embed="rId9"/>
          <a:stretch>
            <a:fillRect/>
          </a:stretch>
        </p:blipFill>
        <p:spPr>
          <a:xfrm>
            <a:off x="4855464" y="3236976"/>
            <a:ext cx="2377440" cy="2990088"/>
          </a:xfrm>
          <a:prstGeom prst="rect">
            <a:avLst/>
          </a:prstGeom>
        </p:spPr>
      </p:pic>
      <p:pic>
        <p:nvPicPr>
          <p:cNvPr id="27" name="Badge" descr="preencoded.png">    </p:cNvPr>
          <p:cNvPicPr>
            <a:picLocks noChangeAspect="1"/>
          </p:cNvPicPr>
          <p:nvPr/>
        </p:nvPicPr>
        <p:blipFill>
          <a:blip r:embed="rId10"/>
          <a:stretch>
            <a:fillRect/>
          </a:stretch>
        </p:blipFill>
        <p:spPr>
          <a:xfrm>
            <a:off x="5678424" y="3703320"/>
            <a:ext cx="731520" cy="731520"/>
          </a:xfrm>
          <a:prstGeom prst="rect">
            <a:avLst/>
          </a:prstGeom>
        </p:spPr>
      </p:pic>
      <p:sp>
        <p:nvSpPr>
          <p:cNvPr id="28" name="Text 16"/>
          <p:cNvSpPr txBox="1"/>
          <p:nvPr/>
        </p:nvSpPr>
        <p:spPr>
          <a:xfrm>
            <a:off x="5138928" y="4663440"/>
            <a:ext cx="1810512" cy="914400"/>
          </a:xfrm>
          <a:prstGeom prst="rect">
            <a:avLst/>
          </a:prstGeom>
          <a:noFill/>
          <a:ln/>
        </p:spPr>
        <p:txBody>
          <a:bodyPr wrap="square" lIns="0" tIns="0" rIns="0" bIns="0" rtlCol="0" anchor="ctr"/>
          <a:lstStyle/>
          <a:p>
            <a:pPr algn="ctr" indent="0" marL="0">
              <a:buNone/>
            </a:pPr>
            <a:r>
              <a:rPr lang="en-US" sz="1800" b="1" dirty="0">
                <a:solidFill>
                  <a:schemeClr val="tx1"/>
                </a:solidFill>
              </a:rPr>
              <a:t>Transformational Impact</a:t>
            </a:r>
            <a:endParaRPr lang="en-US" sz="1800" dirty="0"/>
          </a:p>
        </p:txBody>
      </p:sp>
      <p:pic>
        <p:nvPicPr>
          <p:cNvPr id="29" name="NumBadge" descr="preencoded.png">    </p:cNvPr>
          <p:cNvPicPr>
            <a:picLocks noChangeAspect="1"/>
          </p:cNvPicPr>
          <p:nvPr/>
        </p:nvPicPr>
        <p:blipFill>
          <a:blip r:embed="rId11"/>
          <a:stretch>
            <a:fillRect/>
          </a:stretch>
        </p:blipFill>
        <p:spPr>
          <a:xfrm>
            <a:off x="7790688" y="2057400"/>
            <a:ext cx="1005840" cy="1005840"/>
          </a:xfrm>
          <a:prstGeom prst="rect">
            <a:avLst/>
          </a:prstGeom>
        </p:spPr>
      </p:pic>
      <p:sp>
        <p:nvSpPr>
          <p:cNvPr id="30" name="Text 17"/>
          <p:cNvSpPr txBox="1"/>
          <p:nvPr/>
        </p:nvSpPr>
        <p:spPr>
          <a:xfrm>
            <a:off x="7790688"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04</a:t>
            </a:r>
            <a:endParaRPr lang="en-US" sz="2800" dirty="0"/>
          </a:p>
        </p:txBody>
      </p:sp>
      <p:pic>
        <p:nvPicPr>
          <p:cNvPr id="31" name="Card" descr="preencoded.png">    </p:cNvPr>
          <p:cNvPicPr>
            <a:picLocks noChangeAspect="1"/>
          </p:cNvPicPr>
          <p:nvPr/>
        </p:nvPicPr>
        <p:blipFill>
          <a:blip r:embed="rId12"/>
          <a:stretch>
            <a:fillRect/>
          </a:stretch>
        </p:blipFill>
        <p:spPr>
          <a:xfrm>
            <a:off x="7104888" y="3236976"/>
            <a:ext cx="2377440" cy="2990088"/>
          </a:xfrm>
          <a:prstGeom prst="rect">
            <a:avLst/>
          </a:prstGeom>
        </p:spPr>
      </p:pic>
      <p:pic>
        <p:nvPicPr>
          <p:cNvPr id="32" name="Badge" descr="preencoded.png">    </p:cNvPr>
          <p:cNvPicPr>
            <a:picLocks noChangeAspect="1"/>
          </p:cNvPicPr>
          <p:nvPr/>
        </p:nvPicPr>
        <p:blipFill>
          <a:blip r:embed="rId13"/>
          <a:stretch>
            <a:fillRect/>
          </a:stretch>
        </p:blipFill>
        <p:spPr>
          <a:xfrm>
            <a:off x="7927848" y="3703320"/>
            <a:ext cx="731520" cy="731520"/>
          </a:xfrm>
          <a:prstGeom prst="rect">
            <a:avLst/>
          </a:prstGeom>
        </p:spPr>
      </p:pic>
      <p:sp>
        <p:nvSpPr>
          <p:cNvPr id="33" name="Text 18"/>
          <p:cNvSpPr txBox="1"/>
          <p:nvPr/>
        </p:nvSpPr>
        <p:spPr>
          <a:xfrm>
            <a:off x="7388352" y="4663440"/>
            <a:ext cx="1810512" cy="914400"/>
          </a:xfrm>
          <a:prstGeom prst="rect">
            <a:avLst/>
          </a:prstGeom>
          <a:noFill/>
          <a:ln/>
        </p:spPr>
        <p:txBody>
          <a:bodyPr wrap="square" lIns="0" tIns="0" rIns="0" bIns="0" rtlCol="0" anchor="ctr"/>
          <a:lstStyle/>
          <a:p>
            <a:pPr algn="ctr" indent="0" marL="0">
              <a:buNone/>
            </a:pPr>
            <a:r>
              <a:rPr lang="en-US" sz="1800" b="1" dirty="0">
                <a:solidFill>
                  <a:schemeClr val="tx1"/>
                </a:solidFill>
              </a:rPr>
              <a:t>Blueprint</a:t>
            </a:r>
            <a:endParaRPr lang="en-US" sz="1800" dirty="0"/>
          </a:p>
        </p:txBody>
      </p:sp>
      <p:pic>
        <p:nvPicPr>
          <p:cNvPr id="34" name="NumBadge" descr="preencoded.png">    </p:cNvPr>
          <p:cNvPicPr>
            <a:picLocks noChangeAspect="1"/>
          </p:cNvPicPr>
          <p:nvPr/>
        </p:nvPicPr>
        <p:blipFill>
          <a:blip r:embed="rId14"/>
          <a:stretch>
            <a:fillRect/>
          </a:stretch>
        </p:blipFill>
        <p:spPr>
          <a:xfrm>
            <a:off x="10040112" y="2057400"/>
            <a:ext cx="1005840" cy="1005840"/>
          </a:xfrm>
          <a:prstGeom prst="rect">
            <a:avLst/>
          </a:prstGeom>
        </p:spPr>
      </p:pic>
      <p:sp>
        <p:nvSpPr>
          <p:cNvPr id="35" name="Text 19"/>
          <p:cNvSpPr txBox="1"/>
          <p:nvPr/>
        </p:nvSpPr>
        <p:spPr>
          <a:xfrm>
            <a:off x="10040112" y="2057400"/>
            <a:ext cx="1005840" cy="1005840"/>
          </a:xfrm>
          <a:prstGeom prst="rect">
            <a:avLst/>
          </a:prstGeom>
          <a:noFill/>
          <a:ln/>
        </p:spPr>
        <p:txBody>
          <a:bodyPr wrap="square" lIns="0" tIns="0" rIns="0" bIns="0" rtlCol="0" anchor="ctr"/>
          <a:lstStyle/>
          <a:p>
            <a:pPr algn="ctr" indent="0" marL="0">
              <a:buNone/>
            </a:pPr>
            <a:r>
              <a:rPr lang="en-US" sz="2800" b="1" dirty="0">
                <a:solidFill>
                  <a:schemeClr val="bg1"/>
                </a:solidFill>
                <a:latin typeface="Arial" pitchFamily="34" charset="0"/>
                <a:ea typeface="Arial" pitchFamily="34" charset="-122"/>
                <a:cs typeface="Arial" pitchFamily="34" charset="-120"/>
              </a:rPr>
              <a:t>05</a:t>
            </a:r>
            <a:endParaRPr lang="en-US" sz="2800" dirty="0"/>
          </a:p>
        </p:txBody>
      </p:sp>
      <p:pic>
        <p:nvPicPr>
          <p:cNvPr id="36" name="Card" descr="preencoded.png">    </p:cNvPr>
          <p:cNvPicPr>
            <a:picLocks noChangeAspect="1"/>
          </p:cNvPicPr>
          <p:nvPr/>
        </p:nvPicPr>
        <p:blipFill>
          <a:blip r:embed="rId15"/>
          <a:stretch>
            <a:fillRect/>
          </a:stretch>
        </p:blipFill>
        <p:spPr>
          <a:xfrm>
            <a:off x="9354312" y="3236976"/>
            <a:ext cx="2377440" cy="2990088"/>
          </a:xfrm>
          <a:prstGeom prst="rect">
            <a:avLst/>
          </a:prstGeom>
        </p:spPr>
      </p:pic>
      <p:pic>
        <p:nvPicPr>
          <p:cNvPr id="37" name="Badge" descr="preencoded.png">    </p:cNvPr>
          <p:cNvPicPr>
            <a:picLocks noChangeAspect="1"/>
          </p:cNvPicPr>
          <p:nvPr/>
        </p:nvPicPr>
        <p:blipFill>
          <a:blip r:embed="rId16"/>
          <a:stretch>
            <a:fillRect/>
          </a:stretch>
        </p:blipFill>
        <p:spPr>
          <a:xfrm>
            <a:off x="10177272" y="3703320"/>
            <a:ext cx="731520" cy="731520"/>
          </a:xfrm>
          <a:prstGeom prst="rect">
            <a:avLst/>
          </a:prstGeom>
        </p:spPr>
      </p:pic>
      <p:sp>
        <p:nvSpPr>
          <p:cNvPr id="38" name="Text 20"/>
          <p:cNvSpPr txBox="1"/>
          <p:nvPr/>
        </p:nvSpPr>
        <p:spPr>
          <a:xfrm>
            <a:off x="9637776" y="4663440"/>
            <a:ext cx="1810512" cy="914400"/>
          </a:xfrm>
          <a:prstGeom prst="rect">
            <a:avLst/>
          </a:prstGeom>
          <a:noFill/>
          <a:ln/>
        </p:spPr>
        <p:txBody>
          <a:bodyPr wrap="square" lIns="0" tIns="0" rIns="0" bIns="0" rtlCol="0" anchor="ctr"/>
          <a:lstStyle/>
          <a:p>
            <a:pPr algn="ctr" indent="0" marL="0">
              <a:buNone/>
            </a:pPr>
            <a:r>
              <a:rPr lang="en-US" sz="1800" b="1" dirty="0">
                <a:solidFill>
                  <a:schemeClr val="bg1"/>
                </a:solidFill>
              </a:rPr>
              <a:t>Build &amp; Scale</a:t>
            </a:r>
            <a:endParaRPr lang="en-US" sz="18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We Work Only with Best-of-Breed Technology Vendors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T – TECHNOLOGY</a:t>
            </a:r>
            <a:endParaRPr lang="en-US" sz="1100" dirty="0"/>
          </a:p>
        </p:txBody>
      </p:sp>
      <p:sp>
        <p:nvSpPr>
          <p:cNvPr id="4" name="TrackDot"/>
          <p:cNvSpPr/>
          <p:nvPr/>
        </p:nvSpPr>
        <p:spPr>
          <a:xfrm>
            <a:off x="8366760" y="329184"/>
            <a:ext cx="310896" cy="310896"/>
          </a:xfrm>
          <a:prstGeom prst="ellipse">
            <a:avLst/>
          </a:prstGeom>
          <a:solidFill>
            <a:schemeClr val="bg2"/>
          </a:solidFill>
          <a:ln w="9525">
            <a:solidFill>
              <a:schemeClr val="accent6"/>
            </a:solidFill>
            <a:prstDash val="solid"/>
          </a:ln>
        </p:spPr>
      </p:sp>
      <p:sp>
        <p:nvSpPr>
          <p:cNvPr id="5" name="Text 3"/>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sp>
        <p:nvSpPr>
          <p:cNvPr id="6" name="TrackDot"/>
          <p:cNvSpPr/>
          <p:nvPr/>
        </p:nvSpPr>
        <p:spPr>
          <a:xfrm>
            <a:off x="8750808" y="329184"/>
            <a:ext cx="310896" cy="310896"/>
          </a:xfrm>
          <a:prstGeom prst="ellipse">
            <a:avLst/>
          </a:prstGeom>
          <a:solidFill>
            <a:schemeClr val="bg2"/>
          </a:solidFill>
          <a:ln w="9525">
            <a:solidFill>
              <a:schemeClr val="accent6"/>
            </a:solidFill>
            <a:prstDash val="solid"/>
          </a:ln>
        </p:spPr>
      </p:sp>
      <p:sp>
        <p:nvSpPr>
          <p:cNvPr id="7" name="Text 5"/>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8" name="NumBadge" descr="preencoded.png">    </p:cNvPr>
          <p:cNvPicPr>
            <a:picLocks noChangeAspect="1"/>
          </p:cNvPicPr>
          <p:nvPr/>
        </p:nvPicPr>
        <p:blipFill>
          <a:blip r:embed="rId1"/>
          <a:stretch>
            <a:fillRect/>
          </a:stretch>
        </p:blipFill>
        <p:spPr>
          <a:xfrm>
            <a:off x="9134856" y="329184"/>
            <a:ext cx="310896" cy="310896"/>
          </a:xfrm>
          <a:prstGeom prst="rect">
            <a:avLst/>
          </a:prstGeom>
        </p:spPr>
      </p:pic>
      <p:sp>
        <p:nvSpPr>
          <p:cNvPr id="9" name="Text 6"/>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T</a:t>
            </a:r>
            <a:endParaRPr lang="en-US" sz="1100" dirty="0"/>
          </a:p>
        </p:txBody>
      </p:sp>
      <p:sp>
        <p:nvSpPr>
          <p:cNvPr id="10" name="TrackDot"/>
          <p:cNvSpPr/>
          <p:nvPr/>
        </p:nvSpPr>
        <p:spPr>
          <a:xfrm>
            <a:off x="9518904" y="329184"/>
            <a:ext cx="310896" cy="310896"/>
          </a:xfrm>
          <a:prstGeom prst="ellipse">
            <a:avLst/>
          </a:prstGeom>
          <a:solidFill>
            <a:schemeClr val="bg2"/>
          </a:solidFill>
          <a:ln w="9525">
            <a:solidFill>
              <a:schemeClr val="accent6"/>
            </a:solidFill>
            <a:prstDash val="solid"/>
          </a:ln>
        </p:spPr>
      </p:sp>
      <p:sp>
        <p:nvSpPr>
          <p:cNvPr id="11" name="Text 8"/>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12" name="Card" descr="preencoded.png">    </p:cNvPr>
          <p:cNvPicPr>
            <a:picLocks noChangeAspect="1"/>
          </p:cNvPicPr>
          <p:nvPr/>
        </p:nvPicPr>
        <p:blipFill>
          <a:blip r:embed="rId2"/>
          <a:stretch>
            <a:fillRect/>
          </a:stretch>
        </p:blipFill>
        <p:spPr>
          <a:xfrm>
            <a:off x="502920" y="1600200"/>
            <a:ext cx="11185855" cy="1097280"/>
          </a:xfrm>
          <a:prstGeom prst="rect">
            <a:avLst/>
          </a:prstGeom>
        </p:spPr>
      </p:pic>
      <p:pic>
        <p:nvPicPr>
          <p:cNvPr id="13" name="Badge" descr="preencoded.png">    </p:cNvPr>
          <p:cNvPicPr>
            <a:picLocks noChangeAspect="1"/>
          </p:cNvPicPr>
          <p:nvPr/>
        </p:nvPicPr>
        <p:blipFill>
          <a:blip r:embed="rId3"/>
          <a:stretch>
            <a:fillRect/>
          </a:stretch>
        </p:blipFill>
        <p:spPr>
          <a:xfrm>
            <a:off x="704088" y="1883664"/>
            <a:ext cx="530352" cy="530352"/>
          </a:xfrm>
          <a:prstGeom prst="rect">
            <a:avLst/>
          </a:prstGeom>
        </p:spPr>
      </p:pic>
      <p:sp>
        <p:nvSpPr>
          <p:cNvPr id="14" name="Text 9"/>
          <p:cNvSpPr txBox="1"/>
          <p:nvPr/>
        </p:nvSpPr>
        <p:spPr>
          <a:xfrm>
            <a:off x="1417320" y="1600200"/>
            <a:ext cx="1828800" cy="1097280"/>
          </a:xfrm>
          <a:prstGeom prst="rect">
            <a:avLst/>
          </a:prstGeom>
          <a:noFill/>
          <a:ln/>
        </p:spPr>
        <p:txBody>
          <a:bodyPr wrap="square" lIns="0" tIns="0" rIns="0" bIns="0" rtlCol="0" anchor="ctr"/>
          <a:lstStyle/>
          <a:p>
            <a:pPr indent="0" marL="0">
              <a:buNone/>
            </a:pPr>
            <a:r>
              <a:rPr lang="en-US" sz="1600" b="1" dirty="0">
                <a:solidFill>
                  <a:schemeClr val="tx1"/>
                </a:solidFill>
              </a:rPr>
              <a:t>Data Engineering</a:t>
            </a:r>
            <a:endParaRPr lang="en-US" sz="1600" dirty="0"/>
          </a:p>
        </p:txBody>
      </p:sp>
      <p:pic>
        <p:nvPicPr>
          <p:cNvPr id="15" name="Card" descr="preencoded.png">    </p:cNvPr>
          <p:cNvPicPr>
            <a:picLocks noChangeAspect="1"/>
          </p:cNvPicPr>
          <p:nvPr/>
        </p:nvPicPr>
        <p:blipFill>
          <a:blip r:embed="rId4"/>
          <a:stretch>
            <a:fillRect/>
          </a:stretch>
        </p:blipFill>
        <p:spPr>
          <a:xfrm>
            <a:off x="2871216" y="1563624"/>
            <a:ext cx="1645920" cy="1170432"/>
          </a:xfrm>
          <a:prstGeom prst="rect">
            <a:avLst/>
          </a:prstGeom>
        </p:spPr>
      </p:pic>
      <p:pic>
        <p:nvPicPr>
          <p:cNvPr id="16" name="Logo" descr="/tmp/claude-0/-home-user-ad-gallery/7fc27a5a-8417-58c4-b3ff-7a7825ba0161/scratchpad/assets/s14_00.png">    </p:cNvPr>
          <p:cNvPicPr>
            <a:picLocks noChangeAspect="1"/>
          </p:cNvPicPr>
          <p:nvPr/>
        </p:nvPicPr>
        <p:blipFill>
          <a:blip r:embed="rId5"/>
          <a:stretch>
            <a:fillRect/>
          </a:stretch>
        </p:blipFill>
        <p:spPr>
          <a:xfrm>
            <a:off x="3465576" y="1764792"/>
            <a:ext cx="457200" cy="457200"/>
          </a:xfrm>
          <a:prstGeom prst="rect">
            <a:avLst/>
          </a:prstGeom>
        </p:spPr>
      </p:pic>
      <p:sp>
        <p:nvSpPr>
          <p:cNvPr id="17" name="Text 10"/>
          <p:cNvSpPr txBox="1"/>
          <p:nvPr/>
        </p:nvSpPr>
        <p:spPr>
          <a:xfrm>
            <a:off x="306324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a:t>
            </a:r>
            <a:endParaRPr lang="en-US" sz="1000" dirty="0"/>
          </a:p>
        </p:txBody>
      </p:sp>
      <p:pic>
        <p:nvPicPr>
          <p:cNvPr id="18" name="Card" descr="preencoded.png">    </p:cNvPr>
          <p:cNvPicPr>
            <a:picLocks noChangeAspect="1"/>
          </p:cNvPicPr>
          <p:nvPr/>
        </p:nvPicPr>
        <p:blipFill>
          <a:blip r:embed="rId6"/>
          <a:stretch>
            <a:fillRect/>
          </a:stretch>
        </p:blipFill>
        <p:spPr>
          <a:xfrm>
            <a:off x="4352544" y="1563624"/>
            <a:ext cx="1645920" cy="1170432"/>
          </a:xfrm>
          <a:prstGeom prst="rect">
            <a:avLst/>
          </a:prstGeom>
        </p:spPr>
      </p:pic>
      <p:pic>
        <p:nvPicPr>
          <p:cNvPr id="19" name="Logo" descr="/tmp/claude-0/-home-user-ad-gallery/7fc27a5a-8417-58c4-b3ff-7a7825ba0161/scratchpad/assets/s14_01.png">    </p:cNvPr>
          <p:cNvPicPr>
            <a:picLocks noChangeAspect="1"/>
          </p:cNvPicPr>
          <p:nvPr/>
        </p:nvPicPr>
        <p:blipFill>
          <a:blip r:embed="rId7"/>
          <a:stretch>
            <a:fillRect/>
          </a:stretch>
        </p:blipFill>
        <p:spPr>
          <a:xfrm>
            <a:off x="4935474" y="1764792"/>
            <a:ext cx="480060" cy="457200"/>
          </a:xfrm>
          <a:prstGeom prst="rect">
            <a:avLst/>
          </a:prstGeom>
        </p:spPr>
      </p:pic>
      <p:sp>
        <p:nvSpPr>
          <p:cNvPr id="20" name="Text 11"/>
          <p:cNvSpPr txBox="1"/>
          <p:nvPr/>
        </p:nvSpPr>
        <p:spPr>
          <a:xfrm>
            <a:off x="4544568"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Microsoft Fabric</a:t>
            </a:r>
            <a:endParaRPr lang="en-US" sz="1000" dirty="0"/>
          </a:p>
        </p:txBody>
      </p:sp>
      <p:pic>
        <p:nvPicPr>
          <p:cNvPr id="21" name="Card" descr="preencoded.png">    </p:cNvPr>
          <p:cNvPicPr>
            <a:picLocks noChangeAspect="1"/>
          </p:cNvPicPr>
          <p:nvPr/>
        </p:nvPicPr>
        <p:blipFill>
          <a:blip r:embed="rId8"/>
          <a:stretch>
            <a:fillRect/>
          </a:stretch>
        </p:blipFill>
        <p:spPr>
          <a:xfrm>
            <a:off x="5833872" y="1563624"/>
            <a:ext cx="1645920" cy="1170432"/>
          </a:xfrm>
          <a:prstGeom prst="rect">
            <a:avLst/>
          </a:prstGeom>
        </p:spPr>
      </p:pic>
      <p:pic>
        <p:nvPicPr>
          <p:cNvPr id="22" name="Logo" descr="/tmp/claude-0/-home-user-ad-gallery/7fc27a5a-8417-58c4-b3ff-7a7825ba0161/scratchpad/assets/s14_02.png">    </p:cNvPr>
          <p:cNvPicPr>
            <a:picLocks noChangeAspect="1"/>
          </p:cNvPicPr>
          <p:nvPr/>
        </p:nvPicPr>
        <p:blipFill>
          <a:blip r:embed="rId9"/>
          <a:stretch>
            <a:fillRect/>
          </a:stretch>
        </p:blipFill>
        <p:spPr>
          <a:xfrm>
            <a:off x="6427352" y="1764792"/>
            <a:ext cx="458960" cy="457200"/>
          </a:xfrm>
          <a:prstGeom prst="rect">
            <a:avLst/>
          </a:prstGeom>
        </p:spPr>
      </p:pic>
      <p:sp>
        <p:nvSpPr>
          <p:cNvPr id="23" name="Text 12"/>
          <p:cNvSpPr txBox="1"/>
          <p:nvPr/>
        </p:nvSpPr>
        <p:spPr>
          <a:xfrm>
            <a:off x="6025896"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Snowflake</a:t>
            </a:r>
            <a:endParaRPr lang="en-US" sz="1000" dirty="0"/>
          </a:p>
        </p:txBody>
      </p:sp>
      <p:pic>
        <p:nvPicPr>
          <p:cNvPr id="24" name="Card" descr="preencoded.png">    </p:cNvPr>
          <p:cNvPicPr>
            <a:picLocks noChangeAspect="1"/>
          </p:cNvPicPr>
          <p:nvPr/>
        </p:nvPicPr>
        <p:blipFill>
          <a:blip r:embed="rId10"/>
          <a:stretch>
            <a:fillRect/>
          </a:stretch>
        </p:blipFill>
        <p:spPr>
          <a:xfrm>
            <a:off x="7315200" y="1563624"/>
            <a:ext cx="1645920" cy="1170432"/>
          </a:xfrm>
          <a:prstGeom prst="rect">
            <a:avLst/>
          </a:prstGeom>
        </p:spPr>
      </p:pic>
      <p:pic>
        <p:nvPicPr>
          <p:cNvPr id="25" name="Logo" descr="/tmp/claude-0/-home-user-ad-gallery/7fc27a5a-8417-58c4-b3ff-7a7825ba0161/scratchpad/assets/s14_13.png">    </p:cNvPr>
          <p:cNvPicPr>
            <a:picLocks noChangeAspect="1"/>
          </p:cNvPicPr>
          <p:nvPr/>
        </p:nvPicPr>
        <p:blipFill>
          <a:blip r:embed="rId11"/>
          <a:stretch>
            <a:fillRect/>
          </a:stretch>
        </p:blipFill>
        <p:spPr>
          <a:xfrm>
            <a:off x="7909560" y="1764792"/>
            <a:ext cx="457200" cy="457200"/>
          </a:xfrm>
          <a:prstGeom prst="rect">
            <a:avLst/>
          </a:prstGeom>
        </p:spPr>
      </p:pic>
      <p:sp>
        <p:nvSpPr>
          <p:cNvPr id="26" name="Text 13"/>
          <p:cNvSpPr txBox="1"/>
          <p:nvPr/>
        </p:nvSpPr>
        <p:spPr>
          <a:xfrm>
            <a:off x="7507224"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dbt</a:t>
            </a:r>
            <a:endParaRPr lang="en-US" sz="1000" dirty="0"/>
          </a:p>
        </p:txBody>
      </p:sp>
      <p:pic>
        <p:nvPicPr>
          <p:cNvPr id="27" name="Card" descr="preencoded.png">    </p:cNvPr>
          <p:cNvPicPr>
            <a:picLocks noChangeAspect="1"/>
          </p:cNvPicPr>
          <p:nvPr/>
        </p:nvPicPr>
        <p:blipFill>
          <a:blip r:embed="rId12"/>
          <a:stretch>
            <a:fillRect/>
          </a:stretch>
        </p:blipFill>
        <p:spPr>
          <a:xfrm>
            <a:off x="8796528" y="1563624"/>
            <a:ext cx="1645920" cy="1170432"/>
          </a:xfrm>
          <a:prstGeom prst="rect">
            <a:avLst/>
          </a:prstGeom>
        </p:spPr>
      </p:pic>
      <p:pic>
        <p:nvPicPr>
          <p:cNvPr id="28" name="Logo" descr="/tmp/claude-0/-home-user-ad-gallery/7fc27a5a-8417-58c4-b3ff-7a7825ba0161/scratchpad/assets/s14_03.png">    </p:cNvPr>
          <p:cNvPicPr>
            <a:picLocks noChangeAspect="1"/>
          </p:cNvPicPr>
          <p:nvPr/>
        </p:nvPicPr>
        <p:blipFill>
          <a:blip r:embed="rId13"/>
          <a:stretch>
            <a:fillRect/>
          </a:stretch>
        </p:blipFill>
        <p:spPr>
          <a:xfrm>
            <a:off x="9381605" y="1764792"/>
            <a:ext cx="475766" cy="457200"/>
          </a:xfrm>
          <a:prstGeom prst="rect">
            <a:avLst/>
          </a:prstGeom>
        </p:spPr>
      </p:pic>
      <p:sp>
        <p:nvSpPr>
          <p:cNvPr id="29" name="Text 14"/>
          <p:cNvSpPr txBox="1"/>
          <p:nvPr/>
        </p:nvSpPr>
        <p:spPr>
          <a:xfrm>
            <a:off x="8988552"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 Data Factory</a:t>
            </a:r>
            <a:endParaRPr lang="en-US" sz="1000" dirty="0"/>
          </a:p>
        </p:txBody>
      </p:sp>
      <p:pic>
        <p:nvPicPr>
          <p:cNvPr id="30" name="Card" descr="preencoded.png">    </p:cNvPr>
          <p:cNvPicPr>
            <a:picLocks noChangeAspect="1"/>
          </p:cNvPicPr>
          <p:nvPr/>
        </p:nvPicPr>
        <p:blipFill>
          <a:blip r:embed="rId14"/>
          <a:stretch>
            <a:fillRect/>
          </a:stretch>
        </p:blipFill>
        <p:spPr>
          <a:xfrm>
            <a:off x="10277856" y="1563624"/>
            <a:ext cx="1645920" cy="1170432"/>
          </a:xfrm>
          <a:prstGeom prst="rect">
            <a:avLst/>
          </a:prstGeom>
        </p:spPr>
      </p:pic>
      <p:pic>
        <p:nvPicPr>
          <p:cNvPr id="31" name="Logo" descr="/tmp/claude-0/-home-user-ad-gallery/7fc27a5a-8417-58c4-b3ff-7a7825ba0161/scratchpad/assets/s14_04.png">    </p:cNvPr>
          <p:cNvPicPr>
            <a:picLocks noChangeAspect="1"/>
          </p:cNvPicPr>
          <p:nvPr/>
        </p:nvPicPr>
        <p:blipFill>
          <a:blip r:embed="rId15"/>
          <a:stretch>
            <a:fillRect/>
          </a:stretch>
        </p:blipFill>
        <p:spPr>
          <a:xfrm>
            <a:off x="10887956" y="1764792"/>
            <a:ext cx="425721" cy="457200"/>
          </a:xfrm>
          <a:prstGeom prst="rect">
            <a:avLst/>
          </a:prstGeom>
        </p:spPr>
      </p:pic>
      <p:sp>
        <p:nvSpPr>
          <p:cNvPr id="32" name="Text 15"/>
          <p:cNvSpPr txBox="1"/>
          <p:nvPr/>
        </p:nvSpPr>
        <p:spPr>
          <a:xfrm>
            <a:off x="1046988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Databricks</a:t>
            </a:r>
            <a:endParaRPr lang="en-US" sz="1000" dirty="0"/>
          </a:p>
        </p:txBody>
      </p:sp>
      <p:pic>
        <p:nvPicPr>
          <p:cNvPr id="33" name="Card" descr="preencoded.png">    </p:cNvPr>
          <p:cNvPicPr>
            <a:picLocks noChangeAspect="1"/>
          </p:cNvPicPr>
          <p:nvPr/>
        </p:nvPicPr>
        <p:blipFill>
          <a:blip r:embed="rId16"/>
          <a:stretch>
            <a:fillRect/>
          </a:stretch>
        </p:blipFill>
        <p:spPr>
          <a:xfrm>
            <a:off x="502920" y="2807208"/>
            <a:ext cx="11185855" cy="1097280"/>
          </a:xfrm>
          <a:prstGeom prst="rect">
            <a:avLst/>
          </a:prstGeom>
        </p:spPr>
      </p:pic>
      <p:pic>
        <p:nvPicPr>
          <p:cNvPr id="34" name="Badge" descr="preencoded.png">    </p:cNvPr>
          <p:cNvPicPr>
            <a:picLocks noChangeAspect="1"/>
          </p:cNvPicPr>
          <p:nvPr/>
        </p:nvPicPr>
        <p:blipFill>
          <a:blip r:embed="rId17"/>
          <a:stretch>
            <a:fillRect/>
          </a:stretch>
        </p:blipFill>
        <p:spPr>
          <a:xfrm>
            <a:off x="704088" y="3090672"/>
            <a:ext cx="530352" cy="530352"/>
          </a:xfrm>
          <a:prstGeom prst="rect">
            <a:avLst/>
          </a:prstGeom>
        </p:spPr>
      </p:pic>
      <p:sp>
        <p:nvSpPr>
          <p:cNvPr id="35" name="Text 16"/>
          <p:cNvSpPr txBox="1"/>
          <p:nvPr/>
        </p:nvSpPr>
        <p:spPr>
          <a:xfrm>
            <a:off x="1417320" y="2807208"/>
            <a:ext cx="1828800" cy="1097280"/>
          </a:xfrm>
          <a:prstGeom prst="rect">
            <a:avLst/>
          </a:prstGeom>
          <a:noFill/>
          <a:ln/>
        </p:spPr>
        <p:txBody>
          <a:bodyPr wrap="square" lIns="0" tIns="0" rIns="0" bIns="0" rtlCol="0" anchor="ctr"/>
          <a:lstStyle/>
          <a:p>
            <a:pPr indent="0" marL="0">
              <a:buNone/>
            </a:pPr>
            <a:r>
              <a:rPr lang="en-US" sz="1600" b="1" dirty="0">
                <a:solidFill>
                  <a:schemeClr val="tx1"/>
                </a:solidFill>
              </a:rPr>
              <a:t>Data Visualization</a:t>
            </a:r>
            <a:endParaRPr lang="en-US" sz="1600" dirty="0"/>
          </a:p>
        </p:txBody>
      </p:sp>
      <p:pic>
        <p:nvPicPr>
          <p:cNvPr id="36" name="Card" descr="preencoded.png">    </p:cNvPr>
          <p:cNvPicPr>
            <a:picLocks noChangeAspect="1"/>
          </p:cNvPicPr>
          <p:nvPr/>
        </p:nvPicPr>
        <p:blipFill>
          <a:blip r:embed="rId18"/>
          <a:stretch>
            <a:fillRect/>
          </a:stretch>
        </p:blipFill>
        <p:spPr>
          <a:xfrm>
            <a:off x="2871216" y="2770632"/>
            <a:ext cx="1645920" cy="1170432"/>
          </a:xfrm>
          <a:prstGeom prst="rect">
            <a:avLst/>
          </a:prstGeom>
        </p:spPr>
      </p:pic>
      <p:pic>
        <p:nvPicPr>
          <p:cNvPr id="37" name="Logo" descr="/tmp/claude-0/-home-user-ad-gallery/7fc27a5a-8417-58c4-b3ff-7a7825ba0161/scratchpad/assets/s14_05.png">    </p:cNvPr>
          <p:cNvPicPr>
            <a:picLocks noChangeAspect="1"/>
          </p:cNvPicPr>
          <p:nvPr/>
        </p:nvPicPr>
        <p:blipFill>
          <a:blip r:embed="rId19"/>
          <a:stretch>
            <a:fillRect/>
          </a:stretch>
        </p:blipFill>
        <p:spPr>
          <a:xfrm>
            <a:off x="3337560" y="2999804"/>
            <a:ext cx="713232" cy="401193"/>
          </a:xfrm>
          <a:prstGeom prst="rect">
            <a:avLst/>
          </a:prstGeom>
        </p:spPr>
      </p:pic>
      <p:sp>
        <p:nvSpPr>
          <p:cNvPr id="38" name="Text 17"/>
          <p:cNvSpPr txBox="1"/>
          <p:nvPr/>
        </p:nvSpPr>
        <p:spPr>
          <a:xfrm>
            <a:off x="3063240"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Power BI</a:t>
            </a:r>
            <a:endParaRPr lang="en-US" sz="1000" dirty="0"/>
          </a:p>
        </p:txBody>
      </p:sp>
      <p:pic>
        <p:nvPicPr>
          <p:cNvPr id="39" name="Card" descr="preencoded.png">    </p:cNvPr>
          <p:cNvPicPr>
            <a:picLocks noChangeAspect="1"/>
          </p:cNvPicPr>
          <p:nvPr/>
        </p:nvPicPr>
        <p:blipFill>
          <a:blip r:embed="rId20"/>
          <a:stretch>
            <a:fillRect/>
          </a:stretch>
        </p:blipFill>
        <p:spPr>
          <a:xfrm>
            <a:off x="4352544" y="2770632"/>
            <a:ext cx="1645920" cy="1170432"/>
          </a:xfrm>
          <a:prstGeom prst="rect">
            <a:avLst/>
          </a:prstGeom>
        </p:spPr>
      </p:pic>
      <p:pic>
        <p:nvPicPr>
          <p:cNvPr id="40" name="Logo" descr="/tmp/claude-0/-home-user-ad-gallery/7fc27a5a-8417-58c4-b3ff-7a7825ba0161/scratchpad/assets/s14_06.png">    </p:cNvPr>
          <p:cNvPicPr>
            <a:picLocks noChangeAspect="1"/>
          </p:cNvPicPr>
          <p:nvPr/>
        </p:nvPicPr>
        <p:blipFill>
          <a:blip r:embed="rId21"/>
          <a:stretch>
            <a:fillRect/>
          </a:stretch>
        </p:blipFill>
        <p:spPr>
          <a:xfrm>
            <a:off x="4818888" y="3040243"/>
            <a:ext cx="713232" cy="320314"/>
          </a:xfrm>
          <a:prstGeom prst="rect">
            <a:avLst/>
          </a:prstGeom>
        </p:spPr>
      </p:pic>
      <p:sp>
        <p:nvSpPr>
          <p:cNvPr id="41" name="Text 18"/>
          <p:cNvSpPr txBox="1"/>
          <p:nvPr/>
        </p:nvSpPr>
        <p:spPr>
          <a:xfrm>
            <a:off x="4544568"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Qlik Sense</a:t>
            </a:r>
            <a:endParaRPr lang="en-US" sz="1000" dirty="0"/>
          </a:p>
        </p:txBody>
      </p:sp>
      <p:pic>
        <p:nvPicPr>
          <p:cNvPr id="42" name="Card" descr="preencoded.png">    </p:cNvPr>
          <p:cNvPicPr>
            <a:picLocks noChangeAspect="1"/>
          </p:cNvPicPr>
          <p:nvPr/>
        </p:nvPicPr>
        <p:blipFill>
          <a:blip r:embed="rId22"/>
          <a:stretch>
            <a:fillRect/>
          </a:stretch>
        </p:blipFill>
        <p:spPr>
          <a:xfrm>
            <a:off x="5833872" y="2770632"/>
            <a:ext cx="1645920" cy="1170432"/>
          </a:xfrm>
          <a:prstGeom prst="rect">
            <a:avLst/>
          </a:prstGeom>
        </p:spPr>
      </p:pic>
      <p:pic>
        <p:nvPicPr>
          <p:cNvPr id="43" name="Logo" descr="/tmp/claude-0/-home-user-ad-gallery/7fc27a5a-8417-58c4-b3ff-7a7825ba0161/scratchpad/assets/s14_10.png">    </p:cNvPr>
          <p:cNvPicPr>
            <a:picLocks noChangeAspect="1"/>
          </p:cNvPicPr>
          <p:nvPr/>
        </p:nvPicPr>
        <p:blipFill>
          <a:blip r:embed="rId23"/>
          <a:stretch>
            <a:fillRect/>
          </a:stretch>
        </p:blipFill>
        <p:spPr>
          <a:xfrm>
            <a:off x="6475984" y="2971800"/>
            <a:ext cx="361696" cy="457200"/>
          </a:xfrm>
          <a:prstGeom prst="rect">
            <a:avLst/>
          </a:prstGeom>
        </p:spPr>
      </p:pic>
      <p:sp>
        <p:nvSpPr>
          <p:cNvPr id="44" name="Text 19"/>
          <p:cNvSpPr txBox="1"/>
          <p:nvPr/>
        </p:nvSpPr>
        <p:spPr>
          <a:xfrm>
            <a:off x="6025896"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Tableau</a:t>
            </a:r>
            <a:endParaRPr lang="en-US" sz="1000" dirty="0"/>
          </a:p>
        </p:txBody>
      </p:sp>
      <p:pic>
        <p:nvPicPr>
          <p:cNvPr id="45" name="Card" descr="preencoded.png">    </p:cNvPr>
          <p:cNvPicPr>
            <a:picLocks noChangeAspect="1"/>
          </p:cNvPicPr>
          <p:nvPr/>
        </p:nvPicPr>
        <p:blipFill>
          <a:blip r:embed="rId24"/>
          <a:stretch>
            <a:fillRect/>
          </a:stretch>
        </p:blipFill>
        <p:spPr>
          <a:xfrm>
            <a:off x="7315200" y="2770632"/>
            <a:ext cx="1645920" cy="1170432"/>
          </a:xfrm>
          <a:prstGeom prst="rect">
            <a:avLst/>
          </a:prstGeom>
        </p:spPr>
      </p:pic>
      <p:pic>
        <p:nvPicPr>
          <p:cNvPr id="46" name="Logo" descr="/tmp/claude-0/-home-user-ad-gallery/7fc27a5a-8417-58c4-b3ff-7a7825ba0161/scratchpad/assets/s14_11.png">    </p:cNvPr>
          <p:cNvPicPr>
            <a:picLocks noChangeAspect="1"/>
          </p:cNvPicPr>
          <p:nvPr/>
        </p:nvPicPr>
        <p:blipFill>
          <a:blip r:embed="rId25"/>
          <a:stretch>
            <a:fillRect/>
          </a:stretch>
        </p:blipFill>
        <p:spPr>
          <a:xfrm>
            <a:off x="7935484" y="2971800"/>
            <a:ext cx="405353" cy="457200"/>
          </a:xfrm>
          <a:prstGeom prst="rect">
            <a:avLst/>
          </a:prstGeom>
        </p:spPr>
      </p:pic>
      <p:sp>
        <p:nvSpPr>
          <p:cNvPr id="47" name="Text 20"/>
          <p:cNvSpPr txBox="1"/>
          <p:nvPr/>
        </p:nvSpPr>
        <p:spPr>
          <a:xfrm>
            <a:off x="7507224"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Spotfire</a:t>
            </a:r>
            <a:endParaRPr lang="en-US" sz="1000" dirty="0"/>
          </a:p>
        </p:txBody>
      </p:sp>
      <p:pic>
        <p:nvPicPr>
          <p:cNvPr id="48" name="Card" descr="preencoded.png">    </p:cNvPr>
          <p:cNvPicPr>
            <a:picLocks noChangeAspect="1"/>
          </p:cNvPicPr>
          <p:nvPr/>
        </p:nvPicPr>
        <p:blipFill>
          <a:blip r:embed="rId26"/>
          <a:stretch>
            <a:fillRect/>
          </a:stretch>
        </p:blipFill>
        <p:spPr>
          <a:xfrm>
            <a:off x="502920" y="4014216"/>
            <a:ext cx="11185855" cy="1097280"/>
          </a:xfrm>
          <a:prstGeom prst="rect">
            <a:avLst/>
          </a:prstGeom>
        </p:spPr>
      </p:pic>
      <p:pic>
        <p:nvPicPr>
          <p:cNvPr id="49" name="Badge" descr="preencoded.png">    </p:cNvPr>
          <p:cNvPicPr>
            <a:picLocks noChangeAspect="1"/>
          </p:cNvPicPr>
          <p:nvPr/>
        </p:nvPicPr>
        <p:blipFill>
          <a:blip r:embed="rId27"/>
          <a:stretch>
            <a:fillRect/>
          </a:stretch>
        </p:blipFill>
        <p:spPr>
          <a:xfrm>
            <a:off x="704088" y="4297680"/>
            <a:ext cx="530352" cy="530352"/>
          </a:xfrm>
          <a:prstGeom prst="rect">
            <a:avLst/>
          </a:prstGeom>
        </p:spPr>
      </p:pic>
      <p:sp>
        <p:nvSpPr>
          <p:cNvPr id="50" name="Text 21"/>
          <p:cNvSpPr txBox="1"/>
          <p:nvPr/>
        </p:nvSpPr>
        <p:spPr>
          <a:xfrm>
            <a:off x="1417320" y="4014216"/>
            <a:ext cx="1828800" cy="1097280"/>
          </a:xfrm>
          <a:prstGeom prst="rect">
            <a:avLst/>
          </a:prstGeom>
          <a:noFill/>
          <a:ln/>
        </p:spPr>
        <p:txBody>
          <a:bodyPr wrap="square" lIns="0" tIns="0" rIns="0" bIns="0" rtlCol="0" anchor="ctr"/>
          <a:lstStyle/>
          <a:p>
            <a:pPr indent="0" marL="0">
              <a:buNone/>
            </a:pPr>
            <a:r>
              <a:rPr lang="en-US" sz="1600" b="1" dirty="0">
                <a:solidFill>
                  <a:schemeClr val="tx1"/>
                </a:solidFill>
              </a:rPr>
              <a:t>Digitization</a:t>
            </a:r>
            <a:endParaRPr lang="en-US" sz="1600" dirty="0"/>
          </a:p>
        </p:txBody>
      </p:sp>
      <p:pic>
        <p:nvPicPr>
          <p:cNvPr id="51" name="Card" descr="preencoded.png">    </p:cNvPr>
          <p:cNvPicPr>
            <a:picLocks noChangeAspect="1"/>
          </p:cNvPicPr>
          <p:nvPr/>
        </p:nvPicPr>
        <p:blipFill>
          <a:blip r:embed="rId28"/>
          <a:stretch>
            <a:fillRect/>
          </a:stretch>
        </p:blipFill>
        <p:spPr>
          <a:xfrm>
            <a:off x="2871216" y="3977640"/>
            <a:ext cx="1645920" cy="1170432"/>
          </a:xfrm>
          <a:prstGeom prst="rect">
            <a:avLst/>
          </a:prstGeom>
        </p:spPr>
      </p:pic>
      <p:pic>
        <p:nvPicPr>
          <p:cNvPr id="52" name="Logo" descr="/tmp/claude-0/-home-user-ad-gallery/7fc27a5a-8417-58c4-b3ff-7a7825ba0161/scratchpad/assets/s14_14.png">    </p:cNvPr>
          <p:cNvPicPr>
            <a:picLocks noChangeAspect="1"/>
          </p:cNvPicPr>
          <p:nvPr/>
        </p:nvPicPr>
        <p:blipFill>
          <a:blip r:embed="rId29"/>
          <a:stretch>
            <a:fillRect/>
          </a:stretch>
        </p:blipFill>
        <p:spPr>
          <a:xfrm>
            <a:off x="3401733" y="4178808"/>
            <a:ext cx="584886" cy="457200"/>
          </a:xfrm>
          <a:prstGeom prst="rect">
            <a:avLst/>
          </a:prstGeom>
        </p:spPr>
      </p:pic>
      <p:sp>
        <p:nvSpPr>
          <p:cNvPr id="53" name="Text 22"/>
          <p:cNvSpPr txBox="1"/>
          <p:nvPr/>
        </p:nvSpPr>
        <p:spPr>
          <a:xfrm>
            <a:off x="3063240"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AWS Bedrock</a:t>
            </a:r>
            <a:endParaRPr lang="en-US" sz="1000" dirty="0"/>
          </a:p>
        </p:txBody>
      </p:sp>
      <p:pic>
        <p:nvPicPr>
          <p:cNvPr id="54" name="Card" descr="preencoded.png">    </p:cNvPr>
          <p:cNvPicPr>
            <a:picLocks noChangeAspect="1"/>
          </p:cNvPicPr>
          <p:nvPr/>
        </p:nvPicPr>
        <p:blipFill>
          <a:blip r:embed="rId30"/>
          <a:stretch>
            <a:fillRect/>
          </a:stretch>
        </p:blipFill>
        <p:spPr>
          <a:xfrm>
            <a:off x="4352544" y="3977640"/>
            <a:ext cx="1645920" cy="1170432"/>
          </a:xfrm>
          <a:prstGeom prst="rect">
            <a:avLst/>
          </a:prstGeom>
        </p:spPr>
      </p:pic>
      <p:pic>
        <p:nvPicPr>
          <p:cNvPr id="55" name="Logo" descr="/tmp/claude-0/-home-user-ad-gallery/7fc27a5a-8417-58c4-b3ff-7a7825ba0161/scratchpad/assets/s14_17.png">    </p:cNvPr>
          <p:cNvPicPr>
            <a:picLocks noChangeAspect="1"/>
          </p:cNvPicPr>
          <p:nvPr/>
        </p:nvPicPr>
        <p:blipFill>
          <a:blip r:embed="rId31"/>
          <a:stretch>
            <a:fillRect/>
          </a:stretch>
        </p:blipFill>
        <p:spPr>
          <a:xfrm>
            <a:off x="4946904" y="4178808"/>
            <a:ext cx="457200" cy="457200"/>
          </a:xfrm>
          <a:prstGeom prst="rect">
            <a:avLst/>
          </a:prstGeom>
        </p:spPr>
      </p:pic>
      <p:sp>
        <p:nvSpPr>
          <p:cNvPr id="56" name="Text 23"/>
          <p:cNvSpPr txBox="1"/>
          <p:nvPr/>
        </p:nvSpPr>
        <p:spPr>
          <a:xfrm>
            <a:off x="4544568"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Microsoft Power Platform</a:t>
            </a:r>
            <a:endParaRPr lang="en-US" sz="1000" dirty="0"/>
          </a:p>
        </p:txBody>
      </p:sp>
      <p:pic>
        <p:nvPicPr>
          <p:cNvPr id="57" name="Card" descr="preencoded.png">    </p:cNvPr>
          <p:cNvPicPr>
            <a:picLocks noChangeAspect="1"/>
          </p:cNvPicPr>
          <p:nvPr/>
        </p:nvPicPr>
        <p:blipFill>
          <a:blip r:embed="rId32"/>
          <a:stretch>
            <a:fillRect/>
          </a:stretch>
        </p:blipFill>
        <p:spPr>
          <a:xfrm>
            <a:off x="5833872" y="3977640"/>
            <a:ext cx="1645920" cy="1170432"/>
          </a:xfrm>
          <a:prstGeom prst="rect">
            <a:avLst/>
          </a:prstGeom>
        </p:spPr>
      </p:pic>
      <p:pic>
        <p:nvPicPr>
          <p:cNvPr id="58" name="Logo" descr="/tmp/claude-0/-home-user-ad-gallery/7fc27a5a-8417-58c4-b3ff-7a7825ba0161/scratchpad/assets/s14_15.png">    </p:cNvPr>
          <p:cNvPicPr>
            <a:picLocks noChangeAspect="1"/>
          </p:cNvPicPr>
          <p:nvPr/>
        </p:nvPicPr>
        <p:blipFill>
          <a:blip r:embed="rId33"/>
          <a:stretch>
            <a:fillRect/>
          </a:stretch>
        </p:blipFill>
        <p:spPr>
          <a:xfrm>
            <a:off x="6300216" y="4281608"/>
            <a:ext cx="713232" cy="251600"/>
          </a:xfrm>
          <a:prstGeom prst="rect">
            <a:avLst/>
          </a:prstGeom>
        </p:spPr>
      </p:pic>
      <p:sp>
        <p:nvSpPr>
          <p:cNvPr id="59" name="Text 24"/>
          <p:cNvSpPr txBox="1"/>
          <p:nvPr/>
        </p:nvSpPr>
        <p:spPr>
          <a:xfrm>
            <a:off x="6025896"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n8n</a:t>
            </a:r>
            <a:endParaRPr lang="en-US" sz="1000" dirty="0"/>
          </a:p>
        </p:txBody>
      </p:sp>
      <p:pic>
        <p:nvPicPr>
          <p:cNvPr id="60" name="Card" descr="preencoded.png">    </p:cNvPr>
          <p:cNvPicPr>
            <a:picLocks noChangeAspect="1"/>
          </p:cNvPicPr>
          <p:nvPr/>
        </p:nvPicPr>
        <p:blipFill>
          <a:blip r:embed="rId34"/>
          <a:stretch>
            <a:fillRect/>
          </a:stretch>
        </p:blipFill>
        <p:spPr>
          <a:xfrm>
            <a:off x="7315200" y="3977640"/>
            <a:ext cx="1645920" cy="1170432"/>
          </a:xfrm>
          <a:prstGeom prst="rect">
            <a:avLst/>
          </a:prstGeom>
        </p:spPr>
      </p:pic>
      <p:pic>
        <p:nvPicPr>
          <p:cNvPr id="61" name="Logo" descr="/tmp/claude-0/-home-user-ad-gallery/7fc27a5a-8417-58c4-b3ff-7a7825ba0161/scratchpad/assets/s14_16.png">    </p:cNvPr>
          <p:cNvPicPr>
            <a:picLocks noChangeAspect="1"/>
          </p:cNvPicPr>
          <p:nvPr/>
        </p:nvPicPr>
        <p:blipFill>
          <a:blip r:embed="rId35"/>
          <a:stretch>
            <a:fillRect/>
          </a:stretch>
        </p:blipFill>
        <p:spPr>
          <a:xfrm>
            <a:off x="7909560" y="4178808"/>
            <a:ext cx="457200" cy="457200"/>
          </a:xfrm>
          <a:prstGeom prst="rect">
            <a:avLst/>
          </a:prstGeom>
        </p:spPr>
      </p:pic>
      <p:sp>
        <p:nvSpPr>
          <p:cNvPr id="62" name="Text 25"/>
          <p:cNvSpPr txBox="1"/>
          <p:nvPr/>
        </p:nvSpPr>
        <p:spPr>
          <a:xfrm>
            <a:off x="7507224"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Copilot Studio</a:t>
            </a:r>
            <a:endParaRPr lang="en-US" sz="1000" dirty="0"/>
          </a:p>
        </p:txBody>
      </p:sp>
      <p:pic>
        <p:nvPicPr>
          <p:cNvPr id="63" name="Card" descr="preencoded.png">    </p:cNvPr>
          <p:cNvPicPr>
            <a:picLocks noChangeAspect="1"/>
          </p:cNvPicPr>
          <p:nvPr/>
        </p:nvPicPr>
        <p:blipFill>
          <a:blip r:embed="rId36"/>
          <a:stretch>
            <a:fillRect/>
          </a:stretch>
        </p:blipFill>
        <p:spPr>
          <a:xfrm>
            <a:off x="502920" y="5221224"/>
            <a:ext cx="11185855" cy="1097280"/>
          </a:xfrm>
          <a:prstGeom prst="rect">
            <a:avLst/>
          </a:prstGeom>
        </p:spPr>
      </p:pic>
      <p:pic>
        <p:nvPicPr>
          <p:cNvPr id="64" name="Badge" descr="preencoded.png">    </p:cNvPr>
          <p:cNvPicPr>
            <a:picLocks noChangeAspect="1"/>
          </p:cNvPicPr>
          <p:nvPr/>
        </p:nvPicPr>
        <p:blipFill>
          <a:blip r:embed="rId37"/>
          <a:stretch>
            <a:fillRect/>
          </a:stretch>
        </p:blipFill>
        <p:spPr>
          <a:xfrm>
            <a:off x="704088" y="5504688"/>
            <a:ext cx="530352" cy="530352"/>
          </a:xfrm>
          <a:prstGeom prst="rect">
            <a:avLst/>
          </a:prstGeom>
        </p:spPr>
      </p:pic>
      <p:sp>
        <p:nvSpPr>
          <p:cNvPr id="65" name="Text 26"/>
          <p:cNvSpPr txBox="1"/>
          <p:nvPr/>
        </p:nvSpPr>
        <p:spPr>
          <a:xfrm>
            <a:off x="1417320" y="5221224"/>
            <a:ext cx="1828800" cy="1097280"/>
          </a:xfrm>
          <a:prstGeom prst="rect">
            <a:avLst/>
          </a:prstGeom>
          <a:noFill/>
          <a:ln/>
        </p:spPr>
        <p:txBody>
          <a:bodyPr wrap="square" lIns="0" tIns="0" rIns="0" bIns="0" rtlCol="0" anchor="ctr"/>
          <a:lstStyle/>
          <a:p>
            <a:pPr indent="0" marL="0">
              <a:buNone/>
            </a:pPr>
            <a:r>
              <a:rPr lang="en-US" sz="1600" b="1" dirty="0">
                <a:solidFill>
                  <a:schemeClr val="tx1"/>
                </a:solidFill>
              </a:rPr>
              <a:t>Data Science</a:t>
            </a:r>
            <a:endParaRPr lang="en-US" sz="1600" dirty="0"/>
          </a:p>
        </p:txBody>
      </p:sp>
      <p:pic>
        <p:nvPicPr>
          <p:cNvPr id="66" name="Card" descr="preencoded.png">    </p:cNvPr>
          <p:cNvPicPr>
            <a:picLocks noChangeAspect="1"/>
          </p:cNvPicPr>
          <p:nvPr/>
        </p:nvPicPr>
        <p:blipFill>
          <a:blip r:embed="rId38"/>
          <a:stretch>
            <a:fillRect/>
          </a:stretch>
        </p:blipFill>
        <p:spPr>
          <a:xfrm>
            <a:off x="2871216" y="5184648"/>
            <a:ext cx="1645920" cy="1170432"/>
          </a:xfrm>
          <a:prstGeom prst="rect">
            <a:avLst/>
          </a:prstGeom>
        </p:spPr>
      </p:pic>
      <p:pic>
        <p:nvPicPr>
          <p:cNvPr id="67" name="Logo" descr="/tmp/claude-0/-home-user-ad-gallery/7fc27a5a-8417-58c4-b3ff-7a7825ba0161/scratchpad/assets/s14_07.png">    </p:cNvPr>
          <p:cNvPicPr>
            <a:picLocks noChangeAspect="1"/>
          </p:cNvPicPr>
          <p:nvPr/>
        </p:nvPicPr>
        <p:blipFill>
          <a:blip r:embed="rId39"/>
          <a:stretch>
            <a:fillRect/>
          </a:stretch>
        </p:blipFill>
        <p:spPr>
          <a:xfrm>
            <a:off x="3372331" y="5385816"/>
            <a:ext cx="643689" cy="457200"/>
          </a:xfrm>
          <a:prstGeom prst="rect">
            <a:avLst/>
          </a:prstGeom>
        </p:spPr>
      </p:pic>
      <p:sp>
        <p:nvSpPr>
          <p:cNvPr id="68" name="Text 27"/>
          <p:cNvSpPr txBox="1"/>
          <p:nvPr/>
        </p:nvSpPr>
        <p:spPr>
          <a:xfrm>
            <a:off x="3063240"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 Machine Learning</a:t>
            </a:r>
            <a:endParaRPr lang="en-US" sz="1000" dirty="0"/>
          </a:p>
        </p:txBody>
      </p:sp>
      <p:pic>
        <p:nvPicPr>
          <p:cNvPr id="69" name="Card" descr="preencoded.png">    </p:cNvPr>
          <p:cNvPicPr>
            <a:picLocks noChangeAspect="1"/>
          </p:cNvPicPr>
          <p:nvPr/>
        </p:nvPicPr>
        <p:blipFill>
          <a:blip r:embed="rId40"/>
          <a:stretch>
            <a:fillRect/>
          </a:stretch>
        </p:blipFill>
        <p:spPr>
          <a:xfrm>
            <a:off x="4352544" y="5184648"/>
            <a:ext cx="1645920" cy="1170432"/>
          </a:xfrm>
          <a:prstGeom prst="rect">
            <a:avLst/>
          </a:prstGeom>
        </p:spPr>
      </p:pic>
      <p:pic>
        <p:nvPicPr>
          <p:cNvPr id="70" name="Logo" descr="/tmp/claude-0/-home-user-ad-gallery/7fc27a5a-8417-58c4-b3ff-7a7825ba0161/scratchpad/assets/s14_08.png">    </p:cNvPr>
          <p:cNvPicPr>
            <a:picLocks noChangeAspect="1"/>
          </p:cNvPicPr>
          <p:nvPr/>
        </p:nvPicPr>
        <p:blipFill>
          <a:blip r:embed="rId41"/>
          <a:stretch>
            <a:fillRect/>
          </a:stretch>
        </p:blipFill>
        <p:spPr>
          <a:xfrm>
            <a:off x="4818888" y="5426873"/>
            <a:ext cx="713232" cy="375086"/>
          </a:xfrm>
          <a:prstGeom prst="rect">
            <a:avLst/>
          </a:prstGeom>
        </p:spPr>
      </p:pic>
      <p:sp>
        <p:nvSpPr>
          <p:cNvPr id="71" name="Text 28"/>
          <p:cNvSpPr txBox="1"/>
          <p:nvPr/>
        </p:nvSpPr>
        <p:spPr>
          <a:xfrm>
            <a:off x="4544568"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Amazon SageMaker</a:t>
            </a:r>
            <a:endParaRPr lang="en-US" sz="1000" dirty="0"/>
          </a:p>
        </p:txBody>
      </p:sp>
      <p:pic>
        <p:nvPicPr>
          <p:cNvPr id="72" name="Card" descr="preencoded.png">    </p:cNvPr>
          <p:cNvPicPr>
            <a:picLocks noChangeAspect="1"/>
          </p:cNvPicPr>
          <p:nvPr/>
        </p:nvPicPr>
        <p:blipFill>
          <a:blip r:embed="rId42"/>
          <a:stretch>
            <a:fillRect/>
          </a:stretch>
        </p:blipFill>
        <p:spPr>
          <a:xfrm>
            <a:off x="5833872" y="5184648"/>
            <a:ext cx="1645920" cy="1170432"/>
          </a:xfrm>
          <a:prstGeom prst="rect">
            <a:avLst/>
          </a:prstGeom>
        </p:spPr>
      </p:pic>
      <p:pic>
        <p:nvPicPr>
          <p:cNvPr id="73" name="Logo" descr="/tmp/claude-0/-home-user-ad-gallery/7fc27a5a-8417-58c4-b3ff-7a7825ba0161/scratchpad/assets/s14_12.png">    </p:cNvPr>
          <p:cNvPicPr>
            <a:picLocks noChangeAspect="1"/>
          </p:cNvPicPr>
          <p:nvPr/>
        </p:nvPicPr>
        <p:blipFill>
          <a:blip r:embed="rId43"/>
          <a:stretch>
            <a:fillRect/>
          </a:stretch>
        </p:blipFill>
        <p:spPr>
          <a:xfrm>
            <a:off x="6428232" y="5385816"/>
            <a:ext cx="457200" cy="457200"/>
          </a:xfrm>
          <a:prstGeom prst="rect">
            <a:avLst/>
          </a:prstGeom>
        </p:spPr>
      </p:pic>
      <p:sp>
        <p:nvSpPr>
          <p:cNvPr id="74" name="Text 29"/>
          <p:cNvSpPr txBox="1"/>
          <p:nvPr/>
        </p:nvSpPr>
        <p:spPr>
          <a:xfrm>
            <a:off x="6025896"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Large Language Models</a:t>
            </a:r>
            <a:endParaRPr lang="en-US" sz="1000" dirty="0"/>
          </a:p>
        </p:txBody>
      </p:sp>
      <p:pic>
        <p:nvPicPr>
          <p:cNvPr id="75" name="Card" descr="preencoded.png">    </p:cNvPr>
          <p:cNvPicPr>
            <a:picLocks noChangeAspect="1"/>
          </p:cNvPicPr>
          <p:nvPr/>
        </p:nvPicPr>
        <p:blipFill>
          <a:blip r:embed="rId44"/>
          <a:stretch>
            <a:fillRect/>
          </a:stretch>
        </p:blipFill>
        <p:spPr>
          <a:xfrm>
            <a:off x="7315200" y="5184648"/>
            <a:ext cx="1645920" cy="1170432"/>
          </a:xfrm>
          <a:prstGeom prst="rect">
            <a:avLst/>
          </a:prstGeom>
        </p:spPr>
      </p:pic>
      <p:pic>
        <p:nvPicPr>
          <p:cNvPr id="76" name="Logo" descr="/tmp/claude-0/-home-user-ad-gallery/7fc27a5a-8417-58c4-b3ff-7a7825ba0161/scratchpad/assets/s14_09.png">    </p:cNvPr>
          <p:cNvPicPr>
            <a:picLocks noChangeAspect="1"/>
          </p:cNvPicPr>
          <p:nvPr/>
        </p:nvPicPr>
        <p:blipFill>
          <a:blip r:embed="rId45"/>
          <a:stretch>
            <a:fillRect/>
          </a:stretch>
        </p:blipFill>
        <p:spPr>
          <a:xfrm>
            <a:off x="7985214" y="5385816"/>
            <a:ext cx="305892" cy="457200"/>
          </a:xfrm>
          <a:prstGeom prst="rect">
            <a:avLst/>
          </a:prstGeom>
        </p:spPr>
      </p:pic>
      <p:sp>
        <p:nvSpPr>
          <p:cNvPr id="77" name="Text 30"/>
          <p:cNvSpPr txBox="1"/>
          <p:nvPr/>
        </p:nvSpPr>
        <p:spPr>
          <a:xfrm>
            <a:off x="7507224"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Python</a:t>
            </a:r>
            <a:endParaRPr lang="en-US" sz="10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PACE for a Winning Race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A – ADOPTION</a:t>
            </a:r>
            <a:endParaRPr lang="en-US" sz="1100" dirty="0"/>
          </a:p>
        </p:txBody>
      </p:sp>
      <p:sp>
        <p:nvSpPr>
          <p:cNvPr id="4" name="TrackDot"/>
          <p:cNvSpPr/>
          <p:nvPr/>
        </p:nvSpPr>
        <p:spPr>
          <a:xfrm>
            <a:off x="8366760" y="329184"/>
            <a:ext cx="310896" cy="310896"/>
          </a:xfrm>
          <a:prstGeom prst="ellipse">
            <a:avLst/>
          </a:prstGeom>
          <a:solidFill>
            <a:schemeClr val="bg2"/>
          </a:solidFill>
          <a:ln w="9525">
            <a:solidFill>
              <a:schemeClr val="accent6"/>
            </a:solidFill>
            <a:prstDash val="solid"/>
          </a:ln>
        </p:spPr>
      </p:sp>
      <p:sp>
        <p:nvSpPr>
          <p:cNvPr id="5" name="Text 3"/>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sp>
        <p:nvSpPr>
          <p:cNvPr id="6" name="TrackDot"/>
          <p:cNvSpPr/>
          <p:nvPr/>
        </p:nvSpPr>
        <p:spPr>
          <a:xfrm>
            <a:off x="8750808" y="329184"/>
            <a:ext cx="310896" cy="310896"/>
          </a:xfrm>
          <a:prstGeom prst="ellipse">
            <a:avLst/>
          </a:prstGeom>
          <a:solidFill>
            <a:schemeClr val="bg2"/>
          </a:solidFill>
          <a:ln w="9525">
            <a:solidFill>
              <a:schemeClr val="accent6"/>
            </a:solidFill>
            <a:prstDash val="solid"/>
          </a:ln>
        </p:spPr>
      </p:sp>
      <p:sp>
        <p:nvSpPr>
          <p:cNvPr id="7" name="Text 5"/>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8" name="TrackDot"/>
          <p:cNvSpPr/>
          <p:nvPr/>
        </p:nvSpPr>
        <p:spPr>
          <a:xfrm>
            <a:off x="9134856" y="329184"/>
            <a:ext cx="310896" cy="310896"/>
          </a:xfrm>
          <a:prstGeom prst="ellipse">
            <a:avLst/>
          </a:prstGeom>
          <a:solidFill>
            <a:schemeClr val="bg2"/>
          </a:solidFill>
          <a:ln w="9525">
            <a:solidFill>
              <a:schemeClr val="accent6"/>
            </a:solidFill>
            <a:prstDash val="solid"/>
          </a:ln>
        </p:spPr>
      </p:sp>
      <p:sp>
        <p:nvSpPr>
          <p:cNvPr id="9" name="Text 7"/>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pic>
        <p:nvPicPr>
          <p:cNvPr id="10" name="NumBadge" descr="preencoded.png">    </p:cNvPr>
          <p:cNvPicPr>
            <a:picLocks noChangeAspect="1"/>
          </p:cNvPicPr>
          <p:nvPr/>
        </p:nvPicPr>
        <p:blipFill>
          <a:blip r:embed="rId1"/>
          <a:stretch>
            <a:fillRect/>
          </a:stretch>
        </p:blipFill>
        <p:spPr>
          <a:xfrm>
            <a:off x="9518904" y="329184"/>
            <a:ext cx="310896" cy="310896"/>
          </a:xfrm>
          <a:prstGeom prst="rect">
            <a:avLst/>
          </a:prstGeom>
        </p:spPr>
      </p:pic>
      <p:sp>
        <p:nvSpPr>
          <p:cNvPr id="11" name="Text 8"/>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Arial" pitchFamily="34" charset="0"/>
                <a:ea typeface="Arial" pitchFamily="34" charset="-122"/>
                <a:cs typeface="Arial" pitchFamily="34" charset="-120"/>
              </a:rPr>
              <a:t>A</a:t>
            </a:r>
            <a:endParaRPr lang="en-US" sz="1100" dirty="0"/>
          </a:p>
        </p:txBody>
      </p:sp>
      <p:pic>
        <p:nvPicPr>
          <p:cNvPr id="12" name="Card" descr="preencoded.png">    </p:cNvPr>
          <p:cNvPicPr>
            <a:picLocks noChangeAspect="1"/>
          </p:cNvPicPr>
          <p:nvPr/>
        </p:nvPicPr>
        <p:blipFill>
          <a:blip r:embed="rId2"/>
          <a:stretch>
            <a:fillRect/>
          </a:stretch>
        </p:blipFill>
        <p:spPr>
          <a:xfrm>
            <a:off x="356616" y="1453896"/>
            <a:ext cx="2944368" cy="3584448"/>
          </a:xfrm>
          <a:prstGeom prst="rect">
            <a:avLst/>
          </a:prstGeom>
        </p:spPr>
      </p:pic>
      <p:sp>
        <p:nvSpPr>
          <p:cNvPr id="13" name="Text 9"/>
          <p:cNvSpPr txBox="1"/>
          <p:nvPr/>
        </p:nvSpPr>
        <p:spPr>
          <a:xfrm>
            <a:off x="77724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latin typeface="Arial" pitchFamily="34" charset="0"/>
                <a:ea typeface="Arial" pitchFamily="34" charset="-122"/>
                <a:cs typeface="Arial" pitchFamily="34" charset="-120"/>
              </a:rPr>
              <a:t>P</a:t>
            </a:r>
            <a:endParaRPr lang="en-US" sz="8800" dirty="0"/>
          </a:p>
        </p:txBody>
      </p:sp>
      <p:pic>
        <p:nvPicPr>
          <p:cNvPr id="14" name="Badge" descr="preencoded.png">    </p:cNvPr>
          <p:cNvPicPr>
            <a:picLocks noChangeAspect="1"/>
          </p:cNvPicPr>
          <p:nvPr/>
        </p:nvPicPr>
        <p:blipFill>
          <a:blip r:embed="rId3"/>
          <a:stretch>
            <a:fillRect/>
          </a:stretch>
        </p:blipFill>
        <p:spPr>
          <a:xfrm>
            <a:off x="2286000" y="1920240"/>
            <a:ext cx="594360" cy="594360"/>
          </a:xfrm>
          <a:prstGeom prst="rect">
            <a:avLst/>
          </a:prstGeom>
        </p:spPr>
      </p:pic>
      <p:sp>
        <p:nvSpPr>
          <p:cNvPr id="15" name="Text 10"/>
          <p:cNvSpPr txBox="1"/>
          <p:nvPr/>
        </p:nvSpPr>
        <p:spPr>
          <a:xfrm>
            <a:off x="777240" y="3108960"/>
            <a:ext cx="2103120" cy="411480"/>
          </a:xfrm>
          <a:prstGeom prst="rect">
            <a:avLst/>
          </a:prstGeom>
          <a:noFill/>
          <a:ln/>
        </p:spPr>
        <p:txBody>
          <a:bodyPr wrap="square" lIns="0" tIns="0" rIns="0" bIns="0" rtlCol="0" anchor="t"/>
          <a:lstStyle/>
          <a:p>
            <a:pPr indent="0" marL="0">
              <a:buNone/>
            </a:pPr>
            <a:r>
              <a:rPr lang="en-US" sz="1800" b="1" spc="300" kern="0" dirty="0">
                <a:solidFill>
                  <a:schemeClr val="tx1"/>
                </a:solidFill>
              </a:rPr>
              <a:t>PURPOSE</a:t>
            </a:r>
            <a:endParaRPr lang="en-US" sz="1800" dirty="0"/>
          </a:p>
        </p:txBody>
      </p:sp>
      <p:sp>
        <p:nvSpPr>
          <p:cNvPr id="16" name="Text 11"/>
          <p:cNvSpPr txBox="1"/>
          <p:nvPr/>
        </p:nvSpPr>
        <p:spPr>
          <a:xfrm>
            <a:off x="777240" y="3566160"/>
            <a:ext cx="2103120" cy="1097280"/>
          </a:xfrm>
          <a:prstGeom prst="rect">
            <a:avLst/>
          </a:prstGeom>
          <a:noFill/>
          <a:ln/>
        </p:spPr>
        <p:txBody>
          <a:bodyPr wrap="square" lIns="0" tIns="0" rIns="0" bIns="0" rtlCol="0" anchor="t"/>
          <a:lstStyle/>
          <a:p>
            <a:pPr indent="0" marL="0">
              <a:buNone/>
            </a:pPr>
            <a:r>
              <a:rPr lang="en-US" sz="1500" dirty="0">
                <a:solidFill>
                  <a:schemeClr val="accent5"/>
                </a:solidFill>
              </a:rPr>
              <a:t>What? And Why?</a:t>
            </a:r>
            <a:endParaRPr lang="en-US" sz="1500" dirty="0"/>
          </a:p>
        </p:txBody>
      </p:sp>
      <p:pic>
        <p:nvPicPr>
          <p:cNvPr id="17" name="Card" descr="preencoded.png">    </p:cNvPr>
          <p:cNvPicPr>
            <a:picLocks noChangeAspect="1"/>
          </p:cNvPicPr>
          <p:nvPr/>
        </p:nvPicPr>
        <p:blipFill>
          <a:blip r:embed="rId4"/>
          <a:stretch>
            <a:fillRect/>
          </a:stretch>
        </p:blipFill>
        <p:spPr>
          <a:xfrm>
            <a:off x="3191256" y="1453896"/>
            <a:ext cx="2944368" cy="3584448"/>
          </a:xfrm>
          <a:prstGeom prst="rect">
            <a:avLst/>
          </a:prstGeom>
        </p:spPr>
      </p:pic>
      <p:sp>
        <p:nvSpPr>
          <p:cNvPr id="18" name="Text 12"/>
          <p:cNvSpPr txBox="1"/>
          <p:nvPr/>
        </p:nvSpPr>
        <p:spPr>
          <a:xfrm>
            <a:off x="361188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latin typeface="Arial" pitchFamily="34" charset="0"/>
                <a:ea typeface="Arial" pitchFamily="34" charset="-122"/>
                <a:cs typeface="Arial" pitchFamily="34" charset="-120"/>
              </a:rPr>
              <a:t>A</a:t>
            </a:r>
            <a:endParaRPr lang="en-US" sz="8800" dirty="0"/>
          </a:p>
        </p:txBody>
      </p:sp>
      <p:pic>
        <p:nvPicPr>
          <p:cNvPr id="19" name="Badge" descr="preencoded.png">    </p:cNvPr>
          <p:cNvPicPr>
            <a:picLocks noChangeAspect="1"/>
          </p:cNvPicPr>
          <p:nvPr/>
        </p:nvPicPr>
        <p:blipFill>
          <a:blip r:embed="rId5"/>
          <a:stretch>
            <a:fillRect/>
          </a:stretch>
        </p:blipFill>
        <p:spPr>
          <a:xfrm>
            <a:off x="5120640" y="1920240"/>
            <a:ext cx="594360" cy="594360"/>
          </a:xfrm>
          <a:prstGeom prst="rect">
            <a:avLst/>
          </a:prstGeom>
        </p:spPr>
      </p:pic>
      <p:sp>
        <p:nvSpPr>
          <p:cNvPr id="20" name="Text 13"/>
          <p:cNvSpPr txBox="1"/>
          <p:nvPr/>
        </p:nvSpPr>
        <p:spPr>
          <a:xfrm>
            <a:off x="3611880" y="3108960"/>
            <a:ext cx="2103120" cy="411480"/>
          </a:xfrm>
          <a:prstGeom prst="rect">
            <a:avLst/>
          </a:prstGeom>
          <a:noFill/>
          <a:ln/>
        </p:spPr>
        <p:txBody>
          <a:bodyPr wrap="square" lIns="0" tIns="0" rIns="0" bIns="0" rtlCol="0" anchor="t"/>
          <a:lstStyle/>
          <a:p>
            <a:pPr indent="0" marL="0">
              <a:buNone/>
            </a:pPr>
            <a:r>
              <a:rPr lang="en-US" sz="1800" b="1" spc="300" kern="0" dirty="0">
                <a:solidFill>
                  <a:schemeClr val="tx1"/>
                </a:solidFill>
              </a:rPr>
              <a:t>AUDIENCE</a:t>
            </a:r>
            <a:endParaRPr lang="en-US" sz="1800" dirty="0"/>
          </a:p>
        </p:txBody>
      </p:sp>
      <p:sp>
        <p:nvSpPr>
          <p:cNvPr id="21" name="Text 14"/>
          <p:cNvSpPr txBox="1"/>
          <p:nvPr/>
        </p:nvSpPr>
        <p:spPr>
          <a:xfrm>
            <a:off x="3611880" y="3566160"/>
            <a:ext cx="2103120" cy="1097280"/>
          </a:xfrm>
          <a:prstGeom prst="rect">
            <a:avLst/>
          </a:prstGeom>
          <a:noFill/>
          <a:ln/>
        </p:spPr>
        <p:txBody>
          <a:bodyPr wrap="square" lIns="0" tIns="0" rIns="0" bIns="0" rtlCol="0" anchor="t"/>
          <a:lstStyle/>
          <a:p>
            <a:pPr indent="0" marL="0">
              <a:buNone/>
            </a:pPr>
            <a:r>
              <a:rPr lang="en-US" sz="1500" dirty="0">
                <a:solidFill>
                  <a:schemeClr val="accent5"/>
                </a:solidFill>
              </a:rPr>
              <a:t>Who? And How?</a:t>
            </a:r>
            <a:endParaRPr lang="en-US" sz="1500" dirty="0"/>
          </a:p>
        </p:txBody>
      </p:sp>
      <p:pic>
        <p:nvPicPr>
          <p:cNvPr id="22" name="Card" descr="preencoded.png">    </p:cNvPr>
          <p:cNvPicPr>
            <a:picLocks noChangeAspect="1"/>
          </p:cNvPicPr>
          <p:nvPr/>
        </p:nvPicPr>
        <p:blipFill>
          <a:blip r:embed="rId6"/>
          <a:stretch>
            <a:fillRect/>
          </a:stretch>
        </p:blipFill>
        <p:spPr>
          <a:xfrm>
            <a:off x="6025896" y="1453896"/>
            <a:ext cx="2944368" cy="3584448"/>
          </a:xfrm>
          <a:prstGeom prst="rect">
            <a:avLst/>
          </a:prstGeom>
        </p:spPr>
      </p:pic>
      <p:sp>
        <p:nvSpPr>
          <p:cNvPr id="23" name="Text 15"/>
          <p:cNvSpPr txBox="1"/>
          <p:nvPr/>
        </p:nvSpPr>
        <p:spPr>
          <a:xfrm>
            <a:off x="644652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latin typeface="Arial" pitchFamily="34" charset="0"/>
                <a:ea typeface="Arial" pitchFamily="34" charset="-122"/>
                <a:cs typeface="Arial" pitchFamily="34" charset="-120"/>
              </a:rPr>
              <a:t>C</a:t>
            </a:r>
            <a:endParaRPr lang="en-US" sz="8800" dirty="0"/>
          </a:p>
        </p:txBody>
      </p:sp>
      <p:pic>
        <p:nvPicPr>
          <p:cNvPr id="24" name="Badge" descr="preencoded.png">    </p:cNvPr>
          <p:cNvPicPr>
            <a:picLocks noChangeAspect="1"/>
          </p:cNvPicPr>
          <p:nvPr/>
        </p:nvPicPr>
        <p:blipFill>
          <a:blip r:embed="rId7"/>
          <a:stretch>
            <a:fillRect/>
          </a:stretch>
        </p:blipFill>
        <p:spPr>
          <a:xfrm>
            <a:off x="7955280" y="1920240"/>
            <a:ext cx="594360" cy="594360"/>
          </a:xfrm>
          <a:prstGeom prst="rect">
            <a:avLst/>
          </a:prstGeom>
        </p:spPr>
      </p:pic>
      <p:sp>
        <p:nvSpPr>
          <p:cNvPr id="25" name="Text 16"/>
          <p:cNvSpPr txBox="1"/>
          <p:nvPr/>
        </p:nvSpPr>
        <p:spPr>
          <a:xfrm>
            <a:off x="6446520" y="3108960"/>
            <a:ext cx="2103120" cy="411480"/>
          </a:xfrm>
          <a:prstGeom prst="rect">
            <a:avLst/>
          </a:prstGeom>
          <a:noFill/>
          <a:ln/>
        </p:spPr>
        <p:txBody>
          <a:bodyPr wrap="square" lIns="0" tIns="0" rIns="0" bIns="0" rtlCol="0" anchor="t"/>
          <a:lstStyle/>
          <a:p>
            <a:pPr indent="0" marL="0">
              <a:buNone/>
            </a:pPr>
            <a:r>
              <a:rPr lang="en-US" sz="1800" b="1" spc="300" kern="0" dirty="0">
                <a:solidFill>
                  <a:schemeClr val="tx1"/>
                </a:solidFill>
              </a:rPr>
              <a:t>CONTEXT</a:t>
            </a:r>
            <a:endParaRPr lang="en-US" sz="1800" dirty="0"/>
          </a:p>
        </p:txBody>
      </p:sp>
      <p:sp>
        <p:nvSpPr>
          <p:cNvPr id="26" name="Text 17"/>
          <p:cNvSpPr txBox="1"/>
          <p:nvPr/>
        </p:nvSpPr>
        <p:spPr>
          <a:xfrm>
            <a:off x="6446520" y="3566160"/>
            <a:ext cx="2103120" cy="1097280"/>
          </a:xfrm>
          <a:prstGeom prst="rect">
            <a:avLst/>
          </a:prstGeom>
          <a:noFill/>
          <a:ln/>
        </p:spPr>
        <p:txBody>
          <a:bodyPr wrap="square" lIns="0" tIns="0" rIns="0" bIns="0" rtlCol="0" anchor="t"/>
          <a:lstStyle/>
          <a:p>
            <a:pPr indent="0" marL="0">
              <a:buNone/>
            </a:pPr>
            <a:r>
              <a:rPr lang="en-US" sz="1500" dirty="0">
                <a:solidFill>
                  <a:schemeClr val="accent5"/>
                </a:solidFill>
              </a:rPr>
              <a:t>Industry, business scenario, local variables and outcomes</a:t>
            </a:r>
            <a:endParaRPr lang="en-US" sz="1500" dirty="0"/>
          </a:p>
        </p:txBody>
      </p:sp>
      <p:pic>
        <p:nvPicPr>
          <p:cNvPr id="27" name="Card" descr="preencoded.png">    </p:cNvPr>
          <p:cNvPicPr>
            <a:picLocks noChangeAspect="1"/>
          </p:cNvPicPr>
          <p:nvPr/>
        </p:nvPicPr>
        <p:blipFill>
          <a:blip r:embed="rId8"/>
          <a:stretch>
            <a:fillRect/>
          </a:stretch>
        </p:blipFill>
        <p:spPr>
          <a:xfrm>
            <a:off x="8860536" y="1453896"/>
            <a:ext cx="2944368" cy="3584448"/>
          </a:xfrm>
          <a:prstGeom prst="rect">
            <a:avLst/>
          </a:prstGeom>
        </p:spPr>
      </p:pic>
      <p:sp>
        <p:nvSpPr>
          <p:cNvPr id="28" name="Text 18"/>
          <p:cNvSpPr txBox="1"/>
          <p:nvPr/>
        </p:nvSpPr>
        <p:spPr>
          <a:xfrm>
            <a:off x="9281160" y="1783080"/>
            <a:ext cx="1188720" cy="1188720"/>
          </a:xfrm>
          <a:prstGeom prst="rect">
            <a:avLst/>
          </a:prstGeom>
          <a:noFill/>
          <a:ln/>
        </p:spPr>
        <p:txBody>
          <a:bodyPr wrap="square" lIns="0" tIns="0" rIns="0" bIns="0" rtlCol="0" anchor="ctr"/>
          <a:lstStyle/>
          <a:p>
            <a:pPr indent="0" marL="0">
              <a:buNone/>
            </a:pPr>
            <a:r>
              <a:rPr lang="en-US" sz="8800" b="1" dirty="0">
                <a:solidFill>
                  <a:schemeClr val="accent1"/>
                </a:solidFill>
                <a:latin typeface="Arial" pitchFamily="34" charset="0"/>
                <a:ea typeface="Arial" pitchFamily="34" charset="-122"/>
                <a:cs typeface="Arial" pitchFamily="34" charset="-120"/>
              </a:rPr>
              <a:t>E</a:t>
            </a:r>
            <a:endParaRPr lang="en-US" sz="8800" dirty="0"/>
          </a:p>
        </p:txBody>
      </p:sp>
      <p:pic>
        <p:nvPicPr>
          <p:cNvPr id="29" name="Badge" descr="preencoded.png">    </p:cNvPr>
          <p:cNvPicPr>
            <a:picLocks noChangeAspect="1"/>
          </p:cNvPicPr>
          <p:nvPr/>
        </p:nvPicPr>
        <p:blipFill>
          <a:blip r:embed="rId9"/>
          <a:stretch>
            <a:fillRect/>
          </a:stretch>
        </p:blipFill>
        <p:spPr>
          <a:xfrm>
            <a:off x="10789920" y="1920240"/>
            <a:ext cx="594360" cy="594360"/>
          </a:xfrm>
          <a:prstGeom prst="rect">
            <a:avLst/>
          </a:prstGeom>
        </p:spPr>
      </p:pic>
      <p:sp>
        <p:nvSpPr>
          <p:cNvPr id="30" name="Text 19"/>
          <p:cNvSpPr txBox="1"/>
          <p:nvPr/>
        </p:nvSpPr>
        <p:spPr>
          <a:xfrm>
            <a:off x="9281160" y="3108960"/>
            <a:ext cx="2103120" cy="411480"/>
          </a:xfrm>
          <a:prstGeom prst="rect">
            <a:avLst/>
          </a:prstGeom>
          <a:noFill/>
          <a:ln/>
        </p:spPr>
        <p:txBody>
          <a:bodyPr wrap="square" lIns="0" tIns="0" rIns="0" bIns="0" rtlCol="0" anchor="t"/>
          <a:lstStyle/>
          <a:p>
            <a:pPr indent="0" marL="0">
              <a:buNone/>
            </a:pPr>
            <a:r>
              <a:rPr lang="en-US" sz="1800" b="1" spc="300" kern="0" dirty="0">
                <a:solidFill>
                  <a:schemeClr val="tx1"/>
                </a:solidFill>
              </a:rPr>
              <a:t>EXPERIENCE</a:t>
            </a:r>
            <a:endParaRPr lang="en-US" sz="1800" dirty="0"/>
          </a:p>
        </p:txBody>
      </p:sp>
      <p:sp>
        <p:nvSpPr>
          <p:cNvPr id="31" name="Text 20"/>
          <p:cNvSpPr txBox="1"/>
          <p:nvPr/>
        </p:nvSpPr>
        <p:spPr>
          <a:xfrm>
            <a:off x="9281160" y="3566160"/>
            <a:ext cx="2103120" cy="1097280"/>
          </a:xfrm>
          <a:prstGeom prst="rect">
            <a:avLst/>
          </a:prstGeom>
          <a:noFill/>
          <a:ln/>
        </p:spPr>
        <p:txBody>
          <a:bodyPr wrap="square" lIns="0" tIns="0" rIns="0" bIns="0" rtlCol="0" anchor="t"/>
          <a:lstStyle/>
          <a:p>
            <a:pPr indent="0" marL="0">
              <a:buNone/>
            </a:pPr>
            <a:r>
              <a:rPr lang="en-US" sz="1500" dirty="0">
                <a:solidFill>
                  <a:schemeClr val="accent5"/>
                </a:solidFill>
              </a:rPr>
              <a:t>Simple, intuitive, easy to understand</a:t>
            </a:r>
            <a:endParaRPr lang="en-US" sz="1500" dirty="0"/>
          </a:p>
        </p:txBody>
      </p:sp>
      <p:pic>
        <p:nvPicPr>
          <p:cNvPr id="32" name="Card" descr="preencoded.png">    </p:cNvPr>
          <p:cNvPicPr>
            <a:picLocks noChangeAspect="1"/>
          </p:cNvPicPr>
          <p:nvPr/>
        </p:nvPicPr>
        <p:blipFill>
          <a:blip r:embed="rId10"/>
          <a:stretch>
            <a:fillRect/>
          </a:stretch>
        </p:blipFill>
        <p:spPr>
          <a:xfrm>
            <a:off x="356616" y="4974336"/>
            <a:ext cx="11478463" cy="1344168"/>
          </a:xfrm>
          <a:prstGeom prst="rect">
            <a:avLst/>
          </a:prstGeom>
        </p:spPr>
      </p:pic>
      <p:pic>
        <p:nvPicPr>
          <p:cNvPr id="33" name="Badge" descr="preencoded.png">    </p:cNvPr>
          <p:cNvPicPr>
            <a:picLocks noChangeAspect="1"/>
          </p:cNvPicPr>
          <p:nvPr/>
        </p:nvPicPr>
        <p:blipFill>
          <a:blip r:embed="rId11"/>
          <a:stretch>
            <a:fillRect/>
          </a:stretch>
        </p:blipFill>
        <p:spPr>
          <a:xfrm>
            <a:off x="822960" y="5349240"/>
            <a:ext cx="594360" cy="594360"/>
          </a:xfrm>
          <a:prstGeom prst="rect">
            <a:avLst/>
          </a:prstGeom>
        </p:spPr>
      </p:pic>
      <p:sp>
        <p:nvSpPr>
          <p:cNvPr id="34" name="Text 21"/>
          <p:cNvSpPr txBox="1"/>
          <p:nvPr/>
        </p:nvSpPr>
        <p:spPr>
          <a:xfrm>
            <a:off x="1645920" y="5120640"/>
            <a:ext cx="9144000" cy="1051560"/>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RESULT:  </a:t>
            </a:r>
            <a:pPr indent="0" marL="0">
              <a:buNone/>
            </a:pPr>
            <a:r>
              <a:rPr lang="en-US" sz="2200" b="1" dirty="0">
                <a:solidFill>
                  <a:schemeClr val="bg1"/>
                </a:solidFill>
                <a:latin typeface="Arial" pitchFamily="34" charset="0"/>
                <a:ea typeface="Arial" pitchFamily="34" charset="-122"/>
                <a:cs typeface="Arial" pitchFamily="34" charset="-120"/>
              </a:rPr>
              <a:t>Data transforms from “information” to “insight”</a:t>
            </a:r>
            <a:endParaRPr lang="en-US" sz="2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Our Value Proposition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WHAT YOU GET</a:t>
            </a:r>
            <a:endParaRPr lang="en-US" sz="1100" dirty="0"/>
          </a:p>
        </p:txBody>
      </p:sp>
      <p:pic>
        <p:nvPicPr>
          <p:cNvPr id="4" name="Card" descr="preencoded.png">    </p:cNvPr>
          <p:cNvPicPr>
            <a:picLocks noChangeAspect="1"/>
          </p:cNvPicPr>
          <p:nvPr/>
        </p:nvPicPr>
        <p:blipFill>
          <a:blip r:embed="rId1"/>
          <a:stretch>
            <a:fillRect/>
          </a:stretch>
        </p:blipFill>
        <p:spPr>
          <a:xfrm>
            <a:off x="356616" y="1499616"/>
            <a:ext cx="2944368" cy="3904488"/>
          </a:xfrm>
          <a:prstGeom prst="rect">
            <a:avLst/>
          </a:prstGeom>
        </p:spPr>
      </p:pic>
      <p:sp>
        <p:nvSpPr>
          <p:cNvPr id="5" name="Text 2"/>
          <p:cNvSpPr txBox="1"/>
          <p:nvPr/>
        </p:nvSpPr>
        <p:spPr>
          <a:xfrm>
            <a:off x="2148840" y="1920240"/>
            <a:ext cx="731520" cy="457200"/>
          </a:xfrm>
          <a:prstGeom prst="rect">
            <a:avLst/>
          </a:prstGeom>
          <a:noFill/>
          <a:ln/>
        </p:spPr>
        <p:txBody>
          <a:bodyPr wrap="square" lIns="0" tIns="0" rIns="0" bIns="0" rtlCol="0" anchor="t"/>
          <a:lstStyle/>
          <a:p>
            <a:pPr algn="r" indent="0" marL="0">
              <a:buNone/>
            </a:pPr>
            <a:r>
              <a:rPr lang="en-US" sz="2000" b="1" dirty="0">
                <a:solidFill>
                  <a:schemeClr val="accent6"/>
                </a:solidFill>
                <a:latin typeface="Arial" pitchFamily="34" charset="0"/>
                <a:ea typeface="Arial" pitchFamily="34" charset="-122"/>
                <a:cs typeface="Arial" pitchFamily="34" charset="-120"/>
              </a:rPr>
              <a:t>01</a:t>
            </a:r>
            <a:endParaRPr lang="en-US" sz="2000" dirty="0"/>
          </a:p>
        </p:txBody>
      </p:sp>
      <p:pic>
        <p:nvPicPr>
          <p:cNvPr id="6" name="Badge" descr="preencoded.png">    </p:cNvPr>
          <p:cNvPicPr>
            <a:picLocks noChangeAspect="1"/>
          </p:cNvPicPr>
          <p:nvPr/>
        </p:nvPicPr>
        <p:blipFill>
          <a:blip r:embed="rId2"/>
          <a:stretch>
            <a:fillRect/>
          </a:stretch>
        </p:blipFill>
        <p:spPr>
          <a:xfrm>
            <a:off x="777240" y="1965960"/>
            <a:ext cx="914400" cy="914400"/>
          </a:xfrm>
          <a:prstGeom prst="rect">
            <a:avLst/>
          </a:prstGeom>
        </p:spPr>
      </p:pic>
      <p:sp>
        <p:nvSpPr>
          <p:cNvPr id="7" name="Text 3"/>
          <p:cNvSpPr txBox="1"/>
          <p:nvPr/>
        </p:nvSpPr>
        <p:spPr>
          <a:xfrm>
            <a:off x="77724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900" b="1" dirty="0">
                <a:solidFill>
                  <a:schemeClr val="tx1"/>
                </a:solidFill>
              </a:rPr>
              <a:t>Unified, governed data</a:t>
            </a:r>
            <a:endParaRPr lang="en-US" sz="1400" dirty="0"/>
          </a:p>
          <a:p>
            <a:pPr indent="0" marL="0">
              <a:lnSpc>
                <a:spcPct val="110000"/>
              </a:lnSpc>
              <a:spcAft>
                <a:spcPts val="600"/>
              </a:spcAft>
              <a:buNone/>
            </a:pPr>
            <a:r>
              <a:rPr lang="en-US" sz="1400" dirty="0">
                <a:solidFill>
                  <a:schemeClr val="accent5"/>
                </a:solidFill>
              </a:rPr>
              <a:t>across multiple sources and storages with compliance, access control, lineage, and privacy by design.</a:t>
            </a:r>
            <a:endParaRPr lang="en-US" sz="1400" dirty="0"/>
          </a:p>
        </p:txBody>
      </p:sp>
      <p:pic>
        <p:nvPicPr>
          <p:cNvPr id="8" name="Card" descr="preencoded.png">    </p:cNvPr>
          <p:cNvPicPr>
            <a:picLocks noChangeAspect="1"/>
          </p:cNvPicPr>
          <p:nvPr/>
        </p:nvPicPr>
        <p:blipFill>
          <a:blip r:embed="rId3"/>
          <a:stretch>
            <a:fillRect/>
          </a:stretch>
        </p:blipFill>
        <p:spPr>
          <a:xfrm>
            <a:off x="3191256" y="1499616"/>
            <a:ext cx="2944368" cy="3904488"/>
          </a:xfrm>
          <a:prstGeom prst="rect">
            <a:avLst/>
          </a:prstGeom>
        </p:spPr>
      </p:pic>
      <p:sp>
        <p:nvSpPr>
          <p:cNvPr id="9" name="Text 4"/>
          <p:cNvSpPr txBox="1"/>
          <p:nvPr/>
        </p:nvSpPr>
        <p:spPr>
          <a:xfrm>
            <a:off x="4983480" y="1920240"/>
            <a:ext cx="731520" cy="457200"/>
          </a:xfrm>
          <a:prstGeom prst="rect">
            <a:avLst/>
          </a:prstGeom>
          <a:noFill/>
          <a:ln/>
        </p:spPr>
        <p:txBody>
          <a:bodyPr wrap="square" lIns="0" tIns="0" rIns="0" bIns="0" rtlCol="0" anchor="t"/>
          <a:lstStyle/>
          <a:p>
            <a:pPr algn="r" indent="0" marL="0">
              <a:buNone/>
            </a:pPr>
            <a:r>
              <a:rPr lang="en-US" sz="2000" b="1" dirty="0">
                <a:solidFill>
                  <a:schemeClr val="accent6"/>
                </a:solidFill>
                <a:latin typeface="Arial" pitchFamily="34" charset="0"/>
                <a:ea typeface="Arial" pitchFamily="34" charset="-122"/>
                <a:cs typeface="Arial" pitchFamily="34" charset="-120"/>
              </a:rPr>
              <a:t>02</a:t>
            </a:r>
            <a:endParaRPr lang="en-US" sz="2000" dirty="0"/>
          </a:p>
        </p:txBody>
      </p:sp>
      <p:pic>
        <p:nvPicPr>
          <p:cNvPr id="10" name="Badge" descr="preencoded.png">    </p:cNvPr>
          <p:cNvPicPr>
            <a:picLocks noChangeAspect="1"/>
          </p:cNvPicPr>
          <p:nvPr/>
        </p:nvPicPr>
        <p:blipFill>
          <a:blip r:embed="rId4"/>
          <a:stretch>
            <a:fillRect/>
          </a:stretch>
        </p:blipFill>
        <p:spPr>
          <a:xfrm>
            <a:off x="3611880" y="1965960"/>
            <a:ext cx="914400" cy="914400"/>
          </a:xfrm>
          <a:prstGeom prst="rect">
            <a:avLst/>
          </a:prstGeom>
        </p:spPr>
      </p:pic>
      <p:sp>
        <p:nvSpPr>
          <p:cNvPr id="11" name="Text 5"/>
          <p:cNvSpPr txBox="1"/>
          <p:nvPr/>
        </p:nvSpPr>
        <p:spPr>
          <a:xfrm>
            <a:off x="361188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900" b="1" dirty="0">
                <a:solidFill>
                  <a:schemeClr val="tx1"/>
                </a:solidFill>
              </a:rPr>
              <a:t>Real-time + historical insights</a:t>
            </a:r>
            <a:endParaRPr lang="en-US" sz="1400" dirty="0"/>
          </a:p>
          <a:p>
            <a:pPr indent="0" marL="0">
              <a:lnSpc>
                <a:spcPct val="110000"/>
              </a:lnSpc>
              <a:spcAft>
                <a:spcPts val="600"/>
              </a:spcAft>
              <a:buNone/>
            </a:pPr>
            <a:r>
              <a:rPr lang="en-US" sz="1400" dirty="0">
                <a:solidFill>
                  <a:schemeClr val="accent5"/>
                </a:solidFill>
              </a:rPr>
              <a:t>at enterprise scale to support BI, ML, and GenAI use cases.</a:t>
            </a:r>
            <a:endParaRPr lang="en-US" sz="1400" dirty="0"/>
          </a:p>
        </p:txBody>
      </p:sp>
      <p:pic>
        <p:nvPicPr>
          <p:cNvPr id="12" name="Card" descr="preencoded.png">    </p:cNvPr>
          <p:cNvPicPr>
            <a:picLocks noChangeAspect="1"/>
          </p:cNvPicPr>
          <p:nvPr/>
        </p:nvPicPr>
        <p:blipFill>
          <a:blip r:embed="rId5"/>
          <a:stretch>
            <a:fillRect/>
          </a:stretch>
        </p:blipFill>
        <p:spPr>
          <a:xfrm>
            <a:off x="6025896" y="1499616"/>
            <a:ext cx="2944368" cy="3904488"/>
          </a:xfrm>
          <a:prstGeom prst="rect">
            <a:avLst/>
          </a:prstGeom>
        </p:spPr>
      </p:pic>
      <p:sp>
        <p:nvSpPr>
          <p:cNvPr id="13" name="Text 6"/>
          <p:cNvSpPr txBox="1"/>
          <p:nvPr/>
        </p:nvSpPr>
        <p:spPr>
          <a:xfrm>
            <a:off x="7818120" y="1920240"/>
            <a:ext cx="731520" cy="457200"/>
          </a:xfrm>
          <a:prstGeom prst="rect">
            <a:avLst/>
          </a:prstGeom>
          <a:noFill/>
          <a:ln/>
        </p:spPr>
        <p:txBody>
          <a:bodyPr wrap="square" lIns="0" tIns="0" rIns="0" bIns="0" rtlCol="0" anchor="t"/>
          <a:lstStyle/>
          <a:p>
            <a:pPr algn="r" indent="0" marL="0">
              <a:buNone/>
            </a:pPr>
            <a:r>
              <a:rPr lang="en-US" sz="2000" b="1" dirty="0">
                <a:solidFill>
                  <a:schemeClr val="accent6"/>
                </a:solidFill>
                <a:latin typeface="Arial" pitchFamily="34" charset="0"/>
                <a:ea typeface="Arial" pitchFamily="34" charset="-122"/>
                <a:cs typeface="Arial" pitchFamily="34" charset="-120"/>
              </a:rPr>
              <a:t>03</a:t>
            </a:r>
            <a:endParaRPr lang="en-US" sz="2000" dirty="0"/>
          </a:p>
        </p:txBody>
      </p:sp>
      <p:pic>
        <p:nvPicPr>
          <p:cNvPr id="14" name="Badge" descr="preencoded.png">    </p:cNvPr>
          <p:cNvPicPr>
            <a:picLocks noChangeAspect="1"/>
          </p:cNvPicPr>
          <p:nvPr/>
        </p:nvPicPr>
        <p:blipFill>
          <a:blip r:embed="rId6"/>
          <a:stretch>
            <a:fillRect/>
          </a:stretch>
        </p:blipFill>
        <p:spPr>
          <a:xfrm>
            <a:off x="6446520" y="1965960"/>
            <a:ext cx="914400" cy="914400"/>
          </a:xfrm>
          <a:prstGeom prst="rect">
            <a:avLst/>
          </a:prstGeom>
        </p:spPr>
      </p:pic>
      <p:sp>
        <p:nvSpPr>
          <p:cNvPr id="15" name="Text 7"/>
          <p:cNvSpPr txBox="1"/>
          <p:nvPr/>
        </p:nvSpPr>
        <p:spPr>
          <a:xfrm>
            <a:off x="644652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900" b="1" dirty="0">
                <a:solidFill>
                  <a:schemeClr val="tx1"/>
                </a:solidFill>
              </a:rPr>
              <a:t>Accelerated time-to-value</a:t>
            </a:r>
            <a:endParaRPr lang="en-US" sz="1400" dirty="0"/>
          </a:p>
          <a:p>
            <a:pPr indent="0" marL="0">
              <a:lnSpc>
                <a:spcPct val="110000"/>
              </a:lnSpc>
              <a:spcAft>
                <a:spcPts val="600"/>
              </a:spcAft>
              <a:buNone/>
            </a:pPr>
            <a:r>
              <a:rPr lang="en-US" sz="1400" dirty="0">
                <a:solidFill>
                  <a:schemeClr val="accent5"/>
                </a:solidFill>
              </a:rPr>
              <a:t>via proven service offerings in Data Engineering, Business Intelligence, Data Science, and Digitization.</a:t>
            </a:r>
            <a:endParaRPr lang="en-US" sz="1400" dirty="0"/>
          </a:p>
        </p:txBody>
      </p:sp>
      <p:pic>
        <p:nvPicPr>
          <p:cNvPr id="16" name="Card" descr="preencoded.png">    </p:cNvPr>
          <p:cNvPicPr>
            <a:picLocks noChangeAspect="1"/>
          </p:cNvPicPr>
          <p:nvPr/>
        </p:nvPicPr>
        <p:blipFill>
          <a:blip r:embed="rId7"/>
          <a:stretch>
            <a:fillRect/>
          </a:stretch>
        </p:blipFill>
        <p:spPr>
          <a:xfrm>
            <a:off x="8860536" y="1499616"/>
            <a:ext cx="2944368" cy="3904488"/>
          </a:xfrm>
          <a:prstGeom prst="rect">
            <a:avLst/>
          </a:prstGeom>
        </p:spPr>
      </p:pic>
      <p:sp>
        <p:nvSpPr>
          <p:cNvPr id="17" name="Text 8"/>
          <p:cNvSpPr txBox="1"/>
          <p:nvPr/>
        </p:nvSpPr>
        <p:spPr>
          <a:xfrm>
            <a:off x="10652760" y="1920240"/>
            <a:ext cx="731520" cy="457200"/>
          </a:xfrm>
          <a:prstGeom prst="rect">
            <a:avLst/>
          </a:prstGeom>
          <a:noFill/>
          <a:ln/>
        </p:spPr>
        <p:txBody>
          <a:bodyPr wrap="square" lIns="0" tIns="0" rIns="0" bIns="0" rtlCol="0" anchor="t"/>
          <a:lstStyle/>
          <a:p>
            <a:pPr algn="r" indent="0" marL="0">
              <a:buNone/>
            </a:pPr>
            <a:r>
              <a:rPr lang="en-US" sz="2000" b="1" dirty="0">
                <a:solidFill>
                  <a:schemeClr val="accent3"/>
                </a:solidFill>
                <a:latin typeface="Arial" pitchFamily="34" charset="0"/>
                <a:ea typeface="Arial" pitchFamily="34" charset="-122"/>
                <a:cs typeface="Arial" pitchFamily="34" charset="-120"/>
              </a:rPr>
              <a:t>04</a:t>
            </a:r>
            <a:endParaRPr lang="en-US" sz="2000" dirty="0"/>
          </a:p>
        </p:txBody>
      </p:sp>
      <p:pic>
        <p:nvPicPr>
          <p:cNvPr id="18" name="Badge" descr="preencoded.png">    </p:cNvPr>
          <p:cNvPicPr>
            <a:picLocks noChangeAspect="1"/>
          </p:cNvPicPr>
          <p:nvPr/>
        </p:nvPicPr>
        <p:blipFill>
          <a:blip r:embed="rId8"/>
          <a:stretch>
            <a:fillRect/>
          </a:stretch>
        </p:blipFill>
        <p:spPr>
          <a:xfrm>
            <a:off x="9281160" y="1965960"/>
            <a:ext cx="914400" cy="914400"/>
          </a:xfrm>
          <a:prstGeom prst="rect">
            <a:avLst/>
          </a:prstGeom>
        </p:spPr>
      </p:pic>
      <p:sp>
        <p:nvSpPr>
          <p:cNvPr id="19" name="Text 9"/>
          <p:cNvSpPr txBox="1"/>
          <p:nvPr/>
        </p:nvSpPr>
        <p:spPr>
          <a:xfrm>
            <a:off x="928116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900" b="1" dirty="0">
                <a:solidFill>
                  <a:schemeClr val="bg1"/>
                </a:solidFill>
              </a:rPr>
              <a:t>Outcome-centric delivery</a:t>
            </a:r>
            <a:endParaRPr lang="en-US" sz="1400" dirty="0"/>
          </a:p>
          <a:p>
            <a:pPr indent="0" marL="0">
              <a:lnSpc>
                <a:spcPct val="110000"/>
              </a:lnSpc>
              <a:spcAft>
                <a:spcPts val="600"/>
              </a:spcAft>
              <a:buNone/>
            </a:pPr>
            <a:r>
              <a:rPr lang="en-US" sz="1400" dirty="0">
                <a:solidFill>
                  <a:schemeClr val="bg1"/>
                </a:solidFill>
              </a:rPr>
              <a:t>that connects technology choices to tangible business impact.</a:t>
            </a:r>
            <a:endParaRPr lang="en-US" sz="1400" dirty="0"/>
          </a:p>
        </p:txBody>
      </p:sp>
      <p:pic>
        <p:nvPicPr>
          <p:cNvPr id="20" name="Card" descr="preencoded.png">    </p:cNvPr>
          <p:cNvPicPr>
            <a:picLocks noChangeAspect="1"/>
          </p:cNvPicPr>
          <p:nvPr/>
        </p:nvPicPr>
        <p:blipFill>
          <a:blip r:embed="rId9"/>
          <a:stretch>
            <a:fillRect/>
          </a:stretch>
        </p:blipFill>
        <p:spPr>
          <a:xfrm>
            <a:off x="502920" y="5486400"/>
            <a:ext cx="11185855" cy="713232"/>
          </a:xfrm>
          <a:prstGeom prst="rect">
            <a:avLst/>
          </a:prstGeom>
        </p:spPr>
      </p:pic>
      <p:sp>
        <p:nvSpPr>
          <p:cNvPr id="21" name="Text 10"/>
          <p:cNvSpPr txBox="1"/>
          <p:nvPr/>
        </p:nvSpPr>
        <p:spPr>
          <a:xfrm>
            <a:off x="822960" y="5486400"/>
            <a:ext cx="3429000" cy="713232"/>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20+  </a:t>
            </a:r>
            <a:pPr indent="0" marL="0">
              <a:buNone/>
            </a:pPr>
            <a:r>
              <a:rPr lang="en-US" sz="1300" b="1" dirty="0">
                <a:solidFill>
                  <a:schemeClr val="tx1"/>
                </a:solidFill>
              </a:rPr>
              <a:t>years of enabling growth</a:t>
            </a:r>
            <a:endParaRPr lang="en-US" sz="1400" dirty="0"/>
          </a:p>
        </p:txBody>
      </p:sp>
      <p:sp>
        <p:nvSpPr>
          <p:cNvPr id="22" name="Rule"/>
          <p:cNvSpPr/>
          <p:nvPr/>
        </p:nvSpPr>
        <p:spPr>
          <a:xfrm>
            <a:off x="4297680" y="5650992"/>
            <a:ext cx="0" cy="384048"/>
          </a:xfrm>
          <a:prstGeom prst="line">
            <a:avLst/>
          </a:prstGeom>
          <a:noFill/>
          <a:ln w="12700">
            <a:solidFill>
              <a:schemeClr val="accent2"/>
            </a:solidFill>
            <a:prstDash val="solid"/>
          </a:ln>
        </p:spPr>
      </p:sp>
      <p:sp>
        <p:nvSpPr>
          <p:cNvPr id="23" name="Text 12"/>
          <p:cNvSpPr txBox="1"/>
          <p:nvPr/>
        </p:nvSpPr>
        <p:spPr>
          <a:xfrm>
            <a:off x="4526280" y="5486400"/>
            <a:ext cx="3429000" cy="713232"/>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2000+  </a:t>
            </a:r>
            <a:pPr indent="0" marL="0">
              <a:buNone/>
            </a:pPr>
            <a:r>
              <a:rPr lang="en-US" sz="1300" b="1" dirty="0">
                <a:solidFill>
                  <a:schemeClr val="tx1"/>
                </a:solidFill>
              </a:rPr>
              <a:t>analytical projects delivered</a:t>
            </a:r>
            <a:endParaRPr lang="en-US" sz="1400" dirty="0"/>
          </a:p>
        </p:txBody>
      </p:sp>
      <p:sp>
        <p:nvSpPr>
          <p:cNvPr id="24" name="Rule"/>
          <p:cNvSpPr/>
          <p:nvPr/>
        </p:nvSpPr>
        <p:spPr>
          <a:xfrm>
            <a:off x="8001000" y="5650992"/>
            <a:ext cx="0" cy="384048"/>
          </a:xfrm>
          <a:prstGeom prst="line">
            <a:avLst/>
          </a:prstGeom>
          <a:noFill/>
          <a:ln w="12700">
            <a:solidFill>
              <a:schemeClr val="accent2"/>
            </a:solidFill>
            <a:prstDash val="solid"/>
          </a:ln>
        </p:spPr>
      </p:sp>
      <p:sp>
        <p:nvSpPr>
          <p:cNvPr id="25" name="Text 14"/>
          <p:cNvSpPr txBox="1"/>
          <p:nvPr/>
        </p:nvSpPr>
        <p:spPr>
          <a:xfrm>
            <a:off x="8229600" y="5486400"/>
            <a:ext cx="3429000" cy="713232"/>
          </a:xfrm>
          <a:prstGeom prst="rect">
            <a:avLst/>
          </a:prstGeom>
          <a:noFill/>
          <a:ln/>
        </p:spPr>
        <p:txBody>
          <a:bodyPr wrap="square" lIns="0" tIns="0" rIns="0" bIns="0" rtlCol="0" anchor="ctr"/>
          <a:lstStyle/>
          <a:p>
            <a:pPr indent="0" marL="0">
              <a:buNone/>
            </a:pPr>
            <a:r>
              <a:rPr lang="en-US" sz="2200" b="1" dirty="0">
                <a:solidFill>
                  <a:schemeClr val="accent1"/>
                </a:solidFill>
                <a:latin typeface="Arial" pitchFamily="34" charset="0"/>
                <a:ea typeface="Arial" pitchFamily="34" charset="-122"/>
                <a:cs typeface="Arial" pitchFamily="34" charset="-120"/>
              </a:rPr>
              <a:t>100  </a:t>
            </a:r>
            <a:pPr indent="0" marL="0">
              <a:buNone/>
            </a:pPr>
            <a:r>
              <a:rPr lang="en-US" sz="1300" b="1" dirty="0">
                <a:solidFill>
                  <a:schemeClr val="tx1"/>
                </a:solidFill>
              </a:rPr>
              <a:t>member offshore development center</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Trusted by Organisations Across the Globe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OUR CLIENTS</a:t>
            </a:r>
            <a:endParaRPr lang="en-US" sz="1100" dirty="0"/>
          </a:p>
        </p:txBody>
      </p:sp>
      <p:pic>
        <p:nvPicPr>
          <p:cNvPr id="4" name="WorldMap" descr="/tmp/claude-0/-home-user-ad-gallery/7fc27a5a-8417-58c4-b3ff-7a7825ba0161/scratchpad/assets/s17_40.png">    </p:cNvPr>
          <p:cNvPicPr>
            <a:picLocks noChangeAspect="1"/>
          </p:cNvPicPr>
          <p:nvPr/>
        </p:nvPicPr>
        <p:blipFill>
          <a:blip r:embed="rId1">
            <a:alphaModFix amt="12000"/>
          </a:blip>
          <a:stretch>
            <a:fillRect/>
          </a:stretch>
        </p:blipFill>
        <p:spPr>
          <a:xfrm>
            <a:off x="2468880" y="1188720"/>
            <a:ext cx="7223760" cy="5105342"/>
          </a:xfrm>
          <a:prstGeom prst="rect">
            <a:avLst/>
          </a:prstGeom>
        </p:spPr>
      </p:pic>
      <p:pic>
        <p:nvPicPr>
          <p:cNvPr id="5" name="Card" descr="preencoded.png">    </p:cNvPr>
          <p:cNvPicPr>
            <a:picLocks noChangeAspect="1"/>
          </p:cNvPicPr>
          <p:nvPr/>
        </p:nvPicPr>
        <p:blipFill>
          <a:blip r:embed="rId2"/>
          <a:stretch>
            <a:fillRect/>
          </a:stretch>
        </p:blipFill>
        <p:spPr>
          <a:xfrm>
            <a:off x="356616" y="1453896"/>
            <a:ext cx="1243584" cy="1115568"/>
          </a:xfrm>
          <a:prstGeom prst="rect">
            <a:avLst/>
          </a:prstGeom>
        </p:spPr>
      </p:pic>
      <p:pic>
        <p:nvPicPr>
          <p:cNvPr id="6" name="Logo" descr="/tmp/claude-0/-home-user-ad-gallery/7fc27a5a-8417-58c4-b3ff-7a7825ba0161/scratchpad/assets/s17_00.png">    </p:cNvPr>
          <p:cNvPicPr>
            <a:picLocks noChangeAspect="1"/>
          </p:cNvPicPr>
          <p:nvPr/>
        </p:nvPicPr>
        <p:blipFill>
          <a:blip r:embed="rId3"/>
          <a:stretch>
            <a:fillRect/>
          </a:stretch>
        </p:blipFill>
        <p:spPr>
          <a:xfrm>
            <a:off x="576072" y="1799039"/>
            <a:ext cx="804672" cy="425283"/>
          </a:xfrm>
          <a:prstGeom prst="rect">
            <a:avLst/>
          </a:prstGeom>
        </p:spPr>
      </p:pic>
      <p:pic>
        <p:nvPicPr>
          <p:cNvPr id="7" name="Card" descr="preencoded.png">    </p:cNvPr>
          <p:cNvPicPr>
            <a:picLocks noChangeAspect="1"/>
          </p:cNvPicPr>
          <p:nvPr/>
        </p:nvPicPr>
        <p:blipFill>
          <a:blip r:embed="rId4"/>
          <a:stretch>
            <a:fillRect/>
          </a:stretch>
        </p:blipFill>
        <p:spPr>
          <a:xfrm>
            <a:off x="1380104" y="1453896"/>
            <a:ext cx="1243584" cy="1115568"/>
          </a:xfrm>
          <a:prstGeom prst="rect">
            <a:avLst/>
          </a:prstGeom>
        </p:spPr>
      </p:pic>
      <p:pic>
        <p:nvPicPr>
          <p:cNvPr id="8" name="Logo" descr="/tmp/claude-0/-home-user-ad-gallery/7fc27a5a-8417-58c4-b3ff-7a7825ba0161/scratchpad/assets/s17_01.png">    </p:cNvPr>
          <p:cNvPicPr>
            <a:picLocks noChangeAspect="1"/>
          </p:cNvPicPr>
          <p:nvPr/>
        </p:nvPicPr>
        <p:blipFill>
          <a:blip r:embed="rId5"/>
          <a:stretch>
            <a:fillRect/>
          </a:stretch>
        </p:blipFill>
        <p:spPr>
          <a:xfrm>
            <a:off x="1628053" y="1673352"/>
            <a:ext cx="747686" cy="676656"/>
          </a:xfrm>
          <a:prstGeom prst="rect">
            <a:avLst/>
          </a:prstGeom>
        </p:spPr>
      </p:pic>
      <p:pic>
        <p:nvPicPr>
          <p:cNvPr id="9" name="Card" descr="preencoded.png">    </p:cNvPr>
          <p:cNvPicPr>
            <a:picLocks noChangeAspect="1"/>
          </p:cNvPicPr>
          <p:nvPr/>
        </p:nvPicPr>
        <p:blipFill>
          <a:blip r:embed="rId6"/>
          <a:stretch>
            <a:fillRect/>
          </a:stretch>
        </p:blipFill>
        <p:spPr>
          <a:xfrm>
            <a:off x="2403592" y="1453896"/>
            <a:ext cx="1243584" cy="1115568"/>
          </a:xfrm>
          <a:prstGeom prst="rect">
            <a:avLst/>
          </a:prstGeom>
        </p:spPr>
      </p:pic>
      <p:pic>
        <p:nvPicPr>
          <p:cNvPr id="10" name="Logo" descr="/tmp/claude-0/-home-user-ad-gallery/7fc27a5a-8417-58c4-b3ff-7a7825ba0161/scratchpad/assets/s17_02.png">    </p:cNvPr>
          <p:cNvPicPr>
            <a:picLocks noChangeAspect="1"/>
          </p:cNvPicPr>
          <p:nvPr/>
        </p:nvPicPr>
        <p:blipFill>
          <a:blip r:embed="rId7"/>
          <a:stretch>
            <a:fillRect/>
          </a:stretch>
        </p:blipFill>
        <p:spPr>
          <a:xfrm>
            <a:off x="2623048" y="1792224"/>
            <a:ext cx="804672" cy="438912"/>
          </a:xfrm>
          <a:prstGeom prst="rect">
            <a:avLst/>
          </a:prstGeom>
        </p:spPr>
      </p:pic>
      <p:pic>
        <p:nvPicPr>
          <p:cNvPr id="11" name="Card" descr="preencoded.png">    </p:cNvPr>
          <p:cNvPicPr>
            <a:picLocks noChangeAspect="1"/>
          </p:cNvPicPr>
          <p:nvPr/>
        </p:nvPicPr>
        <p:blipFill>
          <a:blip r:embed="rId8"/>
          <a:stretch>
            <a:fillRect/>
          </a:stretch>
        </p:blipFill>
        <p:spPr>
          <a:xfrm>
            <a:off x="3427080" y="1453896"/>
            <a:ext cx="1243584" cy="1115568"/>
          </a:xfrm>
          <a:prstGeom prst="rect">
            <a:avLst/>
          </a:prstGeom>
        </p:spPr>
      </p:pic>
      <p:pic>
        <p:nvPicPr>
          <p:cNvPr id="12" name="Logo" descr="/tmp/claude-0/-home-user-ad-gallery/7fc27a5a-8417-58c4-b3ff-7a7825ba0161/scratchpad/assets/s17_03.png">    </p:cNvPr>
          <p:cNvPicPr>
            <a:picLocks noChangeAspect="1"/>
          </p:cNvPicPr>
          <p:nvPr/>
        </p:nvPicPr>
        <p:blipFill>
          <a:blip r:embed="rId9"/>
          <a:stretch>
            <a:fillRect/>
          </a:stretch>
        </p:blipFill>
        <p:spPr>
          <a:xfrm>
            <a:off x="3646536" y="1794023"/>
            <a:ext cx="804672" cy="435314"/>
          </a:xfrm>
          <a:prstGeom prst="rect">
            <a:avLst/>
          </a:prstGeom>
        </p:spPr>
      </p:pic>
      <p:pic>
        <p:nvPicPr>
          <p:cNvPr id="13" name="Card" descr="preencoded.png">    </p:cNvPr>
          <p:cNvPicPr>
            <a:picLocks noChangeAspect="1"/>
          </p:cNvPicPr>
          <p:nvPr/>
        </p:nvPicPr>
        <p:blipFill>
          <a:blip r:embed="rId10"/>
          <a:stretch>
            <a:fillRect/>
          </a:stretch>
        </p:blipFill>
        <p:spPr>
          <a:xfrm>
            <a:off x="4450568" y="1453896"/>
            <a:ext cx="1243584" cy="1115568"/>
          </a:xfrm>
          <a:prstGeom prst="rect">
            <a:avLst/>
          </a:prstGeom>
        </p:spPr>
      </p:pic>
      <p:pic>
        <p:nvPicPr>
          <p:cNvPr id="14" name="Logo" descr="/tmp/claude-0/-home-user-ad-gallery/7fc27a5a-8417-58c4-b3ff-7a7825ba0161/scratchpad/assets/s17_04.png">    </p:cNvPr>
          <p:cNvPicPr>
            <a:picLocks noChangeAspect="1"/>
          </p:cNvPicPr>
          <p:nvPr/>
        </p:nvPicPr>
        <p:blipFill>
          <a:blip r:embed="rId11"/>
          <a:stretch>
            <a:fillRect/>
          </a:stretch>
        </p:blipFill>
        <p:spPr>
          <a:xfrm>
            <a:off x="4670024" y="1897685"/>
            <a:ext cx="804672" cy="227990"/>
          </a:xfrm>
          <a:prstGeom prst="rect">
            <a:avLst/>
          </a:prstGeom>
        </p:spPr>
      </p:pic>
      <p:pic>
        <p:nvPicPr>
          <p:cNvPr id="15" name="Card" descr="preencoded.png">    </p:cNvPr>
          <p:cNvPicPr>
            <a:picLocks noChangeAspect="1"/>
          </p:cNvPicPr>
          <p:nvPr/>
        </p:nvPicPr>
        <p:blipFill>
          <a:blip r:embed="rId12"/>
          <a:stretch>
            <a:fillRect/>
          </a:stretch>
        </p:blipFill>
        <p:spPr>
          <a:xfrm>
            <a:off x="5474056" y="1453896"/>
            <a:ext cx="1243584" cy="1115568"/>
          </a:xfrm>
          <a:prstGeom prst="rect">
            <a:avLst/>
          </a:prstGeom>
        </p:spPr>
      </p:pic>
      <p:pic>
        <p:nvPicPr>
          <p:cNvPr id="16" name="Logo" descr="/tmp/claude-0/-home-user-ad-gallery/7fc27a5a-8417-58c4-b3ff-7a7825ba0161/scratchpad/assets/s17_05.png">    </p:cNvPr>
          <p:cNvPicPr>
            <a:picLocks noChangeAspect="1"/>
          </p:cNvPicPr>
          <p:nvPr/>
        </p:nvPicPr>
        <p:blipFill>
          <a:blip r:embed="rId13"/>
          <a:stretch>
            <a:fillRect/>
          </a:stretch>
        </p:blipFill>
        <p:spPr>
          <a:xfrm>
            <a:off x="5693512" y="1871581"/>
            <a:ext cx="804672" cy="280198"/>
          </a:xfrm>
          <a:prstGeom prst="rect">
            <a:avLst/>
          </a:prstGeom>
        </p:spPr>
      </p:pic>
      <p:pic>
        <p:nvPicPr>
          <p:cNvPr id="17" name="Card" descr="preencoded.png">    </p:cNvPr>
          <p:cNvPicPr>
            <a:picLocks noChangeAspect="1"/>
          </p:cNvPicPr>
          <p:nvPr/>
        </p:nvPicPr>
        <p:blipFill>
          <a:blip r:embed="rId14"/>
          <a:stretch>
            <a:fillRect/>
          </a:stretch>
        </p:blipFill>
        <p:spPr>
          <a:xfrm>
            <a:off x="6497544" y="1453896"/>
            <a:ext cx="1243584" cy="1115568"/>
          </a:xfrm>
          <a:prstGeom prst="rect">
            <a:avLst/>
          </a:prstGeom>
        </p:spPr>
      </p:pic>
      <p:pic>
        <p:nvPicPr>
          <p:cNvPr id="18" name="Logo" descr="/tmp/claude-0/-home-user-ad-gallery/7fc27a5a-8417-58c4-b3ff-7a7825ba0161/scratchpad/assets/s17_06.png">    </p:cNvPr>
          <p:cNvPicPr>
            <a:picLocks noChangeAspect="1"/>
          </p:cNvPicPr>
          <p:nvPr/>
        </p:nvPicPr>
        <p:blipFill>
          <a:blip r:embed="rId15"/>
          <a:stretch>
            <a:fillRect/>
          </a:stretch>
        </p:blipFill>
        <p:spPr>
          <a:xfrm>
            <a:off x="6717000" y="1828998"/>
            <a:ext cx="804672" cy="365365"/>
          </a:xfrm>
          <a:prstGeom prst="rect">
            <a:avLst/>
          </a:prstGeom>
        </p:spPr>
      </p:pic>
      <p:pic>
        <p:nvPicPr>
          <p:cNvPr id="19" name="Card" descr="preencoded.png">    </p:cNvPr>
          <p:cNvPicPr>
            <a:picLocks noChangeAspect="1"/>
          </p:cNvPicPr>
          <p:nvPr/>
        </p:nvPicPr>
        <p:blipFill>
          <a:blip r:embed="rId16"/>
          <a:stretch>
            <a:fillRect/>
          </a:stretch>
        </p:blipFill>
        <p:spPr>
          <a:xfrm>
            <a:off x="7521031" y="1453896"/>
            <a:ext cx="1243584" cy="1115568"/>
          </a:xfrm>
          <a:prstGeom prst="rect">
            <a:avLst/>
          </a:prstGeom>
        </p:spPr>
      </p:pic>
      <p:pic>
        <p:nvPicPr>
          <p:cNvPr id="20" name="Logo" descr="/tmp/claude-0/-home-user-ad-gallery/7fc27a5a-8417-58c4-b3ff-7a7825ba0161/scratchpad/assets/s17_07.png">    </p:cNvPr>
          <p:cNvPicPr>
            <a:picLocks noChangeAspect="1"/>
          </p:cNvPicPr>
          <p:nvPr/>
        </p:nvPicPr>
        <p:blipFill>
          <a:blip r:embed="rId17"/>
          <a:stretch>
            <a:fillRect/>
          </a:stretch>
        </p:blipFill>
        <p:spPr>
          <a:xfrm>
            <a:off x="7764275" y="1673352"/>
            <a:ext cx="757098" cy="676656"/>
          </a:xfrm>
          <a:prstGeom prst="rect">
            <a:avLst/>
          </a:prstGeom>
        </p:spPr>
      </p:pic>
      <p:pic>
        <p:nvPicPr>
          <p:cNvPr id="21" name="Card" descr="preencoded.png">    </p:cNvPr>
          <p:cNvPicPr>
            <a:picLocks noChangeAspect="1"/>
          </p:cNvPicPr>
          <p:nvPr/>
        </p:nvPicPr>
        <p:blipFill>
          <a:blip r:embed="rId18"/>
          <a:stretch>
            <a:fillRect/>
          </a:stretch>
        </p:blipFill>
        <p:spPr>
          <a:xfrm>
            <a:off x="8544519" y="1453896"/>
            <a:ext cx="1243584" cy="1115568"/>
          </a:xfrm>
          <a:prstGeom prst="rect">
            <a:avLst/>
          </a:prstGeom>
        </p:spPr>
      </p:pic>
      <p:pic>
        <p:nvPicPr>
          <p:cNvPr id="22" name="Logo" descr="/tmp/claude-0/-home-user-ad-gallery/7fc27a5a-8417-58c4-b3ff-7a7825ba0161/scratchpad/assets/s17_08.png">    </p:cNvPr>
          <p:cNvPicPr>
            <a:picLocks noChangeAspect="1"/>
          </p:cNvPicPr>
          <p:nvPr/>
        </p:nvPicPr>
        <p:blipFill>
          <a:blip r:embed="rId19"/>
          <a:stretch>
            <a:fillRect/>
          </a:stretch>
        </p:blipFill>
        <p:spPr>
          <a:xfrm>
            <a:off x="8763975" y="1752397"/>
            <a:ext cx="804672" cy="518566"/>
          </a:xfrm>
          <a:prstGeom prst="rect">
            <a:avLst/>
          </a:prstGeom>
        </p:spPr>
      </p:pic>
      <p:pic>
        <p:nvPicPr>
          <p:cNvPr id="23" name="Card" descr="preencoded.png">    </p:cNvPr>
          <p:cNvPicPr>
            <a:picLocks noChangeAspect="1"/>
          </p:cNvPicPr>
          <p:nvPr/>
        </p:nvPicPr>
        <p:blipFill>
          <a:blip r:embed="rId20"/>
          <a:stretch>
            <a:fillRect/>
          </a:stretch>
        </p:blipFill>
        <p:spPr>
          <a:xfrm>
            <a:off x="9568007" y="1453896"/>
            <a:ext cx="1243584" cy="1115568"/>
          </a:xfrm>
          <a:prstGeom prst="rect">
            <a:avLst/>
          </a:prstGeom>
        </p:spPr>
      </p:pic>
      <p:pic>
        <p:nvPicPr>
          <p:cNvPr id="24" name="Logo" descr="/tmp/claude-0/-home-user-ad-gallery/7fc27a5a-8417-58c4-b3ff-7a7825ba0161/scratchpad/assets/s17_09.png">    </p:cNvPr>
          <p:cNvPicPr>
            <a:picLocks noChangeAspect="1"/>
          </p:cNvPicPr>
          <p:nvPr/>
        </p:nvPicPr>
        <p:blipFill>
          <a:blip r:embed="rId21"/>
          <a:stretch>
            <a:fillRect/>
          </a:stretch>
        </p:blipFill>
        <p:spPr>
          <a:xfrm>
            <a:off x="9851471" y="1673352"/>
            <a:ext cx="676656" cy="676656"/>
          </a:xfrm>
          <a:prstGeom prst="rect">
            <a:avLst/>
          </a:prstGeom>
        </p:spPr>
      </p:pic>
      <p:pic>
        <p:nvPicPr>
          <p:cNvPr id="25" name="Card" descr="preencoded.png">    </p:cNvPr>
          <p:cNvPicPr>
            <a:picLocks noChangeAspect="1"/>
          </p:cNvPicPr>
          <p:nvPr/>
        </p:nvPicPr>
        <p:blipFill>
          <a:blip r:embed="rId22"/>
          <a:stretch>
            <a:fillRect/>
          </a:stretch>
        </p:blipFill>
        <p:spPr>
          <a:xfrm>
            <a:off x="10591495" y="1453896"/>
            <a:ext cx="1243584" cy="1115568"/>
          </a:xfrm>
          <a:prstGeom prst="rect">
            <a:avLst/>
          </a:prstGeom>
        </p:spPr>
      </p:pic>
      <p:pic>
        <p:nvPicPr>
          <p:cNvPr id="26" name="Logo" descr="/tmp/claude-0/-home-user-ad-gallery/7fc27a5a-8417-58c4-b3ff-7a7825ba0161/scratchpad/assets/s17_10.png">    </p:cNvPr>
          <p:cNvPicPr>
            <a:picLocks noChangeAspect="1"/>
          </p:cNvPicPr>
          <p:nvPr/>
        </p:nvPicPr>
        <p:blipFill>
          <a:blip r:embed="rId23"/>
          <a:stretch>
            <a:fillRect/>
          </a:stretch>
        </p:blipFill>
        <p:spPr>
          <a:xfrm>
            <a:off x="10876463" y="1673352"/>
            <a:ext cx="673649" cy="676656"/>
          </a:xfrm>
          <a:prstGeom prst="rect">
            <a:avLst/>
          </a:prstGeom>
        </p:spPr>
      </p:pic>
      <p:pic>
        <p:nvPicPr>
          <p:cNvPr id="27" name="Card" descr="preencoded.png">    </p:cNvPr>
          <p:cNvPicPr>
            <a:picLocks noChangeAspect="1"/>
          </p:cNvPicPr>
          <p:nvPr/>
        </p:nvPicPr>
        <p:blipFill>
          <a:blip r:embed="rId24"/>
          <a:stretch>
            <a:fillRect/>
          </a:stretch>
        </p:blipFill>
        <p:spPr>
          <a:xfrm>
            <a:off x="356616" y="2404872"/>
            <a:ext cx="1243584" cy="1115568"/>
          </a:xfrm>
          <a:prstGeom prst="rect">
            <a:avLst/>
          </a:prstGeom>
        </p:spPr>
      </p:pic>
      <p:pic>
        <p:nvPicPr>
          <p:cNvPr id="28" name="Logo" descr="/tmp/claude-0/-home-user-ad-gallery/7fc27a5a-8417-58c4-b3ff-7a7825ba0161/scratchpad/assets/s17_11.png">    </p:cNvPr>
          <p:cNvPicPr>
            <a:picLocks noChangeAspect="1"/>
          </p:cNvPicPr>
          <p:nvPr/>
        </p:nvPicPr>
        <p:blipFill>
          <a:blip r:embed="rId25"/>
          <a:stretch>
            <a:fillRect/>
          </a:stretch>
        </p:blipFill>
        <p:spPr>
          <a:xfrm>
            <a:off x="650855" y="2624328"/>
            <a:ext cx="655106" cy="676656"/>
          </a:xfrm>
          <a:prstGeom prst="rect">
            <a:avLst/>
          </a:prstGeom>
        </p:spPr>
      </p:pic>
      <p:pic>
        <p:nvPicPr>
          <p:cNvPr id="29" name="Card" descr="preencoded.png">    </p:cNvPr>
          <p:cNvPicPr>
            <a:picLocks noChangeAspect="1"/>
          </p:cNvPicPr>
          <p:nvPr/>
        </p:nvPicPr>
        <p:blipFill>
          <a:blip r:embed="rId26"/>
          <a:stretch>
            <a:fillRect/>
          </a:stretch>
        </p:blipFill>
        <p:spPr>
          <a:xfrm>
            <a:off x="1380104" y="2404872"/>
            <a:ext cx="1243584" cy="1115568"/>
          </a:xfrm>
          <a:prstGeom prst="rect">
            <a:avLst/>
          </a:prstGeom>
        </p:spPr>
      </p:pic>
      <p:pic>
        <p:nvPicPr>
          <p:cNvPr id="30" name="Logo" descr="/tmp/claude-0/-home-user-ad-gallery/7fc27a5a-8417-58c4-b3ff-7a7825ba0161/scratchpad/assets/s17_12.png">    </p:cNvPr>
          <p:cNvPicPr>
            <a:picLocks noChangeAspect="1"/>
          </p:cNvPicPr>
          <p:nvPr/>
        </p:nvPicPr>
        <p:blipFill>
          <a:blip r:embed="rId27"/>
          <a:stretch>
            <a:fillRect/>
          </a:stretch>
        </p:blipFill>
        <p:spPr>
          <a:xfrm>
            <a:off x="1599560" y="2875751"/>
            <a:ext cx="804672" cy="173809"/>
          </a:xfrm>
          <a:prstGeom prst="rect">
            <a:avLst/>
          </a:prstGeom>
        </p:spPr>
      </p:pic>
      <p:pic>
        <p:nvPicPr>
          <p:cNvPr id="31" name="Card" descr="preencoded.png">    </p:cNvPr>
          <p:cNvPicPr>
            <a:picLocks noChangeAspect="1"/>
          </p:cNvPicPr>
          <p:nvPr/>
        </p:nvPicPr>
        <p:blipFill>
          <a:blip r:embed="rId28"/>
          <a:stretch>
            <a:fillRect/>
          </a:stretch>
        </p:blipFill>
        <p:spPr>
          <a:xfrm>
            <a:off x="2403592" y="2404872"/>
            <a:ext cx="1243584" cy="1115568"/>
          </a:xfrm>
          <a:prstGeom prst="rect">
            <a:avLst/>
          </a:prstGeom>
        </p:spPr>
      </p:pic>
      <p:pic>
        <p:nvPicPr>
          <p:cNvPr id="32" name="Logo" descr="/tmp/claude-0/-home-user-ad-gallery/7fc27a5a-8417-58c4-b3ff-7a7825ba0161/scratchpad/assets/s17_13.png">    </p:cNvPr>
          <p:cNvPicPr>
            <a:picLocks noChangeAspect="1"/>
          </p:cNvPicPr>
          <p:nvPr/>
        </p:nvPicPr>
        <p:blipFill>
          <a:blip r:embed="rId29"/>
          <a:stretch>
            <a:fillRect/>
          </a:stretch>
        </p:blipFill>
        <p:spPr>
          <a:xfrm>
            <a:off x="2623048" y="2826309"/>
            <a:ext cx="804672" cy="272694"/>
          </a:xfrm>
          <a:prstGeom prst="rect">
            <a:avLst/>
          </a:prstGeom>
        </p:spPr>
      </p:pic>
      <p:pic>
        <p:nvPicPr>
          <p:cNvPr id="33" name="Card" descr="preencoded.png">    </p:cNvPr>
          <p:cNvPicPr>
            <a:picLocks noChangeAspect="1"/>
          </p:cNvPicPr>
          <p:nvPr/>
        </p:nvPicPr>
        <p:blipFill>
          <a:blip r:embed="rId30"/>
          <a:stretch>
            <a:fillRect/>
          </a:stretch>
        </p:blipFill>
        <p:spPr>
          <a:xfrm>
            <a:off x="3427080" y="2404872"/>
            <a:ext cx="1243584" cy="1115568"/>
          </a:xfrm>
          <a:prstGeom prst="rect">
            <a:avLst/>
          </a:prstGeom>
        </p:spPr>
      </p:pic>
      <p:pic>
        <p:nvPicPr>
          <p:cNvPr id="34" name="Logo" descr="/tmp/claude-0/-home-user-ad-gallery/7fc27a5a-8417-58c4-b3ff-7a7825ba0161/scratchpad/assets/s17_14.png">    </p:cNvPr>
          <p:cNvPicPr>
            <a:picLocks noChangeAspect="1"/>
          </p:cNvPicPr>
          <p:nvPr/>
        </p:nvPicPr>
        <p:blipFill>
          <a:blip r:embed="rId31"/>
          <a:stretch>
            <a:fillRect/>
          </a:stretch>
        </p:blipFill>
        <p:spPr>
          <a:xfrm>
            <a:off x="3646536" y="2816928"/>
            <a:ext cx="804672" cy="291456"/>
          </a:xfrm>
          <a:prstGeom prst="rect">
            <a:avLst/>
          </a:prstGeom>
        </p:spPr>
      </p:pic>
      <p:pic>
        <p:nvPicPr>
          <p:cNvPr id="35" name="Card" descr="preencoded.png">    </p:cNvPr>
          <p:cNvPicPr>
            <a:picLocks noChangeAspect="1"/>
          </p:cNvPicPr>
          <p:nvPr/>
        </p:nvPicPr>
        <p:blipFill>
          <a:blip r:embed="rId32"/>
          <a:stretch>
            <a:fillRect/>
          </a:stretch>
        </p:blipFill>
        <p:spPr>
          <a:xfrm>
            <a:off x="4450568" y="2404872"/>
            <a:ext cx="1243584" cy="1115568"/>
          </a:xfrm>
          <a:prstGeom prst="rect">
            <a:avLst/>
          </a:prstGeom>
        </p:spPr>
      </p:pic>
      <p:pic>
        <p:nvPicPr>
          <p:cNvPr id="36" name="Logo" descr="/tmp/claude-0/-home-user-ad-gallery/7fc27a5a-8417-58c4-b3ff-7a7825ba0161/scratchpad/assets/s17_15.png">    </p:cNvPr>
          <p:cNvPicPr>
            <a:picLocks noChangeAspect="1"/>
          </p:cNvPicPr>
          <p:nvPr/>
        </p:nvPicPr>
        <p:blipFill>
          <a:blip r:embed="rId33"/>
          <a:stretch>
            <a:fillRect/>
          </a:stretch>
        </p:blipFill>
        <p:spPr>
          <a:xfrm>
            <a:off x="4670024" y="2878836"/>
            <a:ext cx="804672" cy="167640"/>
          </a:xfrm>
          <a:prstGeom prst="rect">
            <a:avLst/>
          </a:prstGeom>
        </p:spPr>
      </p:pic>
      <p:pic>
        <p:nvPicPr>
          <p:cNvPr id="37" name="Card" descr="preencoded.png">    </p:cNvPr>
          <p:cNvPicPr>
            <a:picLocks noChangeAspect="1"/>
          </p:cNvPicPr>
          <p:nvPr/>
        </p:nvPicPr>
        <p:blipFill>
          <a:blip r:embed="rId34"/>
          <a:stretch>
            <a:fillRect/>
          </a:stretch>
        </p:blipFill>
        <p:spPr>
          <a:xfrm>
            <a:off x="5474056" y="2404872"/>
            <a:ext cx="1243584" cy="1115568"/>
          </a:xfrm>
          <a:prstGeom prst="rect">
            <a:avLst/>
          </a:prstGeom>
        </p:spPr>
      </p:pic>
      <p:pic>
        <p:nvPicPr>
          <p:cNvPr id="38" name="Logo" descr="/tmp/claude-0/-home-user-ad-gallery/7fc27a5a-8417-58c4-b3ff-7a7825ba0161/scratchpad/assets/s17_16.png">    </p:cNvPr>
          <p:cNvPicPr>
            <a:picLocks noChangeAspect="1"/>
          </p:cNvPicPr>
          <p:nvPr/>
        </p:nvPicPr>
        <p:blipFill>
          <a:blip r:embed="rId35"/>
          <a:stretch>
            <a:fillRect/>
          </a:stretch>
        </p:blipFill>
        <p:spPr>
          <a:xfrm>
            <a:off x="5693512" y="2780529"/>
            <a:ext cx="804672" cy="364255"/>
          </a:xfrm>
          <a:prstGeom prst="rect">
            <a:avLst/>
          </a:prstGeom>
        </p:spPr>
      </p:pic>
      <p:pic>
        <p:nvPicPr>
          <p:cNvPr id="39" name="Card" descr="preencoded.png">    </p:cNvPr>
          <p:cNvPicPr>
            <a:picLocks noChangeAspect="1"/>
          </p:cNvPicPr>
          <p:nvPr/>
        </p:nvPicPr>
        <p:blipFill>
          <a:blip r:embed="rId36"/>
          <a:stretch>
            <a:fillRect/>
          </a:stretch>
        </p:blipFill>
        <p:spPr>
          <a:xfrm>
            <a:off x="6497544" y="2404872"/>
            <a:ext cx="1243584" cy="1115568"/>
          </a:xfrm>
          <a:prstGeom prst="rect">
            <a:avLst/>
          </a:prstGeom>
        </p:spPr>
      </p:pic>
      <p:pic>
        <p:nvPicPr>
          <p:cNvPr id="40" name="Logo" descr="/tmp/claude-0/-home-user-ad-gallery/7fc27a5a-8417-58c4-b3ff-7a7825ba0161/scratchpad/assets/s17_17.png">    </p:cNvPr>
          <p:cNvPicPr>
            <a:picLocks noChangeAspect="1"/>
          </p:cNvPicPr>
          <p:nvPr/>
        </p:nvPicPr>
        <p:blipFill>
          <a:blip r:embed="rId37"/>
          <a:stretch>
            <a:fillRect/>
          </a:stretch>
        </p:blipFill>
        <p:spPr>
          <a:xfrm>
            <a:off x="6717000" y="2896744"/>
            <a:ext cx="804672" cy="131823"/>
          </a:xfrm>
          <a:prstGeom prst="rect">
            <a:avLst/>
          </a:prstGeom>
        </p:spPr>
      </p:pic>
      <p:pic>
        <p:nvPicPr>
          <p:cNvPr id="41" name="Card" descr="preencoded.png">    </p:cNvPr>
          <p:cNvPicPr>
            <a:picLocks noChangeAspect="1"/>
          </p:cNvPicPr>
          <p:nvPr/>
        </p:nvPicPr>
        <p:blipFill>
          <a:blip r:embed="rId38"/>
          <a:stretch>
            <a:fillRect/>
          </a:stretch>
        </p:blipFill>
        <p:spPr>
          <a:xfrm>
            <a:off x="7521031" y="2404872"/>
            <a:ext cx="1243584" cy="1115568"/>
          </a:xfrm>
          <a:prstGeom prst="rect">
            <a:avLst/>
          </a:prstGeom>
        </p:spPr>
      </p:pic>
      <p:pic>
        <p:nvPicPr>
          <p:cNvPr id="42" name="Logo" descr="/tmp/claude-0/-home-user-ad-gallery/7fc27a5a-8417-58c4-b3ff-7a7825ba0161/scratchpad/assets/s17_18.png">    </p:cNvPr>
          <p:cNvPicPr>
            <a:picLocks noChangeAspect="1"/>
          </p:cNvPicPr>
          <p:nvPr/>
        </p:nvPicPr>
        <p:blipFill>
          <a:blip r:embed="rId39"/>
          <a:stretch>
            <a:fillRect/>
          </a:stretch>
        </p:blipFill>
        <p:spPr>
          <a:xfrm>
            <a:off x="7740487" y="2736594"/>
            <a:ext cx="804672" cy="452123"/>
          </a:xfrm>
          <a:prstGeom prst="rect">
            <a:avLst/>
          </a:prstGeom>
        </p:spPr>
      </p:pic>
      <p:pic>
        <p:nvPicPr>
          <p:cNvPr id="43" name="Card" descr="preencoded.png">    </p:cNvPr>
          <p:cNvPicPr>
            <a:picLocks noChangeAspect="1"/>
          </p:cNvPicPr>
          <p:nvPr/>
        </p:nvPicPr>
        <p:blipFill>
          <a:blip r:embed="rId40"/>
          <a:stretch>
            <a:fillRect/>
          </a:stretch>
        </p:blipFill>
        <p:spPr>
          <a:xfrm>
            <a:off x="8544519" y="2404872"/>
            <a:ext cx="1243584" cy="1115568"/>
          </a:xfrm>
          <a:prstGeom prst="rect">
            <a:avLst/>
          </a:prstGeom>
        </p:spPr>
      </p:pic>
      <p:pic>
        <p:nvPicPr>
          <p:cNvPr id="44" name="Logo" descr="/tmp/claude-0/-home-user-ad-gallery/7fc27a5a-8417-58c4-b3ff-7a7825ba0161/scratchpad/assets/s17_19.png">    </p:cNvPr>
          <p:cNvPicPr>
            <a:picLocks noChangeAspect="1"/>
          </p:cNvPicPr>
          <p:nvPr/>
        </p:nvPicPr>
        <p:blipFill>
          <a:blip r:embed="rId41"/>
          <a:stretch>
            <a:fillRect/>
          </a:stretch>
        </p:blipFill>
        <p:spPr>
          <a:xfrm>
            <a:off x="8763975" y="2829916"/>
            <a:ext cx="804672" cy="265480"/>
          </a:xfrm>
          <a:prstGeom prst="rect">
            <a:avLst/>
          </a:prstGeom>
        </p:spPr>
      </p:pic>
      <p:pic>
        <p:nvPicPr>
          <p:cNvPr id="45" name="Card" descr="preencoded.png">    </p:cNvPr>
          <p:cNvPicPr>
            <a:picLocks noChangeAspect="1"/>
          </p:cNvPicPr>
          <p:nvPr/>
        </p:nvPicPr>
        <p:blipFill>
          <a:blip r:embed="rId42"/>
          <a:stretch>
            <a:fillRect/>
          </a:stretch>
        </p:blipFill>
        <p:spPr>
          <a:xfrm>
            <a:off x="9568007" y="2404872"/>
            <a:ext cx="1243584" cy="1115568"/>
          </a:xfrm>
          <a:prstGeom prst="rect">
            <a:avLst/>
          </a:prstGeom>
        </p:spPr>
      </p:pic>
      <p:pic>
        <p:nvPicPr>
          <p:cNvPr id="46" name="Logo" descr="/tmp/claude-0/-home-user-ad-gallery/7fc27a5a-8417-58c4-b3ff-7a7825ba0161/scratchpad/assets/s17_20.png">    </p:cNvPr>
          <p:cNvPicPr>
            <a:picLocks noChangeAspect="1"/>
          </p:cNvPicPr>
          <p:nvPr/>
        </p:nvPicPr>
        <p:blipFill>
          <a:blip r:embed="rId43"/>
          <a:stretch>
            <a:fillRect/>
          </a:stretch>
        </p:blipFill>
        <p:spPr>
          <a:xfrm>
            <a:off x="9787463" y="2859837"/>
            <a:ext cx="804672" cy="205638"/>
          </a:xfrm>
          <a:prstGeom prst="rect">
            <a:avLst/>
          </a:prstGeom>
        </p:spPr>
      </p:pic>
      <p:pic>
        <p:nvPicPr>
          <p:cNvPr id="47" name="Card" descr="preencoded.png">    </p:cNvPr>
          <p:cNvPicPr>
            <a:picLocks noChangeAspect="1"/>
          </p:cNvPicPr>
          <p:nvPr/>
        </p:nvPicPr>
        <p:blipFill>
          <a:blip r:embed="rId44"/>
          <a:stretch>
            <a:fillRect/>
          </a:stretch>
        </p:blipFill>
        <p:spPr>
          <a:xfrm>
            <a:off x="10591495" y="2404872"/>
            <a:ext cx="1243584" cy="1115568"/>
          </a:xfrm>
          <a:prstGeom prst="rect">
            <a:avLst/>
          </a:prstGeom>
        </p:spPr>
      </p:pic>
      <p:pic>
        <p:nvPicPr>
          <p:cNvPr id="48" name="Logo" descr="/tmp/claude-0/-home-user-ad-gallery/7fc27a5a-8417-58c4-b3ff-7a7825ba0161/scratchpad/assets/s17_21.png">    </p:cNvPr>
          <p:cNvPicPr>
            <a:picLocks noChangeAspect="1"/>
          </p:cNvPicPr>
          <p:nvPr/>
        </p:nvPicPr>
        <p:blipFill>
          <a:blip r:embed="rId45"/>
          <a:stretch>
            <a:fillRect/>
          </a:stretch>
        </p:blipFill>
        <p:spPr>
          <a:xfrm>
            <a:off x="10810951" y="2823831"/>
            <a:ext cx="804672" cy="277650"/>
          </a:xfrm>
          <a:prstGeom prst="rect">
            <a:avLst/>
          </a:prstGeom>
        </p:spPr>
      </p:pic>
      <p:pic>
        <p:nvPicPr>
          <p:cNvPr id="49" name="Card" descr="preencoded.png">    </p:cNvPr>
          <p:cNvPicPr>
            <a:picLocks noChangeAspect="1"/>
          </p:cNvPicPr>
          <p:nvPr/>
        </p:nvPicPr>
        <p:blipFill>
          <a:blip r:embed="rId46"/>
          <a:stretch>
            <a:fillRect/>
          </a:stretch>
        </p:blipFill>
        <p:spPr>
          <a:xfrm>
            <a:off x="356616" y="3355848"/>
            <a:ext cx="1243584" cy="1115568"/>
          </a:xfrm>
          <a:prstGeom prst="rect">
            <a:avLst/>
          </a:prstGeom>
        </p:spPr>
      </p:pic>
      <p:pic>
        <p:nvPicPr>
          <p:cNvPr id="50" name="Logo" descr="/tmp/claude-0/-home-user-ad-gallery/7fc27a5a-8417-58c4-b3ff-7a7825ba0161/scratchpad/assets/s17_22.png">    </p:cNvPr>
          <p:cNvPicPr>
            <a:picLocks noChangeAspect="1"/>
          </p:cNvPicPr>
          <p:nvPr/>
        </p:nvPicPr>
        <p:blipFill>
          <a:blip r:embed="rId47"/>
          <a:stretch>
            <a:fillRect/>
          </a:stretch>
        </p:blipFill>
        <p:spPr>
          <a:xfrm>
            <a:off x="576072" y="3632454"/>
            <a:ext cx="804672" cy="562356"/>
          </a:xfrm>
          <a:prstGeom prst="rect">
            <a:avLst/>
          </a:prstGeom>
        </p:spPr>
      </p:pic>
      <p:pic>
        <p:nvPicPr>
          <p:cNvPr id="51" name="Card" descr="preencoded.png">    </p:cNvPr>
          <p:cNvPicPr>
            <a:picLocks noChangeAspect="1"/>
          </p:cNvPicPr>
          <p:nvPr/>
        </p:nvPicPr>
        <p:blipFill>
          <a:blip r:embed="rId48"/>
          <a:stretch>
            <a:fillRect/>
          </a:stretch>
        </p:blipFill>
        <p:spPr>
          <a:xfrm>
            <a:off x="1380104" y="3355848"/>
            <a:ext cx="1243584" cy="1115568"/>
          </a:xfrm>
          <a:prstGeom prst="rect">
            <a:avLst/>
          </a:prstGeom>
        </p:spPr>
      </p:pic>
      <p:pic>
        <p:nvPicPr>
          <p:cNvPr id="52" name="Logo" descr="/tmp/claude-0/-home-user-ad-gallery/7fc27a5a-8417-58c4-b3ff-7a7825ba0161/scratchpad/assets/s17_23.png">    </p:cNvPr>
          <p:cNvPicPr>
            <a:picLocks noChangeAspect="1"/>
          </p:cNvPicPr>
          <p:nvPr/>
        </p:nvPicPr>
        <p:blipFill>
          <a:blip r:embed="rId49"/>
          <a:stretch>
            <a:fillRect/>
          </a:stretch>
        </p:blipFill>
        <p:spPr>
          <a:xfrm>
            <a:off x="1599560" y="3839517"/>
            <a:ext cx="804672" cy="148229"/>
          </a:xfrm>
          <a:prstGeom prst="rect">
            <a:avLst/>
          </a:prstGeom>
        </p:spPr>
      </p:pic>
      <p:pic>
        <p:nvPicPr>
          <p:cNvPr id="53" name="Card" descr="preencoded.png">    </p:cNvPr>
          <p:cNvPicPr>
            <a:picLocks noChangeAspect="1"/>
          </p:cNvPicPr>
          <p:nvPr/>
        </p:nvPicPr>
        <p:blipFill>
          <a:blip r:embed="rId50"/>
          <a:stretch>
            <a:fillRect/>
          </a:stretch>
        </p:blipFill>
        <p:spPr>
          <a:xfrm>
            <a:off x="2403592" y="3355848"/>
            <a:ext cx="1243584" cy="1115568"/>
          </a:xfrm>
          <a:prstGeom prst="rect">
            <a:avLst/>
          </a:prstGeom>
        </p:spPr>
      </p:pic>
      <p:pic>
        <p:nvPicPr>
          <p:cNvPr id="54" name="Logo" descr="/tmp/claude-0/-home-user-ad-gallery/7fc27a5a-8417-58c4-b3ff-7a7825ba0161/scratchpad/assets/s17_24.png">    </p:cNvPr>
          <p:cNvPicPr>
            <a:picLocks noChangeAspect="1"/>
          </p:cNvPicPr>
          <p:nvPr/>
        </p:nvPicPr>
        <p:blipFill>
          <a:blip r:embed="rId51"/>
          <a:stretch>
            <a:fillRect/>
          </a:stretch>
        </p:blipFill>
        <p:spPr>
          <a:xfrm>
            <a:off x="2623048" y="3794760"/>
            <a:ext cx="804672" cy="237744"/>
          </a:xfrm>
          <a:prstGeom prst="rect">
            <a:avLst/>
          </a:prstGeom>
        </p:spPr>
      </p:pic>
      <p:pic>
        <p:nvPicPr>
          <p:cNvPr id="55" name="Card" descr="preencoded.png">    </p:cNvPr>
          <p:cNvPicPr>
            <a:picLocks noChangeAspect="1"/>
          </p:cNvPicPr>
          <p:nvPr/>
        </p:nvPicPr>
        <p:blipFill>
          <a:blip r:embed="rId52"/>
          <a:stretch>
            <a:fillRect/>
          </a:stretch>
        </p:blipFill>
        <p:spPr>
          <a:xfrm>
            <a:off x="3427080" y="3355848"/>
            <a:ext cx="1243584" cy="1115568"/>
          </a:xfrm>
          <a:prstGeom prst="rect">
            <a:avLst/>
          </a:prstGeom>
        </p:spPr>
      </p:pic>
      <p:pic>
        <p:nvPicPr>
          <p:cNvPr id="56" name="Logo" descr="/tmp/claude-0/-home-user-ad-gallery/7fc27a5a-8417-58c4-b3ff-7a7825ba0161/scratchpad/assets/s17_25.png">    </p:cNvPr>
          <p:cNvPicPr>
            <a:picLocks noChangeAspect="1"/>
          </p:cNvPicPr>
          <p:nvPr/>
        </p:nvPicPr>
        <p:blipFill>
          <a:blip r:embed="rId53"/>
          <a:stretch>
            <a:fillRect/>
          </a:stretch>
        </p:blipFill>
        <p:spPr>
          <a:xfrm>
            <a:off x="3646536" y="3774046"/>
            <a:ext cx="804672" cy="279172"/>
          </a:xfrm>
          <a:prstGeom prst="rect">
            <a:avLst/>
          </a:prstGeom>
        </p:spPr>
      </p:pic>
      <p:pic>
        <p:nvPicPr>
          <p:cNvPr id="57" name="Card" descr="preencoded.png">    </p:cNvPr>
          <p:cNvPicPr>
            <a:picLocks noChangeAspect="1"/>
          </p:cNvPicPr>
          <p:nvPr/>
        </p:nvPicPr>
        <p:blipFill>
          <a:blip r:embed="rId54"/>
          <a:stretch>
            <a:fillRect/>
          </a:stretch>
        </p:blipFill>
        <p:spPr>
          <a:xfrm>
            <a:off x="4450568" y="3355848"/>
            <a:ext cx="1243584" cy="1115568"/>
          </a:xfrm>
          <a:prstGeom prst="rect">
            <a:avLst/>
          </a:prstGeom>
        </p:spPr>
      </p:pic>
      <p:pic>
        <p:nvPicPr>
          <p:cNvPr id="58" name="Logo" descr="/tmp/claude-0/-home-user-ad-gallery/7fc27a5a-8417-58c4-b3ff-7a7825ba0161/scratchpad/assets/s17_26.png">    </p:cNvPr>
          <p:cNvPicPr>
            <a:picLocks noChangeAspect="1"/>
          </p:cNvPicPr>
          <p:nvPr/>
        </p:nvPicPr>
        <p:blipFill>
          <a:blip r:embed="rId55"/>
          <a:stretch>
            <a:fillRect/>
          </a:stretch>
        </p:blipFill>
        <p:spPr>
          <a:xfrm>
            <a:off x="4670024" y="3743860"/>
            <a:ext cx="804672" cy="339544"/>
          </a:xfrm>
          <a:prstGeom prst="rect">
            <a:avLst/>
          </a:prstGeom>
        </p:spPr>
      </p:pic>
      <p:pic>
        <p:nvPicPr>
          <p:cNvPr id="59" name="Card" descr="preencoded.png">    </p:cNvPr>
          <p:cNvPicPr>
            <a:picLocks noChangeAspect="1"/>
          </p:cNvPicPr>
          <p:nvPr/>
        </p:nvPicPr>
        <p:blipFill>
          <a:blip r:embed="rId56"/>
          <a:stretch>
            <a:fillRect/>
          </a:stretch>
        </p:blipFill>
        <p:spPr>
          <a:xfrm>
            <a:off x="5474056" y="3355848"/>
            <a:ext cx="1243584" cy="1115568"/>
          </a:xfrm>
          <a:prstGeom prst="rect">
            <a:avLst/>
          </a:prstGeom>
        </p:spPr>
      </p:pic>
      <p:pic>
        <p:nvPicPr>
          <p:cNvPr id="60" name="Logo" descr="/tmp/claude-0/-home-user-ad-gallery/7fc27a5a-8417-58c4-b3ff-7a7825ba0161/scratchpad/assets/s17_27.png">    </p:cNvPr>
          <p:cNvPicPr>
            <a:picLocks noChangeAspect="1"/>
          </p:cNvPicPr>
          <p:nvPr/>
        </p:nvPicPr>
        <p:blipFill>
          <a:blip r:embed="rId57"/>
          <a:stretch>
            <a:fillRect/>
          </a:stretch>
        </p:blipFill>
        <p:spPr>
          <a:xfrm>
            <a:off x="5693512" y="3725699"/>
            <a:ext cx="804672" cy="375867"/>
          </a:xfrm>
          <a:prstGeom prst="rect">
            <a:avLst/>
          </a:prstGeom>
        </p:spPr>
      </p:pic>
      <p:pic>
        <p:nvPicPr>
          <p:cNvPr id="61" name="Card" descr="preencoded.png">    </p:cNvPr>
          <p:cNvPicPr>
            <a:picLocks noChangeAspect="1"/>
          </p:cNvPicPr>
          <p:nvPr/>
        </p:nvPicPr>
        <p:blipFill>
          <a:blip r:embed="rId58"/>
          <a:stretch>
            <a:fillRect/>
          </a:stretch>
        </p:blipFill>
        <p:spPr>
          <a:xfrm>
            <a:off x="6497544" y="3355848"/>
            <a:ext cx="1243584" cy="1115568"/>
          </a:xfrm>
          <a:prstGeom prst="rect">
            <a:avLst/>
          </a:prstGeom>
        </p:spPr>
      </p:pic>
      <p:pic>
        <p:nvPicPr>
          <p:cNvPr id="62" name="Logo" descr="/tmp/claude-0/-home-user-ad-gallery/7fc27a5a-8417-58c4-b3ff-7a7825ba0161/scratchpad/assets/s17_28.png">    </p:cNvPr>
          <p:cNvPicPr>
            <a:picLocks noChangeAspect="1"/>
          </p:cNvPicPr>
          <p:nvPr/>
        </p:nvPicPr>
        <p:blipFill>
          <a:blip r:embed="rId59"/>
          <a:stretch>
            <a:fillRect/>
          </a:stretch>
        </p:blipFill>
        <p:spPr>
          <a:xfrm>
            <a:off x="6742341" y="3575304"/>
            <a:ext cx="753988" cy="676656"/>
          </a:xfrm>
          <a:prstGeom prst="rect">
            <a:avLst/>
          </a:prstGeom>
        </p:spPr>
      </p:pic>
      <p:pic>
        <p:nvPicPr>
          <p:cNvPr id="63" name="Card" descr="preencoded.png">    </p:cNvPr>
          <p:cNvPicPr>
            <a:picLocks noChangeAspect="1"/>
          </p:cNvPicPr>
          <p:nvPr/>
        </p:nvPicPr>
        <p:blipFill>
          <a:blip r:embed="rId60"/>
          <a:stretch>
            <a:fillRect/>
          </a:stretch>
        </p:blipFill>
        <p:spPr>
          <a:xfrm>
            <a:off x="7521031" y="3355848"/>
            <a:ext cx="1243584" cy="1115568"/>
          </a:xfrm>
          <a:prstGeom prst="rect">
            <a:avLst/>
          </a:prstGeom>
        </p:spPr>
      </p:pic>
      <p:pic>
        <p:nvPicPr>
          <p:cNvPr id="64" name="Logo" descr="/tmp/claude-0/-home-user-ad-gallery/7fc27a5a-8417-58c4-b3ff-7a7825ba0161/scratchpad/assets/s17_29.png">    </p:cNvPr>
          <p:cNvPicPr>
            <a:picLocks noChangeAspect="1"/>
          </p:cNvPicPr>
          <p:nvPr/>
        </p:nvPicPr>
        <p:blipFill>
          <a:blip r:embed="rId61"/>
          <a:stretch>
            <a:fillRect/>
          </a:stretch>
        </p:blipFill>
        <p:spPr>
          <a:xfrm>
            <a:off x="7740487" y="3626249"/>
            <a:ext cx="804672" cy="574766"/>
          </a:xfrm>
          <a:prstGeom prst="rect">
            <a:avLst/>
          </a:prstGeom>
        </p:spPr>
      </p:pic>
      <p:pic>
        <p:nvPicPr>
          <p:cNvPr id="65" name="Card" descr="preencoded.png">    </p:cNvPr>
          <p:cNvPicPr>
            <a:picLocks noChangeAspect="1"/>
          </p:cNvPicPr>
          <p:nvPr/>
        </p:nvPicPr>
        <p:blipFill>
          <a:blip r:embed="rId62"/>
          <a:stretch>
            <a:fillRect/>
          </a:stretch>
        </p:blipFill>
        <p:spPr>
          <a:xfrm>
            <a:off x="8544519" y="3355848"/>
            <a:ext cx="1243584" cy="1115568"/>
          </a:xfrm>
          <a:prstGeom prst="rect">
            <a:avLst/>
          </a:prstGeom>
        </p:spPr>
      </p:pic>
      <p:pic>
        <p:nvPicPr>
          <p:cNvPr id="66" name="Logo" descr="/tmp/claude-0/-home-user-ad-gallery/7fc27a5a-8417-58c4-b3ff-7a7825ba0161/scratchpad/assets/s17_30.png">    </p:cNvPr>
          <p:cNvPicPr>
            <a:picLocks noChangeAspect="1"/>
          </p:cNvPicPr>
          <p:nvPr/>
        </p:nvPicPr>
        <p:blipFill>
          <a:blip r:embed="rId63"/>
          <a:stretch>
            <a:fillRect/>
          </a:stretch>
        </p:blipFill>
        <p:spPr>
          <a:xfrm>
            <a:off x="8763975" y="3653191"/>
            <a:ext cx="804672" cy="520881"/>
          </a:xfrm>
          <a:prstGeom prst="rect">
            <a:avLst/>
          </a:prstGeom>
        </p:spPr>
      </p:pic>
      <p:pic>
        <p:nvPicPr>
          <p:cNvPr id="67" name="Card" descr="preencoded.png">    </p:cNvPr>
          <p:cNvPicPr>
            <a:picLocks noChangeAspect="1"/>
          </p:cNvPicPr>
          <p:nvPr/>
        </p:nvPicPr>
        <p:blipFill>
          <a:blip r:embed="rId64"/>
          <a:stretch>
            <a:fillRect/>
          </a:stretch>
        </p:blipFill>
        <p:spPr>
          <a:xfrm>
            <a:off x="9568007" y="3355848"/>
            <a:ext cx="1243584" cy="1115568"/>
          </a:xfrm>
          <a:prstGeom prst="rect">
            <a:avLst/>
          </a:prstGeom>
        </p:spPr>
      </p:pic>
      <p:pic>
        <p:nvPicPr>
          <p:cNvPr id="68" name="Logo" descr="/tmp/claude-0/-home-user-ad-gallery/7fc27a5a-8417-58c4-b3ff-7a7825ba0161/scratchpad/assets/s17_31.png">    </p:cNvPr>
          <p:cNvPicPr>
            <a:picLocks noChangeAspect="1"/>
          </p:cNvPicPr>
          <p:nvPr/>
        </p:nvPicPr>
        <p:blipFill>
          <a:blip r:embed="rId65"/>
          <a:stretch>
            <a:fillRect/>
          </a:stretch>
        </p:blipFill>
        <p:spPr>
          <a:xfrm>
            <a:off x="9787463" y="3784884"/>
            <a:ext cx="804672" cy="257495"/>
          </a:xfrm>
          <a:prstGeom prst="rect">
            <a:avLst/>
          </a:prstGeom>
        </p:spPr>
      </p:pic>
      <p:pic>
        <p:nvPicPr>
          <p:cNvPr id="69" name="Card" descr="preencoded.png">    </p:cNvPr>
          <p:cNvPicPr>
            <a:picLocks noChangeAspect="1"/>
          </p:cNvPicPr>
          <p:nvPr/>
        </p:nvPicPr>
        <p:blipFill>
          <a:blip r:embed="rId66"/>
          <a:stretch>
            <a:fillRect/>
          </a:stretch>
        </p:blipFill>
        <p:spPr>
          <a:xfrm>
            <a:off x="10591495" y="3355848"/>
            <a:ext cx="1243584" cy="1115568"/>
          </a:xfrm>
          <a:prstGeom prst="rect">
            <a:avLst/>
          </a:prstGeom>
        </p:spPr>
      </p:pic>
      <p:pic>
        <p:nvPicPr>
          <p:cNvPr id="70" name="Logo" descr="/tmp/claude-0/-home-user-ad-gallery/7fc27a5a-8417-58c4-b3ff-7a7825ba0161/scratchpad/assets/s17_32.png">    </p:cNvPr>
          <p:cNvPicPr>
            <a:picLocks noChangeAspect="1"/>
          </p:cNvPicPr>
          <p:nvPr/>
        </p:nvPicPr>
        <p:blipFill>
          <a:blip r:embed="rId67"/>
          <a:stretch>
            <a:fillRect/>
          </a:stretch>
        </p:blipFill>
        <p:spPr>
          <a:xfrm>
            <a:off x="10810951" y="3851884"/>
            <a:ext cx="804672" cy="123495"/>
          </a:xfrm>
          <a:prstGeom prst="rect">
            <a:avLst/>
          </a:prstGeom>
        </p:spPr>
      </p:pic>
      <p:pic>
        <p:nvPicPr>
          <p:cNvPr id="71" name="Card" descr="preencoded.png">    </p:cNvPr>
          <p:cNvPicPr>
            <a:picLocks noChangeAspect="1"/>
          </p:cNvPicPr>
          <p:nvPr/>
        </p:nvPicPr>
        <p:blipFill>
          <a:blip r:embed="rId68"/>
          <a:stretch>
            <a:fillRect/>
          </a:stretch>
        </p:blipFill>
        <p:spPr>
          <a:xfrm>
            <a:off x="356616" y="4306824"/>
            <a:ext cx="1243584" cy="1115568"/>
          </a:xfrm>
          <a:prstGeom prst="rect">
            <a:avLst/>
          </a:prstGeom>
        </p:spPr>
      </p:pic>
      <p:pic>
        <p:nvPicPr>
          <p:cNvPr id="72" name="Logo" descr="/tmp/claude-0/-home-user-ad-gallery/7fc27a5a-8417-58c4-b3ff-7a7825ba0161/scratchpad/assets/s17_33.png">    </p:cNvPr>
          <p:cNvPicPr>
            <a:picLocks noChangeAspect="1"/>
          </p:cNvPicPr>
          <p:nvPr/>
        </p:nvPicPr>
        <p:blipFill>
          <a:blip r:embed="rId69"/>
          <a:stretch>
            <a:fillRect/>
          </a:stretch>
        </p:blipFill>
        <p:spPr>
          <a:xfrm>
            <a:off x="576072" y="4547875"/>
            <a:ext cx="804672" cy="633465"/>
          </a:xfrm>
          <a:prstGeom prst="rect">
            <a:avLst/>
          </a:prstGeom>
        </p:spPr>
      </p:pic>
      <p:pic>
        <p:nvPicPr>
          <p:cNvPr id="73" name="Card" descr="preencoded.png">    </p:cNvPr>
          <p:cNvPicPr>
            <a:picLocks noChangeAspect="1"/>
          </p:cNvPicPr>
          <p:nvPr/>
        </p:nvPicPr>
        <p:blipFill>
          <a:blip r:embed="rId70"/>
          <a:stretch>
            <a:fillRect/>
          </a:stretch>
        </p:blipFill>
        <p:spPr>
          <a:xfrm>
            <a:off x="1380104" y="4306824"/>
            <a:ext cx="1243584" cy="1115568"/>
          </a:xfrm>
          <a:prstGeom prst="rect">
            <a:avLst/>
          </a:prstGeom>
        </p:spPr>
      </p:pic>
      <p:pic>
        <p:nvPicPr>
          <p:cNvPr id="74" name="Logo" descr="/tmp/claude-0/-home-user-ad-gallery/7fc27a5a-8417-58c4-b3ff-7a7825ba0161/scratchpad/assets/s17_34.png">    </p:cNvPr>
          <p:cNvPicPr>
            <a:picLocks noChangeAspect="1"/>
          </p:cNvPicPr>
          <p:nvPr/>
        </p:nvPicPr>
        <p:blipFill>
          <a:blip r:embed="rId71"/>
          <a:stretch>
            <a:fillRect/>
          </a:stretch>
        </p:blipFill>
        <p:spPr>
          <a:xfrm>
            <a:off x="1599560" y="4637988"/>
            <a:ext cx="804672" cy="453240"/>
          </a:xfrm>
          <a:prstGeom prst="rect">
            <a:avLst/>
          </a:prstGeom>
        </p:spPr>
      </p:pic>
      <p:pic>
        <p:nvPicPr>
          <p:cNvPr id="75" name="Card" descr="preencoded.png">    </p:cNvPr>
          <p:cNvPicPr>
            <a:picLocks noChangeAspect="1"/>
          </p:cNvPicPr>
          <p:nvPr/>
        </p:nvPicPr>
        <p:blipFill>
          <a:blip r:embed="rId72"/>
          <a:stretch>
            <a:fillRect/>
          </a:stretch>
        </p:blipFill>
        <p:spPr>
          <a:xfrm>
            <a:off x="2403592" y="4306824"/>
            <a:ext cx="1243584" cy="1115568"/>
          </a:xfrm>
          <a:prstGeom prst="rect">
            <a:avLst/>
          </a:prstGeom>
        </p:spPr>
      </p:pic>
      <p:pic>
        <p:nvPicPr>
          <p:cNvPr id="76" name="Logo" descr="/tmp/claude-0/-home-user-ad-gallery/7fc27a5a-8417-58c4-b3ff-7a7825ba0161/scratchpad/assets/s17_35.png">    </p:cNvPr>
          <p:cNvPicPr>
            <a:picLocks noChangeAspect="1"/>
          </p:cNvPicPr>
          <p:nvPr/>
        </p:nvPicPr>
        <p:blipFill>
          <a:blip r:embed="rId73"/>
          <a:stretch>
            <a:fillRect/>
          </a:stretch>
        </p:blipFill>
        <p:spPr>
          <a:xfrm>
            <a:off x="2734485" y="4526280"/>
            <a:ext cx="581798" cy="676656"/>
          </a:xfrm>
          <a:prstGeom prst="rect">
            <a:avLst/>
          </a:prstGeom>
        </p:spPr>
      </p:pic>
      <p:pic>
        <p:nvPicPr>
          <p:cNvPr id="77" name="Card" descr="preencoded.png">    </p:cNvPr>
          <p:cNvPicPr>
            <a:picLocks noChangeAspect="1"/>
          </p:cNvPicPr>
          <p:nvPr/>
        </p:nvPicPr>
        <p:blipFill>
          <a:blip r:embed="rId74"/>
          <a:stretch>
            <a:fillRect/>
          </a:stretch>
        </p:blipFill>
        <p:spPr>
          <a:xfrm>
            <a:off x="3427080" y="4306824"/>
            <a:ext cx="1243584" cy="1115568"/>
          </a:xfrm>
          <a:prstGeom prst="rect">
            <a:avLst/>
          </a:prstGeom>
        </p:spPr>
      </p:pic>
      <p:pic>
        <p:nvPicPr>
          <p:cNvPr id="78" name="Logo" descr="/tmp/claude-0/-home-user-ad-gallery/7fc27a5a-8417-58c4-b3ff-7a7825ba0161/scratchpad/assets/s17_36.png">    </p:cNvPr>
          <p:cNvPicPr>
            <a:picLocks noChangeAspect="1"/>
          </p:cNvPicPr>
          <p:nvPr/>
        </p:nvPicPr>
        <p:blipFill>
          <a:blip r:embed="rId75"/>
          <a:stretch>
            <a:fillRect/>
          </a:stretch>
        </p:blipFill>
        <p:spPr>
          <a:xfrm>
            <a:off x="3710544" y="4526280"/>
            <a:ext cx="676656" cy="676656"/>
          </a:xfrm>
          <a:prstGeom prst="rect">
            <a:avLst/>
          </a:prstGeom>
        </p:spPr>
      </p:pic>
      <p:pic>
        <p:nvPicPr>
          <p:cNvPr id="79" name="Card" descr="preencoded.png">    </p:cNvPr>
          <p:cNvPicPr>
            <a:picLocks noChangeAspect="1"/>
          </p:cNvPicPr>
          <p:nvPr/>
        </p:nvPicPr>
        <p:blipFill>
          <a:blip r:embed="rId76"/>
          <a:stretch>
            <a:fillRect/>
          </a:stretch>
        </p:blipFill>
        <p:spPr>
          <a:xfrm>
            <a:off x="4450568" y="4306824"/>
            <a:ext cx="1243584" cy="1115568"/>
          </a:xfrm>
          <a:prstGeom prst="rect">
            <a:avLst/>
          </a:prstGeom>
        </p:spPr>
      </p:pic>
      <p:pic>
        <p:nvPicPr>
          <p:cNvPr id="80" name="Logo" descr="/tmp/claude-0/-home-user-ad-gallery/7fc27a5a-8417-58c4-b3ff-7a7825ba0161/scratchpad/assets/s17_37.png">    </p:cNvPr>
          <p:cNvPicPr>
            <a:picLocks noChangeAspect="1"/>
          </p:cNvPicPr>
          <p:nvPr/>
        </p:nvPicPr>
        <p:blipFill>
          <a:blip r:embed="rId77"/>
          <a:stretch>
            <a:fillRect/>
          </a:stretch>
        </p:blipFill>
        <p:spPr>
          <a:xfrm>
            <a:off x="4670024" y="4651370"/>
            <a:ext cx="804672" cy="426476"/>
          </a:xfrm>
          <a:prstGeom prst="rect">
            <a:avLst/>
          </a:prstGeom>
        </p:spPr>
      </p:pic>
      <p:pic>
        <p:nvPicPr>
          <p:cNvPr id="81" name="Card" descr="preencoded.png">    </p:cNvPr>
          <p:cNvPicPr>
            <a:picLocks noChangeAspect="1"/>
          </p:cNvPicPr>
          <p:nvPr/>
        </p:nvPicPr>
        <p:blipFill>
          <a:blip r:embed="rId78"/>
          <a:stretch>
            <a:fillRect/>
          </a:stretch>
        </p:blipFill>
        <p:spPr>
          <a:xfrm>
            <a:off x="5474056" y="4306824"/>
            <a:ext cx="1243584" cy="1115568"/>
          </a:xfrm>
          <a:prstGeom prst="rect">
            <a:avLst/>
          </a:prstGeom>
        </p:spPr>
      </p:pic>
      <p:pic>
        <p:nvPicPr>
          <p:cNvPr id="82" name="Logo" descr="/tmp/claude-0/-home-user-ad-gallery/7fc27a5a-8417-58c4-b3ff-7a7825ba0161/scratchpad/assets/s17_38.png">    </p:cNvPr>
          <p:cNvPicPr>
            <a:picLocks noChangeAspect="1"/>
          </p:cNvPicPr>
          <p:nvPr/>
        </p:nvPicPr>
        <p:blipFill>
          <a:blip r:embed="rId79"/>
          <a:stretch>
            <a:fillRect/>
          </a:stretch>
        </p:blipFill>
        <p:spPr>
          <a:xfrm>
            <a:off x="5693512" y="4589678"/>
            <a:ext cx="804672" cy="549859"/>
          </a:xfrm>
          <a:prstGeom prst="rect">
            <a:avLst/>
          </a:prstGeom>
        </p:spPr>
      </p:pic>
      <p:pic>
        <p:nvPicPr>
          <p:cNvPr id="83" name="Card" descr="preencoded.png">    </p:cNvPr>
          <p:cNvPicPr>
            <a:picLocks noChangeAspect="1"/>
          </p:cNvPicPr>
          <p:nvPr/>
        </p:nvPicPr>
        <p:blipFill>
          <a:blip r:embed="rId80"/>
          <a:stretch>
            <a:fillRect/>
          </a:stretch>
        </p:blipFill>
        <p:spPr>
          <a:xfrm>
            <a:off x="6497544" y="4306824"/>
            <a:ext cx="1243584" cy="1115568"/>
          </a:xfrm>
          <a:prstGeom prst="rect">
            <a:avLst/>
          </a:prstGeom>
        </p:spPr>
      </p:pic>
      <p:pic>
        <p:nvPicPr>
          <p:cNvPr id="84" name="Logo" descr="/tmp/claude-0/-home-user-ad-gallery/7fc27a5a-8417-58c4-b3ff-7a7825ba0161/scratchpad/assets/s17_39.png">    </p:cNvPr>
          <p:cNvPicPr>
            <a:picLocks noChangeAspect="1"/>
          </p:cNvPicPr>
          <p:nvPr/>
        </p:nvPicPr>
        <p:blipFill>
          <a:blip r:embed="rId81"/>
          <a:stretch>
            <a:fillRect/>
          </a:stretch>
        </p:blipFill>
        <p:spPr>
          <a:xfrm>
            <a:off x="6717000" y="4755515"/>
            <a:ext cx="804672" cy="218187"/>
          </a:xfrm>
          <a:prstGeom prst="rect">
            <a:avLst/>
          </a:prstGeom>
        </p:spPr>
      </p:pic>
      <p:pic>
        <p:nvPicPr>
          <p:cNvPr id="85" name="Card" descr="preencoded.png">    </p:cNvPr>
          <p:cNvPicPr>
            <a:picLocks noChangeAspect="1"/>
          </p:cNvPicPr>
          <p:nvPr/>
        </p:nvPicPr>
        <p:blipFill>
          <a:blip r:embed="rId82"/>
          <a:stretch>
            <a:fillRect/>
          </a:stretch>
        </p:blipFill>
        <p:spPr>
          <a:xfrm>
            <a:off x="7521031" y="4306824"/>
            <a:ext cx="1243584" cy="1115568"/>
          </a:xfrm>
          <a:prstGeom prst="rect">
            <a:avLst/>
          </a:prstGeom>
        </p:spPr>
      </p:pic>
      <p:pic>
        <p:nvPicPr>
          <p:cNvPr id="86" name="Logo" descr="/tmp/claude-0/-home-user-ad-gallery/7fc27a5a-8417-58c4-b3ff-7a7825ba0161/scratchpad/assets/s17_41.png">    </p:cNvPr>
          <p:cNvPicPr>
            <a:picLocks noChangeAspect="1"/>
          </p:cNvPicPr>
          <p:nvPr/>
        </p:nvPicPr>
        <p:blipFill>
          <a:blip r:embed="rId83"/>
          <a:stretch>
            <a:fillRect/>
          </a:stretch>
        </p:blipFill>
        <p:spPr>
          <a:xfrm>
            <a:off x="7740487" y="4603236"/>
            <a:ext cx="804672" cy="522743"/>
          </a:xfrm>
          <a:prstGeom prst="rect">
            <a:avLst/>
          </a:prstGeom>
        </p:spPr>
      </p:pic>
      <p:pic>
        <p:nvPicPr>
          <p:cNvPr id="87" name="Card" descr="preencoded.png">    </p:cNvPr>
          <p:cNvPicPr>
            <a:picLocks noChangeAspect="1"/>
          </p:cNvPicPr>
          <p:nvPr/>
        </p:nvPicPr>
        <p:blipFill>
          <a:blip r:embed="rId84"/>
          <a:stretch>
            <a:fillRect/>
          </a:stretch>
        </p:blipFill>
        <p:spPr>
          <a:xfrm>
            <a:off x="8544519" y="4306824"/>
            <a:ext cx="1243584" cy="1115568"/>
          </a:xfrm>
          <a:prstGeom prst="rect">
            <a:avLst/>
          </a:prstGeom>
        </p:spPr>
      </p:pic>
      <p:pic>
        <p:nvPicPr>
          <p:cNvPr id="88" name="Logo" descr="/tmp/claude-0/-home-user-ad-gallery/7fc27a5a-8417-58c4-b3ff-7a7825ba0161/scratchpad/assets/s17_42.png">    </p:cNvPr>
          <p:cNvPicPr>
            <a:picLocks noChangeAspect="1"/>
          </p:cNvPicPr>
          <p:nvPr/>
        </p:nvPicPr>
        <p:blipFill>
          <a:blip r:embed="rId85"/>
          <a:stretch>
            <a:fillRect/>
          </a:stretch>
        </p:blipFill>
        <p:spPr>
          <a:xfrm>
            <a:off x="8763975" y="4639300"/>
            <a:ext cx="804672" cy="450616"/>
          </a:xfrm>
          <a:prstGeom prst="rect">
            <a:avLst/>
          </a:prstGeom>
        </p:spPr>
      </p:pic>
      <p:pic>
        <p:nvPicPr>
          <p:cNvPr id="89" name="Card" descr="preencoded.png">    </p:cNvPr>
          <p:cNvPicPr>
            <a:picLocks noChangeAspect="1"/>
          </p:cNvPicPr>
          <p:nvPr/>
        </p:nvPicPr>
        <p:blipFill>
          <a:blip r:embed="rId86"/>
          <a:stretch>
            <a:fillRect/>
          </a:stretch>
        </p:blipFill>
        <p:spPr>
          <a:xfrm>
            <a:off x="9568007" y="4306824"/>
            <a:ext cx="1243584" cy="1115568"/>
          </a:xfrm>
          <a:prstGeom prst="rect">
            <a:avLst/>
          </a:prstGeom>
        </p:spPr>
      </p:pic>
      <p:pic>
        <p:nvPicPr>
          <p:cNvPr id="90" name="Logo" descr="/tmp/claude-0/-home-user-ad-gallery/7fc27a5a-8417-58c4-b3ff-7a7825ba0161/scratchpad/assets/s17_43.png">    </p:cNvPr>
          <p:cNvPicPr>
            <a:picLocks noChangeAspect="1"/>
          </p:cNvPicPr>
          <p:nvPr/>
        </p:nvPicPr>
        <p:blipFill>
          <a:blip r:embed="rId87"/>
          <a:stretch>
            <a:fillRect/>
          </a:stretch>
        </p:blipFill>
        <p:spPr>
          <a:xfrm>
            <a:off x="9787463" y="4707331"/>
            <a:ext cx="804672" cy="314554"/>
          </a:xfrm>
          <a:prstGeom prst="rect">
            <a:avLst/>
          </a:prstGeom>
        </p:spPr>
      </p:pic>
      <p:pic>
        <p:nvPicPr>
          <p:cNvPr id="91" name="Card" descr="preencoded.png">    </p:cNvPr>
          <p:cNvPicPr>
            <a:picLocks noChangeAspect="1"/>
          </p:cNvPicPr>
          <p:nvPr/>
        </p:nvPicPr>
        <p:blipFill>
          <a:blip r:embed="rId88"/>
          <a:stretch>
            <a:fillRect/>
          </a:stretch>
        </p:blipFill>
        <p:spPr>
          <a:xfrm>
            <a:off x="10591495" y="4306824"/>
            <a:ext cx="1243584" cy="1115568"/>
          </a:xfrm>
          <a:prstGeom prst="rect">
            <a:avLst/>
          </a:prstGeom>
        </p:spPr>
      </p:pic>
      <p:pic>
        <p:nvPicPr>
          <p:cNvPr id="92" name="Logo" descr="/tmp/claude-0/-home-user-ad-gallery/7fc27a5a-8417-58c4-b3ff-7a7825ba0161/scratchpad/assets/s17_44.png">    </p:cNvPr>
          <p:cNvPicPr>
            <a:picLocks noChangeAspect="1"/>
          </p:cNvPicPr>
          <p:nvPr/>
        </p:nvPicPr>
        <p:blipFill>
          <a:blip r:embed="rId89"/>
          <a:stretch>
            <a:fillRect/>
          </a:stretch>
        </p:blipFill>
        <p:spPr>
          <a:xfrm>
            <a:off x="10810951" y="4663440"/>
            <a:ext cx="804672" cy="402336"/>
          </a:xfrm>
          <a:prstGeom prst="rect">
            <a:avLst/>
          </a:prstGeom>
        </p:spPr>
      </p:pic>
      <p:sp>
        <p:nvSpPr>
          <p:cNvPr id="93" name="Text 2"/>
          <p:cNvSpPr txBox="1"/>
          <p:nvPr/>
        </p:nvSpPr>
        <p:spPr>
          <a:xfrm>
            <a:off x="502920" y="5586984"/>
            <a:ext cx="11185855" cy="365760"/>
          </a:xfrm>
          <a:prstGeom prst="rect">
            <a:avLst/>
          </a:prstGeom>
          <a:noFill/>
          <a:ln/>
        </p:spPr>
        <p:txBody>
          <a:bodyPr wrap="square" lIns="0" tIns="0" rIns="0" bIns="0" rtlCol="0" anchor="ctr"/>
          <a:lstStyle/>
          <a:p>
            <a:pPr algn="ctr" indent="0" marL="0">
              <a:buNone/>
            </a:pPr>
            <a:r>
              <a:rPr lang="en-US" sz="1200" b="1" spc="200" kern="0" dirty="0">
                <a:solidFill>
                  <a:schemeClr val="tx2"/>
                </a:solidFill>
              </a:rPr>
              <a:t>RETAIL   •   MANUFACTURING   •   SUPPLY CHAIN &amp; LOGISTICS   •   LIFE SCIENCES   •   MEDIA   •   FOOD &amp; FMCG</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502920"/>
            <a:ext cx="5379415" cy="5852160"/>
          </a:xfrm>
          <a:prstGeom prst="rect">
            <a:avLst/>
          </a:prstGeom>
        </p:spPr>
      </p:pic>
      <p:pic>
        <p:nvPicPr>
          <p:cNvPr id="3" name="Image 1" descr="/tmp/claude-0/-home-user-ad-gallery/7fc27a5a-8417-58c4-b3ff-7a7825ba0161/scratchpad/assets/logo.png">    </p:cNvPr>
          <p:cNvPicPr>
            <a:picLocks noChangeAspect="1"/>
          </p:cNvPicPr>
          <p:nvPr/>
        </p:nvPicPr>
        <p:blipFill>
          <a:blip r:embed="rId2"/>
          <a:stretch>
            <a:fillRect/>
          </a:stretch>
        </p:blipFill>
        <p:spPr>
          <a:xfrm>
            <a:off x="502920" y="502920"/>
            <a:ext cx="1737360" cy="479629"/>
          </a:xfrm>
          <a:prstGeom prst="rect">
            <a:avLst/>
          </a:prstGeom>
        </p:spPr>
      </p:pic>
      <p:sp>
        <p:nvSpPr>
          <p:cNvPr id="4" name="Text 0"/>
          <p:cNvSpPr txBox="1"/>
          <p:nvPr/>
        </p:nvSpPr>
        <p:spPr>
          <a:xfrm>
            <a:off x="502920" y="1600200"/>
            <a:ext cx="4572000" cy="274320"/>
          </a:xfrm>
          <a:prstGeom prst="rect">
            <a:avLst/>
          </a:prstGeom>
          <a:noFill/>
          <a:ln/>
        </p:spPr>
        <p:txBody>
          <a:bodyPr wrap="square" lIns="0" tIns="0" rIns="0" bIns="0" rtlCol="0" anchor="t"/>
          <a:lstStyle/>
          <a:p>
            <a:pPr indent="0" marL="0">
              <a:buNone/>
            </a:pPr>
            <a:r>
              <a:rPr lang="en-US" sz="1200" b="1" spc="500" kern="0" dirty="0">
                <a:solidFill>
                  <a:schemeClr val="accent1"/>
                </a:solidFill>
              </a:rPr>
              <a:t>SECTION 01</a:t>
            </a:r>
            <a:endParaRPr lang="en-US" sz="1200" dirty="0"/>
          </a:p>
        </p:txBody>
      </p:sp>
      <p:sp>
        <p:nvSpPr>
          <p:cNvPr id="5" name="Text 1"/>
          <p:cNvSpPr txBox="1"/>
          <p:nvPr/>
        </p:nvSpPr>
        <p:spPr>
          <a:xfrm>
            <a:off x="457200" y="1828800"/>
            <a:ext cx="4572000" cy="1371600"/>
          </a:xfrm>
          <a:prstGeom prst="rect">
            <a:avLst/>
          </a:prstGeom>
          <a:noFill/>
          <a:ln/>
        </p:spPr>
        <p:txBody>
          <a:bodyPr wrap="square" lIns="0" tIns="0" rIns="0" bIns="0" rtlCol="0" anchor="ctr"/>
          <a:lstStyle/>
          <a:p>
            <a:pPr indent="0" marL="0">
              <a:buNone/>
            </a:pPr>
            <a:r>
              <a:rPr lang="en-US" sz="10000" b="1" dirty="0">
                <a:solidFill>
                  <a:schemeClr val="accent1"/>
                </a:solidFill>
                <a:latin typeface="Arial" pitchFamily="34" charset="0"/>
                <a:ea typeface="Arial" pitchFamily="34" charset="-122"/>
                <a:cs typeface="Arial" pitchFamily="34" charset="-120"/>
              </a:rPr>
              <a:t>01</a:t>
            </a:r>
            <a:endParaRPr lang="en-US" sz="10000" dirty="0"/>
          </a:p>
        </p:txBody>
      </p:sp>
      <p:sp>
        <p:nvSpPr>
          <p:cNvPr id="6" name="Text 2"/>
          <p:cNvSpPr txBox="1"/>
          <p:nvPr/>
        </p:nvSpPr>
        <p:spPr>
          <a:xfrm>
            <a:off x="502920" y="3246120"/>
            <a:ext cx="5577840" cy="1280160"/>
          </a:xfrm>
          <a:prstGeom prst="rect">
            <a:avLst/>
          </a:prstGeom>
          <a:noFill/>
          <a:ln/>
        </p:spPr>
        <p:txBody>
          <a:bodyPr wrap="square" lIns="0" tIns="0" rIns="0" bIns="0" rtlCol="0" anchor="t"/>
          <a:lstStyle/>
          <a:p>
            <a:pPr indent="0" marL="0">
              <a:buNone/>
            </a:pPr>
            <a:r>
              <a:rPr lang="en-US" sz="4000" b="1" dirty="0">
                <a:solidFill>
                  <a:schemeClr val="tx1"/>
                </a:solidFill>
                <a:latin typeface="Arial" pitchFamily="34" charset="0"/>
                <a:ea typeface="Arial" pitchFamily="34" charset="-122"/>
                <a:cs typeface="Arial" pitchFamily="34" charset="-120"/>
              </a:rPr>
              <a:t>Service Offerings</a:t>
            </a:r>
            <a:endParaRPr lang="en-US" sz="4000" dirty="0"/>
          </a:p>
        </p:txBody>
      </p:sp>
      <p:sp>
        <p:nvSpPr>
          <p:cNvPr id="7" name="Text 3"/>
          <p:cNvSpPr txBox="1"/>
          <p:nvPr/>
        </p:nvSpPr>
        <p:spPr>
          <a:xfrm>
            <a:off x="502920" y="4526280"/>
            <a:ext cx="5486400" cy="411480"/>
          </a:xfrm>
          <a:prstGeom prst="rect">
            <a:avLst/>
          </a:prstGeom>
          <a:noFill/>
          <a:ln/>
        </p:spPr>
        <p:txBody>
          <a:bodyPr wrap="square" lIns="0" tIns="0" rIns="0" bIns="0" rtlCol="0" anchor="t"/>
          <a:lstStyle/>
          <a:p>
            <a:pPr indent="0" marL="0">
              <a:buNone/>
            </a:pPr>
            <a:r>
              <a:rPr lang="en-US" sz="1800" dirty="0">
                <a:solidFill>
                  <a:schemeClr val="accent5"/>
                </a:solidFill>
              </a:rPr>
              <a:t>Detailed Overview</a:t>
            </a:r>
            <a:endParaRPr lang="en-US" sz="1800" dirty="0"/>
          </a:p>
        </p:txBody>
      </p:sp>
      <p:sp>
        <p:nvSpPr>
          <p:cNvPr id="8" name="Text 4"/>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pic>
        <p:nvPicPr>
          <p:cNvPr id="9" name="Card" descr="preencoded.png">    </p:cNvPr>
          <p:cNvPicPr>
            <a:picLocks noChangeAspect="1"/>
          </p:cNvPicPr>
          <p:nvPr/>
        </p:nvPicPr>
        <p:blipFill>
          <a:blip r:embed="rId3"/>
          <a:stretch>
            <a:fillRect/>
          </a:stretch>
        </p:blipFill>
        <p:spPr>
          <a:xfrm>
            <a:off x="356616" y="4974336"/>
            <a:ext cx="2944368" cy="841248"/>
          </a:xfrm>
          <a:prstGeom prst="rect">
            <a:avLst/>
          </a:prstGeom>
        </p:spPr>
      </p:pic>
      <p:pic>
        <p:nvPicPr>
          <p:cNvPr id="10" name="Badge" descr="preencoded.png">    </p:cNvPr>
          <p:cNvPicPr>
            <a:picLocks noChangeAspect="1"/>
          </p:cNvPicPr>
          <p:nvPr/>
        </p:nvPicPr>
        <p:blipFill>
          <a:blip r:embed="rId4"/>
          <a:stretch>
            <a:fillRect/>
          </a:stretch>
        </p:blipFill>
        <p:spPr>
          <a:xfrm>
            <a:off x="594360" y="5202936"/>
            <a:ext cx="384048" cy="384048"/>
          </a:xfrm>
          <a:prstGeom prst="rect">
            <a:avLst/>
          </a:prstGeom>
        </p:spPr>
      </p:pic>
      <p:sp>
        <p:nvSpPr>
          <p:cNvPr id="11" name="Text 5"/>
          <p:cNvSpPr txBox="1"/>
          <p:nvPr/>
        </p:nvSpPr>
        <p:spPr>
          <a:xfrm>
            <a:off x="1069848" y="5120640"/>
            <a:ext cx="2011680" cy="548640"/>
          </a:xfrm>
          <a:prstGeom prst="rect">
            <a:avLst/>
          </a:prstGeom>
          <a:noFill/>
          <a:ln/>
        </p:spPr>
        <p:txBody>
          <a:bodyPr wrap="square" lIns="0" tIns="0" rIns="0" bIns="0" rtlCol="0" anchor="ctr"/>
          <a:lstStyle/>
          <a:p>
            <a:pPr indent="0" marL="0">
              <a:buNone/>
            </a:pPr>
            <a:r>
              <a:rPr lang="en-US" sz="1300" b="1" dirty="0">
                <a:solidFill>
                  <a:schemeClr val="tx1"/>
                </a:solidFill>
              </a:rPr>
              <a:t>Data Engineering</a:t>
            </a:r>
            <a:endParaRPr lang="en-US" sz="1300" dirty="0"/>
          </a:p>
        </p:txBody>
      </p:sp>
      <p:pic>
        <p:nvPicPr>
          <p:cNvPr id="12" name="Card" descr="preencoded.png">    </p:cNvPr>
          <p:cNvPicPr>
            <a:picLocks noChangeAspect="1"/>
          </p:cNvPicPr>
          <p:nvPr/>
        </p:nvPicPr>
        <p:blipFill>
          <a:blip r:embed="rId5"/>
          <a:stretch>
            <a:fillRect/>
          </a:stretch>
        </p:blipFill>
        <p:spPr>
          <a:xfrm>
            <a:off x="3145536" y="4974336"/>
            <a:ext cx="2944368" cy="841248"/>
          </a:xfrm>
          <a:prstGeom prst="rect">
            <a:avLst/>
          </a:prstGeom>
        </p:spPr>
      </p:pic>
      <p:pic>
        <p:nvPicPr>
          <p:cNvPr id="13" name="Badge" descr="preencoded.png">    </p:cNvPr>
          <p:cNvPicPr>
            <a:picLocks noChangeAspect="1"/>
          </p:cNvPicPr>
          <p:nvPr/>
        </p:nvPicPr>
        <p:blipFill>
          <a:blip r:embed="rId6"/>
          <a:stretch>
            <a:fillRect/>
          </a:stretch>
        </p:blipFill>
        <p:spPr>
          <a:xfrm>
            <a:off x="3383280" y="5202936"/>
            <a:ext cx="384048" cy="384048"/>
          </a:xfrm>
          <a:prstGeom prst="rect">
            <a:avLst/>
          </a:prstGeom>
        </p:spPr>
      </p:pic>
      <p:sp>
        <p:nvSpPr>
          <p:cNvPr id="14" name="Text 6"/>
          <p:cNvSpPr txBox="1"/>
          <p:nvPr/>
        </p:nvSpPr>
        <p:spPr>
          <a:xfrm>
            <a:off x="3858768" y="5120640"/>
            <a:ext cx="2011680" cy="548640"/>
          </a:xfrm>
          <a:prstGeom prst="rect">
            <a:avLst/>
          </a:prstGeom>
          <a:noFill/>
          <a:ln/>
        </p:spPr>
        <p:txBody>
          <a:bodyPr wrap="square" lIns="0" tIns="0" rIns="0" bIns="0" rtlCol="0" anchor="ctr"/>
          <a:lstStyle/>
          <a:p>
            <a:pPr indent="0" marL="0">
              <a:buNone/>
            </a:pPr>
            <a:r>
              <a:rPr lang="en-US" sz="1300" b="1" dirty="0">
                <a:solidFill>
                  <a:schemeClr val="tx1"/>
                </a:solidFill>
              </a:rPr>
              <a:t>Business Intelligence</a:t>
            </a:r>
            <a:endParaRPr lang="en-US" sz="1300" dirty="0"/>
          </a:p>
        </p:txBody>
      </p:sp>
      <p:pic>
        <p:nvPicPr>
          <p:cNvPr id="15" name="Card" descr="preencoded.png">    </p:cNvPr>
          <p:cNvPicPr>
            <a:picLocks noChangeAspect="1"/>
          </p:cNvPicPr>
          <p:nvPr/>
        </p:nvPicPr>
        <p:blipFill>
          <a:blip r:embed="rId7"/>
          <a:stretch>
            <a:fillRect/>
          </a:stretch>
        </p:blipFill>
        <p:spPr>
          <a:xfrm>
            <a:off x="356616" y="5632704"/>
            <a:ext cx="2944368" cy="841248"/>
          </a:xfrm>
          <a:prstGeom prst="rect">
            <a:avLst/>
          </a:prstGeom>
        </p:spPr>
      </p:pic>
      <p:pic>
        <p:nvPicPr>
          <p:cNvPr id="16" name="Badge" descr="preencoded.png">    </p:cNvPr>
          <p:cNvPicPr>
            <a:picLocks noChangeAspect="1"/>
          </p:cNvPicPr>
          <p:nvPr/>
        </p:nvPicPr>
        <p:blipFill>
          <a:blip r:embed="rId8"/>
          <a:stretch>
            <a:fillRect/>
          </a:stretch>
        </p:blipFill>
        <p:spPr>
          <a:xfrm>
            <a:off x="594360" y="5861304"/>
            <a:ext cx="384048" cy="384048"/>
          </a:xfrm>
          <a:prstGeom prst="rect">
            <a:avLst/>
          </a:prstGeom>
        </p:spPr>
      </p:pic>
      <p:sp>
        <p:nvSpPr>
          <p:cNvPr id="17" name="Text 7"/>
          <p:cNvSpPr txBox="1"/>
          <p:nvPr/>
        </p:nvSpPr>
        <p:spPr>
          <a:xfrm>
            <a:off x="1069848" y="5779008"/>
            <a:ext cx="2011680" cy="548640"/>
          </a:xfrm>
          <a:prstGeom prst="rect">
            <a:avLst/>
          </a:prstGeom>
          <a:noFill/>
          <a:ln/>
        </p:spPr>
        <p:txBody>
          <a:bodyPr wrap="square" lIns="0" tIns="0" rIns="0" bIns="0" rtlCol="0" anchor="ctr"/>
          <a:lstStyle/>
          <a:p>
            <a:pPr indent="0" marL="0">
              <a:buNone/>
            </a:pPr>
            <a:r>
              <a:rPr lang="en-US" sz="1300" b="1" dirty="0">
                <a:solidFill>
                  <a:schemeClr val="tx1"/>
                </a:solidFill>
              </a:rPr>
              <a:t>Data Science</a:t>
            </a:r>
            <a:endParaRPr lang="en-US" sz="1300" dirty="0"/>
          </a:p>
        </p:txBody>
      </p:sp>
      <p:pic>
        <p:nvPicPr>
          <p:cNvPr id="18" name="Card" descr="preencoded.png">    </p:cNvPr>
          <p:cNvPicPr>
            <a:picLocks noChangeAspect="1"/>
          </p:cNvPicPr>
          <p:nvPr/>
        </p:nvPicPr>
        <p:blipFill>
          <a:blip r:embed="rId9"/>
          <a:stretch>
            <a:fillRect/>
          </a:stretch>
        </p:blipFill>
        <p:spPr>
          <a:xfrm>
            <a:off x="3145536" y="5632704"/>
            <a:ext cx="2944368" cy="841248"/>
          </a:xfrm>
          <a:prstGeom prst="rect">
            <a:avLst/>
          </a:prstGeom>
        </p:spPr>
      </p:pic>
      <p:pic>
        <p:nvPicPr>
          <p:cNvPr id="19" name="Badge" descr="preencoded.png">    </p:cNvPr>
          <p:cNvPicPr>
            <a:picLocks noChangeAspect="1"/>
          </p:cNvPicPr>
          <p:nvPr/>
        </p:nvPicPr>
        <p:blipFill>
          <a:blip r:embed="rId10"/>
          <a:stretch>
            <a:fillRect/>
          </a:stretch>
        </p:blipFill>
        <p:spPr>
          <a:xfrm>
            <a:off x="3383280" y="5861304"/>
            <a:ext cx="384048" cy="384048"/>
          </a:xfrm>
          <a:prstGeom prst="rect">
            <a:avLst/>
          </a:prstGeom>
        </p:spPr>
      </p:pic>
      <p:sp>
        <p:nvSpPr>
          <p:cNvPr id="20" name="Text 8"/>
          <p:cNvSpPr txBox="1"/>
          <p:nvPr/>
        </p:nvSpPr>
        <p:spPr>
          <a:xfrm>
            <a:off x="3858768" y="5779008"/>
            <a:ext cx="2011680" cy="548640"/>
          </a:xfrm>
          <a:prstGeom prst="rect">
            <a:avLst/>
          </a:prstGeom>
          <a:noFill/>
          <a:ln/>
        </p:spPr>
        <p:txBody>
          <a:bodyPr wrap="square" lIns="0" tIns="0" rIns="0" bIns="0" rtlCol="0" anchor="ctr"/>
          <a:lstStyle/>
          <a:p>
            <a:pPr indent="0" marL="0">
              <a:buNone/>
            </a:pPr>
            <a:r>
              <a:rPr lang="en-US" sz="1300" b="1" dirty="0">
                <a:solidFill>
                  <a:schemeClr val="tx1"/>
                </a:solidFill>
              </a:rPr>
              <a:t>Digitization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Data Engineering</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pic>
        <p:nvPicPr>
          <p:cNvPr id="4"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5"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6" name="Text 2"/>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tx1"/>
                </a:solidFill>
              </a:rPr>
              <a:t>Services</a:t>
            </a:r>
            <a:endParaRPr lang="en-US" sz="2000" dirty="0"/>
          </a:p>
        </p:txBody>
      </p:sp>
      <p:sp>
        <p:nvSpPr>
          <p:cNvPr id="7" name="Text 3"/>
          <p:cNvSpPr txBox="1"/>
          <p:nvPr/>
        </p:nvSpPr>
        <p:spPr>
          <a:xfrm>
            <a:off x="777240" y="2514600"/>
            <a:ext cx="2834640" cy="2697480"/>
          </a:xfrm>
          <a:prstGeom prst="rect">
            <a:avLst/>
          </a:prstGeom>
          <a:noFill/>
          <a:ln/>
        </p:spPr>
        <p:txBody>
          <a:bodyPr wrap="square" lIns="0" tIns="0" rIns="0" bIns="0" rtlCol="0" anchor="t"/>
          <a:lstStyle/>
          <a:p>
            <a:pPr marL="203200" indent="-203200">
              <a:spcAft>
                <a:spcPts val="900"/>
              </a:spcAft>
              <a:buClr>
                <a:srgbClr val="F7941E"/>
              </a:buClr>
              <a:buSzPct val="100000"/>
              <a:buChar char="✓"/>
            </a:pPr>
            <a:r>
              <a:rPr lang="en-US" sz="1600" dirty="0">
                <a:solidFill>
                  <a:schemeClr val="tx1"/>
                </a:solidFill>
              </a:rPr>
              <a:t>Data modernization</a:t>
            </a:r>
            <a:endParaRPr lang="en-US" sz="1600" dirty="0"/>
          </a:p>
          <a:p>
            <a:pPr marL="203200" indent="-203200">
              <a:spcAft>
                <a:spcPts val="900"/>
              </a:spcAft>
              <a:buClr>
                <a:srgbClr val="F7941E"/>
              </a:buClr>
              <a:buSzPct val="100000"/>
              <a:buChar char="✓"/>
            </a:pPr>
            <a:r>
              <a:rPr lang="en-US" sz="1600" dirty="0">
                <a:solidFill>
                  <a:schemeClr val="tx1"/>
                </a:solidFill>
              </a:rPr>
              <a:t>Data pipelines</a:t>
            </a:r>
            <a:endParaRPr lang="en-US" sz="1600" dirty="0"/>
          </a:p>
          <a:p>
            <a:pPr marL="203200" indent="-203200">
              <a:spcAft>
                <a:spcPts val="900"/>
              </a:spcAft>
              <a:buClr>
                <a:srgbClr val="F7941E"/>
              </a:buClr>
              <a:buSzPct val="100000"/>
              <a:buChar char="✓"/>
            </a:pPr>
            <a:r>
              <a:rPr lang="en-US" sz="1600" dirty="0">
                <a:solidFill>
                  <a:schemeClr val="tx1"/>
                </a:solidFill>
              </a:rPr>
              <a:t>Data ingestion</a:t>
            </a:r>
            <a:endParaRPr lang="en-US" sz="1600" dirty="0"/>
          </a:p>
          <a:p>
            <a:pPr marL="203200" indent="-203200">
              <a:spcAft>
                <a:spcPts val="900"/>
              </a:spcAft>
              <a:buClr>
                <a:srgbClr val="F7941E"/>
              </a:buClr>
              <a:buSzPct val="100000"/>
              <a:buChar char="✓"/>
            </a:pPr>
            <a:r>
              <a:rPr lang="en-US" sz="1600" dirty="0">
                <a:solidFill>
                  <a:schemeClr val="tx1"/>
                </a:solidFill>
              </a:rPr>
              <a:t>ETL/ELT processes</a:t>
            </a:r>
            <a:endParaRPr lang="en-US" sz="1600" dirty="0"/>
          </a:p>
        </p:txBody>
      </p:sp>
      <p:sp>
        <p:nvSpPr>
          <p:cNvPr id="8" name="Text 4"/>
          <p:cNvSpPr txBox="1"/>
          <p:nvPr/>
        </p:nvSpPr>
        <p:spPr>
          <a:xfrm>
            <a:off x="3886200" y="2514600"/>
            <a:ext cx="2834640" cy="2697480"/>
          </a:xfrm>
          <a:prstGeom prst="rect">
            <a:avLst/>
          </a:prstGeom>
          <a:noFill/>
          <a:ln/>
        </p:spPr>
        <p:txBody>
          <a:bodyPr wrap="square" lIns="0" tIns="0" rIns="0" bIns="0" rtlCol="0" anchor="t"/>
          <a:lstStyle/>
          <a:p>
            <a:pPr marL="203200" indent="-203200">
              <a:spcAft>
                <a:spcPts val="900"/>
              </a:spcAft>
              <a:buClr>
                <a:srgbClr val="F7941E"/>
              </a:buClr>
              <a:buSzPct val="100000"/>
              <a:buChar char="✓"/>
            </a:pPr>
            <a:r>
              <a:rPr lang="en-US" sz="1600" dirty="0">
                <a:solidFill>
                  <a:schemeClr val="tx1"/>
                </a:solidFill>
              </a:rPr>
              <a:t>Data CI/CD</a:t>
            </a:r>
            <a:endParaRPr lang="en-US" sz="1600" dirty="0"/>
          </a:p>
          <a:p>
            <a:pPr marL="203200" indent="-203200">
              <a:spcAft>
                <a:spcPts val="900"/>
              </a:spcAft>
              <a:buClr>
                <a:srgbClr val="F7941E"/>
              </a:buClr>
              <a:buSzPct val="100000"/>
              <a:buChar char="✓"/>
            </a:pPr>
            <a:r>
              <a:rPr lang="en-US" sz="1600" dirty="0">
                <a:solidFill>
                  <a:schemeClr val="tx1"/>
                </a:solidFill>
              </a:rPr>
              <a:t>Data governance</a:t>
            </a:r>
            <a:endParaRPr lang="en-US" sz="1600" dirty="0"/>
          </a:p>
          <a:p>
            <a:pPr marL="203200" indent="-203200">
              <a:spcAft>
                <a:spcPts val="900"/>
              </a:spcAft>
              <a:buClr>
                <a:srgbClr val="F7941E"/>
              </a:buClr>
              <a:buSzPct val="100000"/>
              <a:buChar char="✓"/>
            </a:pPr>
            <a:r>
              <a:rPr lang="en-US" sz="1600" dirty="0">
                <a:solidFill>
                  <a:schemeClr val="tx1"/>
                </a:solidFill>
              </a:rPr>
              <a:t>Data cataloguing</a:t>
            </a:r>
            <a:endParaRPr lang="en-US" sz="1600" dirty="0"/>
          </a:p>
          <a:p>
            <a:pPr marL="203200" indent="-203200">
              <a:spcAft>
                <a:spcPts val="900"/>
              </a:spcAft>
              <a:buClr>
                <a:srgbClr val="F7941E"/>
              </a:buClr>
              <a:buSzPct val="100000"/>
              <a:buChar char="✓"/>
            </a:pPr>
            <a:r>
              <a:rPr lang="en-US" sz="1600" dirty="0">
                <a:solidFill>
                  <a:schemeClr val="tx1"/>
                </a:solidFill>
              </a:rPr>
              <a:t>Data lake, warehouse and lakehouse architectures</a:t>
            </a:r>
            <a:endParaRPr lang="en-US" sz="1600" dirty="0"/>
          </a:p>
        </p:txBody>
      </p:sp>
      <p:pic>
        <p:nvPicPr>
          <p:cNvPr id="9" name="Card" descr="preencoded.png">    </p:cNvPr>
          <p:cNvPicPr>
            <a:picLocks noChangeAspect="1"/>
          </p:cNvPicPr>
          <p:nvPr/>
        </p:nvPicPr>
        <p:blipFill>
          <a:blip r:embed="rId3"/>
          <a:stretch>
            <a:fillRect/>
          </a:stretch>
        </p:blipFill>
        <p:spPr>
          <a:xfrm>
            <a:off x="7050024" y="1362456"/>
            <a:ext cx="4785055" cy="4178808"/>
          </a:xfrm>
          <a:prstGeom prst="rect">
            <a:avLst/>
          </a:prstGeom>
        </p:spPr>
      </p:pic>
      <p:pic>
        <p:nvPicPr>
          <p:cNvPr id="10" name="Badge" descr="preencoded.png">    </p:cNvPr>
          <p:cNvPicPr>
            <a:picLocks noChangeAspect="1"/>
          </p:cNvPicPr>
          <p:nvPr/>
        </p:nvPicPr>
        <p:blipFill>
          <a:blip r:embed="rId4"/>
          <a:stretch>
            <a:fillRect/>
          </a:stretch>
        </p:blipFill>
        <p:spPr>
          <a:xfrm>
            <a:off x="7470648" y="1764792"/>
            <a:ext cx="530352" cy="530352"/>
          </a:xfrm>
          <a:prstGeom prst="rect">
            <a:avLst/>
          </a:prstGeom>
        </p:spPr>
      </p:pic>
      <p:sp>
        <p:nvSpPr>
          <p:cNvPr id="11" name="Text 5"/>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2" name="Text 6"/>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Time &amp; Material Model</a:t>
            </a:r>
            <a:endParaRPr lang="en-US" sz="1400" dirty="0"/>
          </a:p>
          <a:p>
            <a:pPr indent="0" marL="0">
              <a:spcAft>
                <a:spcPts val="1200"/>
              </a:spcAft>
              <a:buNone/>
            </a:pPr>
            <a:r>
              <a:rPr lang="en-US" sz="1400" dirty="0">
                <a:solidFill>
                  <a:schemeClr val="bg1"/>
                </a:solidFill>
              </a:rPr>
              <a:t>Defined set of resources at agreed rates deployed for project execution.</a:t>
            </a:r>
            <a:endParaRPr lang="en-US" sz="1400" dirty="0"/>
          </a:p>
          <a:p>
            <a:pPr marL="177800" indent="-177800">
              <a:buClr>
                <a:srgbClr val="F7941E"/>
              </a:buClr>
              <a:buSzPct val="100000"/>
              <a:buChar char="▸"/>
            </a:pPr>
            <a:r>
              <a:rPr lang="en-US" sz="1400" b="1" dirty="0">
                <a:solidFill>
                  <a:schemeClr val="accent3"/>
                </a:solidFill>
              </a:rPr>
              <a:t>Monthly Engagement Model</a:t>
            </a:r>
            <a:endParaRPr lang="en-US" sz="1400" dirty="0"/>
          </a:p>
          <a:p>
            <a:pPr indent="0" marL="0">
              <a:spcAft>
                <a:spcPts val="1200"/>
              </a:spcAft>
              <a:buNone/>
            </a:pPr>
            <a:r>
              <a:rPr lang="en-US" sz="1400" dirty="0">
                <a:solidFill>
                  <a:schemeClr val="bg1"/>
                </a:solidFill>
              </a:rPr>
              <a:t>A fixed monthly sum arrived at based on a fixed combination of resources required to meet the project objectives.</a:t>
            </a:r>
            <a:endParaRPr lang="en-US" sz="1400" dirty="0"/>
          </a:p>
        </p:txBody>
      </p:sp>
      <p:sp>
        <p:nvSpPr>
          <p:cNvPr id="13" name="Text 7"/>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14" name="Card" descr="preencoded.png">    </p:cNvPr>
          <p:cNvPicPr>
            <a:picLocks noChangeAspect="1"/>
          </p:cNvPicPr>
          <p:nvPr/>
        </p:nvPicPr>
        <p:blipFill>
          <a:blip r:embed="rId5"/>
          <a:stretch>
            <a:fillRect/>
          </a:stretch>
        </p:blipFill>
        <p:spPr>
          <a:xfrm>
            <a:off x="1819656" y="5431536"/>
            <a:ext cx="2127443" cy="950976"/>
          </a:xfrm>
          <a:prstGeom prst="rect">
            <a:avLst/>
          </a:prstGeom>
        </p:spPr>
      </p:pic>
      <p:pic>
        <p:nvPicPr>
          <p:cNvPr id="15" name="Logo" descr="/tmp/claude-0/-home-user-ad-gallery/7fc27a5a-8417-58c4-b3ff-7a7825ba0161/scratchpad/assets/s19_04.png">    </p:cNvPr>
          <p:cNvPicPr>
            <a:picLocks noChangeAspect="1"/>
          </p:cNvPicPr>
          <p:nvPr/>
        </p:nvPicPr>
        <p:blipFill>
          <a:blip r:embed="rId6"/>
          <a:stretch>
            <a:fillRect/>
          </a:stretch>
        </p:blipFill>
        <p:spPr>
          <a:xfrm>
            <a:off x="2075688" y="5767130"/>
            <a:ext cx="1615379" cy="279788"/>
          </a:xfrm>
          <a:prstGeom prst="rect">
            <a:avLst/>
          </a:prstGeom>
        </p:spPr>
      </p:pic>
      <p:pic>
        <p:nvPicPr>
          <p:cNvPr id="16" name="Card" descr="preencoded.png">    </p:cNvPr>
          <p:cNvPicPr>
            <a:picLocks noChangeAspect="1"/>
          </p:cNvPicPr>
          <p:nvPr/>
        </p:nvPicPr>
        <p:blipFill>
          <a:blip r:embed="rId7"/>
          <a:stretch>
            <a:fillRect/>
          </a:stretch>
        </p:blipFill>
        <p:spPr>
          <a:xfrm>
            <a:off x="3791651" y="5431536"/>
            <a:ext cx="2127443" cy="950976"/>
          </a:xfrm>
          <a:prstGeom prst="rect">
            <a:avLst/>
          </a:prstGeom>
        </p:spPr>
      </p:pic>
      <p:pic>
        <p:nvPicPr>
          <p:cNvPr id="17" name="Logo" descr="/tmp/claude-0/-home-user-ad-gallery/7fc27a5a-8417-58c4-b3ff-7a7825ba0161/scratchpad/assets/s19_01.png">    </p:cNvPr>
          <p:cNvPicPr>
            <a:picLocks noChangeAspect="1"/>
          </p:cNvPicPr>
          <p:nvPr/>
        </p:nvPicPr>
        <p:blipFill>
          <a:blip r:embed="rId8"/>
          <a:stretch>
            <a:fillRect/>
          </a:stretch>
        </p:blipFill>
        <p:spPr>
          <a:xfrm>
            <a:off x="4438002" y="5687568"/>
            <a:ext cx="834741" cy="438912"/>
          </a:xfrm>
          <a:prstGeom prst="rect">
            <a:avLst/>
          </a:prstGeom>
        </p:spPr>
      </p:pic>
      <p:pic>
        <p:nvPicPr>
          <p:cNvPr id="18" name="Card" descr="preencoded.png">    </p:cNvPr>
          <p:cNvPicPr>
            <a:picLocks noChangeAspect="1"/>
          </p:cNvPicPr>
          <p:nvPr/>
        </p:nvPicPr>
        <p:blipFill>
          <a:blip r:embed="rId9"/>
          <a:stretch>
            <a:fillRect/>
          </a:stretch>
        </p:blipFill>
        <p:spPr>
          <a:xfrm>
            <a:off x="5763646" y="5431536"/>
            <a:ext cx="2127443" cy="950976"/>
          </a:xfrm>
          <a:prstGeom prst="rect">
            <a:avLst/>
          </a:prstGeom>
        </p:spPr>
      </p:pic>
      <p:pic>
        <p:nvPicPr>
          <p:cNvPr id="19" name="Logo" descr="/tmp/claude-0/-home-user-ad-gallery/7fc27a5a-8417-58c4-b3ff-7a7825ba0161/scratchpad/assets/s19_03.png">    </p:cNvPr>
          <p:cNvPicPr>
            <a:picLocks noChangeAspect="1"/>
          </p:cNvPicPr>
          <p:nvPr/>
        </p:nvPicPr>
        <p:blipFill>
          <a:blip r:embed="rId10"/>
          <a:stretch>
            <a:fillRect/>
          </a:stretch>
        </p:blipFill>
        <p:spPr>
          <a:xfrm>
            <a:off x="6285634" y="5687568"/>
            <a:ext cx="1083468" cy="438912"/>
          </a:xfrm>
          <a:prstGeom prst="rect">
            <a:avLst/>
          </a:prstGeom>
        </p:spPr>
      </p:pic>
      <p:pic>
        <p:nvPicPr>
          <p:cNvPr id="20" name="Card" descr="preencoded.png">    </p:cNvPr>
          <p:cNvPicPr>
            <a:picLocks noChangeAspect="1"/>
          </p:cNvPicPr>
          <p:nvPr/>
        </p:nvPicPr>
        <p:blipFill>
          <a:blip r:embed="rId11"/>
          <a:stretch>
            <a:fillRect/>
          </a:stretch>
        </p:blipFill>
        <p:spPr>
          <a:xfrm>
            <a:off x="7735641" y="5431536"/>
            <a:ext cx="2127443" cy="950976"/>
          </a:xfrm>
          <a:prstGeom prst="rect">
            <a:avLst/>
          </a:prstGeom>
        </p:spPr>
      </p:pic>
      <p:pic>
        <p:nvPicPr>
          <p:cNvPr id="21" name="Logo" descr="/tmp/claude-0/-home-user-ad-gallery/7fc27a5a-8417-58c4-b3ff-7a7825ba0161/scratchpad/assets/s19_02.png">    </p:cNvPr>
          <p:cNvPicPr>
            <a:picLocks noChangeAspect="1"/>
          </p:cNvPicPr>
          <p:nvPr/>
        </p:nvPicPr>
        <p:blipFill>
          <a:blip r:embed="rId12"/>
          <a:stretch>
            <a:fillRect/>
          </a:stretch>
        </p:blipFill>
        <p:spPr>
          <a:xfrm>
            <a:off x="7991673" y="5713460"/>
            <a:ext cx="1615379" cy="387128"/>
          </a:xfrm>
          <a:prstGeom prst="rect">
            <a:avLst/>
          </a:prstGeom>
        </p:spPr>
      </p:pic>
      <p:pic>
        <p:nvPicPr>
          <p:cNvPr id="22" name="Card" descr="preencoded.png">    </p:cNvPr>
          <p:cNvPicPr>
            <a:picLocks noChangeAspect="1"/>
          </p:cNvPicPr>
          <p:nvPr/>
        </p:nvPicPr>
        <p:blipFill>
          <a:blip r:embed="rId13"/>
          <a:stretch>
            <a:fillRect/>
          </a:stretch>
        </p:blipFill>
        <p:spPr>
          <a:xfrm>
            <a:off x="9707636" y="5431536"/>
            <a:ext cx="2127443" cy="950976"/>
          </a:xfrm>
          <a:prstGeom prst="rect">
            <a:avLst/>
          </a:prstGeom>
        </p:spPr>
      </p:pic>
      <p:pic>
        <p:nvPicPr>
          <p:cNvPr id="23" name="Logo" descr="/tmp/claude-0/-home-user-ad-gallery/7fc27a5a-8417-58c4-b3ff-7a7825ba0161/scratchpad/assets/s19_00.png">    </p:cNvPr>
          <p:cNvPicPr>
            <a:picLocks noChangeAspect="1"/>
          </p:cNvPicPr>
          <p:nvPr/>
        </p:nvPicPr>
        <p:blipFill>
          <a:blip r:embed="rId14"/>
          <a:stretch>
            <a:fillRect/>
          </a:stretch>
        </p:blipFill>
        <p:spPr>
          <a:xfrm>
            <a:off x="10198864" y="5687568"/>
            <a:ext cx="1144988"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Data Engineering</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pic>
        <p:nvPicPr>
          <p:cNvPr id="4" name="Card" descr="preencoded.png">    </p:cNvPr>
          <p:cNvPicPr>
            <a:picLocks noChangeAspect="1"/>
          </p:cNvPicPr>
          <p:nvPr/>
        </p:nvPicPr>
        <p:blipFill>
          <a:blip r:embed="rId1"/>
          <a:stretch>
            <a:fillRect/>
          </a:stretch>
        </p:blipFill>
        <p:spPr>
          <a:xfrm>
            <a:off x="356616" y="1362456"/>
            <a:ext cx="8598103" cy="5001768"/>
          </a:xfrm>
          <a:prstGeom prst="rect">
            <a:avLst/>
          </a:prstGeom>
        </p:spPr>
      </p:pic>
      <p:sp>
        <p:nvSpPr>
          <p:cNvPr id="5" name="Pill"/>
          <p:cNvSpPr/>
          <p:nvPr/>
        </p:nvSpPr>
        <p:spPr>
          <a:xfrm>
            <a:off x="731520" y="1764792"/>
            <a:ext cx="1783080" cy="310896"/>
          </a:xfrm>
          <a:prstGeom prst="roundRect">
            <a:avLst>
              <a:gd name="adj" fmla="val 50000"/>
            </a:avLst>
          </a:prstGeom>
          <a:solidFill>
            <a:schemeClr val="accent1"/>
          </a:solidFill>
          <a:ln/>
        </p:spPr>
      </p:sp>
      <p:sp>
        <p:nvSpPr>
          <p:cNvPr id="6" name="Text 3"/>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SOLUTION PHASE</a:t>
            </a:r>
            <a:endParaRPr lang="en-US" sz="900" dirty="0"/>
          </a:p>
        </p:txBody>
      </p:sp>
      <p:pic>
        <p:nvPicPr>
          <p:cNvPr id="7" name="Icon" descr="preencoded.png">    </p:cNvPr>
          <p:cNvPicPr>
            <a:picLocks noChangeAspect="1"/>
          </p:cNvPicPr>
          <p:nvPr/>
        </p:nvPicPr>
        <p:blipFill>
          <a:blip r:embed="rId2"/>
          <a:stretch>
            <a:fillRect/>
          </a:stretch>
        </p:blipFill>
        <p:spPr>
          <a:xfrm>
            <a:off x="2697480" y="1801368"/>
            <a:ext cx="237744" cy="237744"/>
          </a:xfrm>
          <a:prstGeom prst="rect">
            <a:avLst/>
          </a:prstGeom>
        </p:spPr>
      </p:pic>
      <p:sp>
        <p:nvSpPr>
          <p:cNvPr id="8" name="Text 4"/>
          <p:cNvSpPr txBox="1"/>
          <p:nvPr/>
        </p:nvSpPr>
        <p:spPr>
          <a:xfrm>
            <a:off x="3017520" y="1709928"/>
            <a:ext cx="5608015" cy="420624"/>
          </a:xfrm>
          <a:prstGeom prst="rect">
            <a:avLst/>
          </a:prstGeom>
          <a:noFill/>
          <a:ln/>
        </p:spPr>
        <p:txBody>
          <a:bodyPr wrap="square" lIns="0" tIns="0" rIns="0" bIns="0" rtlCol="0" anchor="ctr"/>
          <a:lstStyle/>
          <a:p>
            <a:pPr indent="0" marL="0">
              <a:buNone/>
            </a:pPr>
            <a:r>
              <a:rPr lang="en-US" sz="1200" b="1" dirty="0">
                <a:solidFill>
                  <a:schemeClr val="accent5"/>
                </a:solidFill>
              </a:rPr>
              <a:t>20–30 working days for simple to medium complexity</a:t>
            </a:r>
            <a:endParaRPr lang="en-US" sz="1200" dirty="0"/>
          </a:p>
        </p:txBody>
      </p:sp>
      <p:sp>
        <p:nvSpPr>
          <p:cNvPr id="9" name="Timeline"/>
          <p:cNvSpPr/>
          <p:nvPr/>
        </p:nvSpPr>
        <p:spPr>
          <a:xfrm>
            <a:off x="1188720" y="3931920"/>
            <a:ext cx="6933895" cy="0"/>
          </a:xfrm>
          <a:prstGeom prst="line">
            <a:avLst/>
          </a:prstGeom>
          <a:noFill/>
          <a:ln w="31750">
            <a:solidFill>
              <a:schemeClr val="accent1"/>
            </a:solidFill>
            <a:prstDash val="solid"/>
          </a:ln>
        </p:spPr>
      </p:sp>
      <p:pic>
        <p:nvPicPr>
          <p:cNvPr id="10" name="NumBadge" descr="preencoded.png">    </p:cNvPr>
          <p:cNvPicPr>
            <a:picLocks noChangeAspect="1"/>
          </p:cNvPicPr>
          <p:nvPr/>
        </p:nvPicPr>
        <p:blipFill>
          <a:blip r:embed="rId3"/>
          <a:stretch>
            <a:fillRect/>
          </a:stretch>
        </p:blipFill>
        <p:spPr>
          <a:xfrm>
            <a:off x="923544" y="3666744"/>
            <a:ext cx="530352" cy="530352"/>
          </a:xfrm>
          <a:prstGeom prst="rect">
            <a:avLst/>
          </a:prstGeom>
        </p:spPr>
      </p:pic>
      <p:sp>
        <p:nvSpPr>
          <p:cNvPr id="11" name="Text 6"/>
          <p:cNvSpPr txBox="1"/>
          <p:nvPr/>
        </p:nvSpPr>
        <p:spPr>
          <a:xfrm>
            <a:off x="923544"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12" name="Rule"/>
          <p:cNvSpPr/>
          <p:nvPr/>
        </p:nvSpPr>
        <p:spPr>
          <a:xfrm>
            <a:off x="1188720" y="3218688"/>
            <a:ext cx="0" cy="448056"/>
          </a:xfrm>
          <a:prstGeom prst="line">
            <a:avLst/>
          </a:prstGeom>
          <a:noFill/>
          <a:ln w="12700">
            <a:solidFill>
              <a:schemeClr val="accent6"/>
            </a:solidFill>
            <a:prstDash val="solid"/>
          </a:ln>
        </p:spPr>
      </p:sp>
      <p:sp>
        <p:nvSpPr>
          <p:cNvPr id="13" name="Text 8"/>
          <p:cNvSpPr txBox="1"/>
          <p:nvPr/>
        </p:nvSpPr>
        <p:spPr>
          <a:xfrm>
            <a:off x="320040" y="2450592"/>
            <a:ext cx="1737360" cy="749808"/>
          </a:xfrm>
          <a:prstGeom prst="rect">
            <a:avLst/>
          </a:prstGeom>
          <a:noFill/>
          <a:ln/>
        </p:spPr>
        <p:txBody>
          <a:bodyPr wrap="square" lIns="0" tIns="0" rIns="0" bIns="0" rtlCol="0" anchor="b"/>
          <a:lstStyle/>
          <a:p>
            <a:pPr algn="ctr" indent="0" marL="0">
              <a:buNone/>
            </a:pPr>
            <a:r>
              <a:rPr lang="en-US" sz="1300" b="1" dirty="0">
                <a:solidFill>
                  <a:schemeClr val="tx1"/>
                </a:solidFill>
              </a:rPr>
              <a:t>Business &amp; Data Workshop</a:t>
            </a:r>
            <a:endParaRPr lang="en-US" sz="1300" dirty="0"/>
          </a:p>
        </p:txBody>
      </p:sp>
      <p:pic>
        <p:nvPicPr>
          <p:cNvPr id="14" name="NumBadge" descr="preencoded.png">    </p:cNvPr>
          <p:cNvPicPr>
            <a:picLocks noChangeAspect="1"/>
          </p:cNvPicPr>
          <p:nvPr/>
        </p:nvPicPr>
        <p:blipFill>
          <a:blip r:embed="rId4"/>
          <a:stretch>
            <a:fillRect/>
          </a:stretch>
        </p:blipFill>
        <p:spPr>
          <a:xfrm>
            <a:off x="2079193" y="3666744"/>
            <a:ext cx="530352" cy="530352"/>
          </a:xfrm>
          <a:prstGeom prst="rect">
            <a:avLst/>
          </a:prstGeom>
        </p:spPr>
      </p:pic>
      <p:sp>
        <p:nvSpPr>
          <p:cNvPr id="15" name="Text 9"/>
          <p:cNvSpPr txBox="1"/>
          <p:nvPr/>
        </p:nvSpPr>
        <p:spPr>
          <a:xfrm>
            <a:off x="2079193"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16" name="Rule"/>
          <p:cNvSpPr/>
          <p:nvPr/>
        </p:nvSpPr>
        <p:spPr>
          <a:xfrm>
            <a:off x="2344369" y="4197096"/>
            <a:ext cx="0" cy="448056"/>
          </a:xfrm>
          <a:prstGeom prst="line">
            <a:avLst/>
          </a:prstGeom>
          <a:noFill/>
          <a:ln w="12700">
            <a:solidFill>
              <a:schemeClr val="accent6"/>
            </a:solidFill>
            <a:prstDash val="solid"/>
          </a:ln>
        </p:spPr>
      </p:sp>
      <p:sp>
        <p:nvSpPr>
          <p:cNvPr id="17" name="Text 11"/>
          <p:cNvSpPr txBox="1"/>
          <p:nvPr/>
        </p:nvSpPr>
        <p:spPr>
          <a:xfrm>
            <a:off x="1475689" y="4681728"/>
            <a:ext cx="1737360" cy="749808"/>
          </a:xfrm>
          <a:prstGeom prst="rect">
            <a:avLst/>
          </a:prstGeom>
          <a:noFill/>
          <a:ln/>
        </p:spPr>
        <p:txBody>
          <a:bodyPr wrap="square" lIns="0" tIns="0" rIns="0" bIns="0" rtlCol="0" anchor="t"/>
          <a:lstStyle/>
          <a:p>
            <a:pPr algn="ctr" indent="0" marL="0">
              <a:buNone/>
            </a:pPr>
            <a:r>
              <a:rPr lang="en-US" sz="1300" b="1" dirty="0">
                <a:solidFill>
                  <a:schemeClr val="tx1"/>
                </a:solidFill>
              </a:rPr>
              <a:t>Business Requirement Document</a:t>
            </a:r>
            <a:pPr algn="ctr" indent="0" marL="0">
              <a:buNone/>
            </a:pPr>
            <a:endParaRPr lang="en-US" sz="1300" dirty="0"/>
          </a:p>
          <a:p>
            <a:pPr algn="ctr" indent="0" marL="0">
              <a:buNone/>
            </a:pPr>
            <a:r>
              <a:rPr lang="en-US" sz="1100" b="1" dirty="0">
                <a:solidFill>
                  <a:schemeClr val="accent1"/>
                </a:solidFill>
              </a:rPr>
              <a:t>+ Cloud Cost Estimation</a:t>
            </a:r>
            <a:endParaRPr lang="en-US" sz="1300" dirty="0"/>
          </a:p>
        </p:txBody>
      </p:sp>
      <p:pic>
        <p:nvPicPr>
          <p:cNvPr id="18" name="NumBadge" descr="preencoded.png">    </p:cNvPr>
          <p:cNvPicPr>
            <a:picLocks noChangeAspect="1"/>
          </p:cNvPicPr>
          <p:nvPr/>
        </p:nvPicPr>
        <p:blipFill>
          <a:blip r:embed="rId5"/>
          <a:stretch>
            <a:fillRect/>
          </a:stretch>
        </p:blipFill>
        <p:spPr>
          <a:xfrm>
            <a:off x="3234842" y="3666744"/>
            <a:ext cx="530352" cy="530352"/>
          </a:xfrm>
          <a:prstGeom prst="rect">
            <a:avLst/>
          </a:prstGeom>
        </p:spPr>
      </p:pic>
      <p:sp>
        <p:nvSpPr>
          <p:cNvPr id="19" name="Text 12"/>
          <p:cNvSpPr txBox="1"/>
          <p:nvPr/>
        </p:nvSpPr>
        <p:spPr>
          <a:xfrm>
            <a:off x="323484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0" name="Rule"/>
          <p:cNvSpPr/>
          <p:nvPr/>
        </p:nvSpPr>
        <p:spPr>
          <a:xfrm>
            <a:off x="3500018" y="3218688"/>
            <a:ext cx="0" cy="448056"/>
          </a:xfrm>
          <a:prstGeom prst="line">
            <a:avLst/>
          </a:prstGeom>
          <a:noFill/>
          <a:ln w="12700">
            <a:solidFill>
              <a:schemeClr val="accent6"/>
            </a:solidFill>
            <a:prstDash val="solid"/>
          </a:ln>
        </p:spPr>
      </p:sp>
      <p:sp>
        <p:nvSpPr>
          <p:cNvPr id="21" name="Text 14"/>
          <p:cNvSpPr txBox="1"/>
          <p:nvPr/>
        </p:nvSpPr>
        <p:spPr>
          <a:xfrm>
            <a:off x="2631338" y="2450592"/>
            <a:ext cx="1737360" cy="749808"/>
          </a:xfrm>
          <a:prstGeom prst="rect">
            <a:avLst/>
          </a:prstGeom>
          <a:noFill/>
          <a:ln/>
        </p:spPr>
        <p:txBody>
          <a:bodyPr wrap="square" lIns="0" tIns="0" rIns="0" bIns="0" rtlCol="0" anchor="b"/>
          <a:lstStyle/>
          <a:p>
            <a:pPr algn="ctr" indent="0" marL="0">
              <a:buNone/>
            </a:pPr>
            <a:r>
              <a:rPr lang="en-US" sz="1300" b="1" dirty="0">
                <a:solidFill>
                  <a:schemeClr val="tx1"/>
                </a:solidFill>
              </a:rPr>
              <a:t>Data Flow Diagrams</a:t>
            </a:r>
            <a:endParaRPr lang="en-US" sz="1300" dirty="0"/>
          </a:p>
        </p:txBody>
      </p:sp>
      <p:pic>
        <p:nvPicPr>
          <p:cNvPr id="22" name="NumBadge" descr="preencoded.png">    </p:cNvPr>
          <p:cNvPicPr>
            <a:picLocks noChangeAspect="1"/>
          </p:cNvPicPr>
          <p:nvPr/>
        </p:nvPicPr>
        <p:blipFill>
          <a:blip r:embed="rId6"/>
          <a:stretch>
            <a:fillRect/>
          </a:stretch>
        </p:blipFill>
        <p:spPr>
          <a:xfrm>
            <a:off x="4390492" y="3666744"/>
            <a:ext cx="530352" cy="530352"/>
          </a:xfrm>
          <a:prstGeom prst="rect">
            <a:avLst/>
          </a:prstGeom>
        </p:spPr>
      </p:pic>
      <p:sp>
        <p:nvSpPr>
          <p:cNvPr id="23" name="Text 15"/>
          <p:cNvSpPr txBox="1"/>
          <p:nvPr/>
        </p:nvSpPr>
        <p:spPr>
          <a:xfrm>
            <a:off x="439049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24" name="Rule"/>
          <p:cNvSpPr/>
          <p:nvPr/>
        </p:nvSpPr>
        <p:spPr>
          <a:xfrm>
            <a:off x="4655668" y="4197096"/>
            <a:ext cx="0" cy="448056"/>
          </a:xfrm>
          <a:prstGeom prst="line">
            <a:avLst/>
          </a:prstGeom>
          <a:noFill/>
          <a:ln w="12700">
            <a:solidFill>
              <a:schemeClr val="accent6"/>
            </a:solidFill>
            <a:prstDash val="solid"/>
          </a:ln>
        </p:spPr>
      </p:sp>
      <p:sp>
        <p:nvSpPr>
          <p:cNvPr id="25" name="Text 17"/>
          <p:cNvSpPr txBox="1"/>
          <p:nvPr/>
        </p:nvSpPr>
        <p:spPr>
          <a:xfrm>
            <a:off x="3786988" y="4681728"/>
            <a:ext cx="1737360" cy="749808"/>
          </a:xfrm>
          <a:prstGeom prst="rect">
            <a:avLst/>
          </a:prstGeom>
          <a:noFill/>
          <a:ln/>
        </p:spPr>
        <p:txBody>
          <a:bodyPr wrap="square" lIns="0" tIns="0" rIns="0" bIns="0" rtlCol="0" anchor="t"/>
          <a:lstStyle/>
          <a:p>
            <a:pPr algn="ctr" indent="0" marL="0">
              <a:buNone/>
            </a:pPr>
            <a:r>
              <a:rPr lang="en-US" sz="1300" b="1" dirty="0">
                <a:solidFill>
                  <a:schemeClr val="tx1"/>
                </a:solidFill>
              </a:rPr>
              <a:t>Data Warehouse Design</a:t>
            </a:r>
            <a:endParaRPr lang="en-US" sz="1300" dirty="0"/>
          </a:p>
        </p:txBody>
      </p:sp>
      <p:pic>
        <p:nvPicPr>
          <p:cNvPr id="26" name="NumBadge" descr="preencoded.png">    </p:cNvPr>
          <p:cNvPicPr>
            <a:picLocks noChangeAspect="1"/>
          </p:cNvPicPr>
          <p:nvPr/>
        </p:nvPicPr>
        <p:blipFill>
          <a:blip r:embed="rId7"/>
          <a:stretch>
            <a:fillRect/>
          </a:stretch>
        </p:blipFill>
        <p:spPr>
          <a:xfrm>
            <a:off x="5546141" y="3666744"/>
            <a:ext cx="530352" cy="530352"/>
          </a:xfrm>
          <a:prstGeom prst="rect">
            <a:avLst/>
          </a:prstGeom>
        </p:spPr>
      </p:pic>
      <p:sp>
        <p:nvSpPr>
          <p:cNvPr id="27" name="Text 18"/>
          <p:cNvSpPr txBox="1"/>
          <p:nvPr/>
        </p:nvSpPr>
        <p:spPr>
          <a:xfrm>
            <a:off x="5546141"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28" name="Rule"/>
          <p:cNvSpPr/>
          <p:nvPr/>
        </p:nvSpPr>
        <p:spPr>
          <a:xfrm>
            <a:off x="5811317" y="3218688"/>
            <a:ext cx="0" cy="448056"/>
          </a:xfrm>
          <a:prstGeom prst="line">
            <a:avLst/>
          </a:prstGeom>
          <a:noFill/>
          <a:ln w="12700">
            <a:solidFill>
              <a:schemeClr val="accent6"/>
            </a:solidFill>
            <a:prstDash val="solid"/>
          </a:ln>
        </p:spPr>
      </p:sp>
      <p:sp>
        <p:nvSpPr>
          <p:cNvPr id="29" name="Text 20"/>
          <p:cNvSpPr txBox="1"/>
          <p:nvPr/>
        </p:nvSpPr>
        <p:spPr>
          <a:xfrm>
            <a:off x="4942637" y="2450592"/>
            <a:ext cx="1737360" cy="749808"/>
          </a:xfrm>
          <a:prstGeom prst="rect">
            <a:avLst/>
          </a:prstGeom>
          <a:noFill/>
          <a:ln/>
        </p:spPr>
        <p:txBody>
          <a:bodyPr wrap="square" lIns="0" tIns="0" rIns="0" bIns="0" rtlCol="0" anchor="b"/>
          <a:lstStyle/>
          <a:p>
            <a:pPr algn="ctr" indent="0" marL="0">
              <a:buNone/>
            </a:pPr>
            <a:r>
              <a:rPr lang="en-US" sz="1300" b="1" dirty="0">
                <a:solidFill>
                  <a:schemeClr val="tx1"/>
                </a:solidFill>
              </a:rPr>
              <a:t>Build &amp; QC</a:t>
            </a:r>
            <a:endParaRPr lang="en-US" sz="1300" dirty="0"/>
          </a:p>
        </p:txBody>
      </p:sp>
      <p:pic>
        <p:nvPicPr>
          <p:cNvPr id="30" name="NumBadge" descr="preencoded.png">    </p:cNvPr>
          <p:cNvPicPr>
            <a:picLocks noChangeAspect="1"/>
          </p:cNvPicPr>
          <p:nvPr/>
        </p:nvPicPr>
        <p:blipFill>
          <a:blip r:embed="rId8"/>
          <a:stretch>
            <a:fillRect/>
          </a:stretch>
        </p:blipFill>
        <p:spPr>
          <a:xfrm>
            <a:off x="6701790" y="3666744"/>
            <a:ext cx="530352" cy="530352"/>
          </a:xfrm>
          <a:prstGeom prst="rect">
            <a:avLst/>
          </a:prstGeom>
        </p:spPr>
      </p:pic>
      <p:sp>
        <p:nvSpPr>
          <p:cNvPr id="31" name="Text 21"/>
          <p:cNvSpPr txBox="1"/>
          <p:nvPr/>
        </p:nvSpPr>
        <p:spPr>
          <a:xfrm>
            <a:off x="6701790"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32" name="Rule"/>
          <p:cNvSpPr/>
          <p:nvPr/>
        </p:nvSpPr>
        <p:spPr>
          <a:xfrm>
            <a:off x="6966966" y="4197096"/>
            <a:ext cx="0" cy="448056"/>
          </a:xfrm>
          <a:prstGeom prst="line">
            <a:avLst/>
          </a:prstGeom>
          <a:noFill/>
          <a:ln w="12700">
            <a:solidFill>
              <a:schemeClr val="accent6"/>
            </a:solidFill>
            <a:prstDash val="solid"/>
          </a:ln>
        </p:spPr>
      </p:sp>
      <p:sp>
        <p:nvSpPr>
          <p:cNvPr id="33" name="Text 23"/>
          <p:cNvSpPr txBox="1"/>
          <p:nvPr/>
        </p:nvSpPr>
        <p:spPr>
          <a:xfrm>
            <a:off x="6098286" y="4681728"/>
            <a:ext cx="1737360" cy="749808"/>
          </a:xfrm>
          <a:prstGeom prst="rect">
            <a:avLst/>
          </a:prstGeom>
          <a:noFill/>
          <a:ln/>
        </p:spPr>
        <p:txBody>
          <a:bodyPr wrap="square" lIns="0" tIns="0" rIns="0" bIns="0" rtlCol="0" anchor="t"/>
          <a:lstStyle/>
          <a:p>
            <a:pPr algn="ctr" indent="0" marL="0">
              <a:buNone/>
            </a:pPr>
            <a:r>
              <a:rPr lang="en-US" sz="1300" b="1" dirty="0">
                <a:solidFill>
                  <a:schemeClr val="tx1"/>
                </a:solidFill>
              </a:rPr>
              <a:t>Performance Tuning</a:t>
            </a:r>
            <a:endParaRPr lang="en-US" sz="1300" dirty="0"/>
          </a:p>
        </p:txBody>
      </p:sp>
      <p:pic>
        <p:nvPicPr>
          <p:cNvPr id="34" name="NumBadge" descr="preencoded.png">    </p:cNvPr>
          <p:cNvPicPr>
            <a:picLocks noChangeAspect="1"/>
          </p:cNvPicPr>
          <p:nvPr/>
        </p:nvPicPr>
        <p:blipFill>
          <a:blip r:embed="rId9"/>
          <a:stretch>
            <a:fillRect/>
          </a:stretch>
        </p:blipFill>
        <p:spPr>
          <a:xfrm>
            <a:off x="7857439" y="3666744"/>
            <a:ext cx="530352" cy="530352"/>
          </a:xfrm>
          <a:prstGeom prst="rect">
            <a:avLst/>
          </a:prstGeom>
        </p:spPr>
      </p:pic>
      <p:sp>
        <p:nvSpPr>
          <p:cNvPr id="35" name="Text 24"/>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7</a:t>
            </a:r>
            <a:endParaRPr lang="en-US" sz="1400" dirty="0"/>
          </a:p>
        </p:txBody>
      </p:sp>
      <p:sp>
        <p:nvSpPr>
          <p:cNvPr id="36" name="Rule"/>
          <p:cNvSpPr/>
          <p:nvPr/>
        </p:nvSpPr>
        <p:spPr>
          <a:xfrm>
            <a:off x="8122615" y="3218688"/>
            <a:ext cx="0" cy="448056"/>
          </a:xfrm>
          <a:prstGeom prst="line">
            <a:avLst/>
          </a:prstGeom>
          <a:noFill/>
          <a:ln w="12700">
            <a:solidFill>
              <a:schemeClr val="accent6"/>
            </a:solidFill>
            <a:prstDash val="solid"/>
          </a:ln>
        </p:spPr>
      </p:sp>
      <p:sp>
        <p:nvSpPr>
          <p:cNvPr id="37" name="Text 26"/>
          <p:cNvSpPr txBox="1"/>
          <p:nvPr/>
        </p:nvSpPr>
        <p:spPr>
          <a:xfrm>
            <a:off x="7253935" y="2450592"/>
            <a:ext cx="1737360" cy="749808"/>
          </a:xfrm>
          <a:prstGeom prst="rect">
            <a:avLst/>
          </a:prstGeom>
          <a:noFill/>
          <a:ln/>
        </p:spPr>
        <p:txBody>
          <a:bodyPr wrap="square" lIns="0" tIns="0" rIns="0" bIns="0" rtlCol="0" anchor="b"/>
          <a:lstStyle/>
          <a:p>
            <a:pPr algn="ctr" indent="0" marL="0">
              <a:buNone/>
            </a:pPr>
            <a:r>
              <a:rPr lang="en-US" sz="1300" b="1" dirty="0">
                <a:solidFill>
                  <a:schemeClr val="tx1"/>
                </a:solidFill>
              </a:rPr>
              <a:t>Go-Live</a:t>
            </a:r>
            <a:endParaRPr lang="en-US" sz="1300" dirty="0"/>
          </a:p>
        </p:txBody>
      </p:sp>
      <p:pic>
        <p:nvPicPr>
          <p:cNvPr id="38" name="Card" descr="preencoded.png">    </p:cNvPr>
          <p:cNvPicPr>
            <a:picLocks noChangeAspect="1"/>
          </p:cNvPicPr>
          <p:nvPr/>
        </p:nvPicPr>
        <p:blipFill>
          <a:blip r:embed="rId10"/>
          <a:stretch>
            <a:fillRect/>
          </a:stretch>
        </p:blipFill>
        <p:spPr>
          <a:xfrm>
            <a:off x="8844991" y="1362456"/>
            <a:ext cx="2990088" cy="5001768"/>
          </a:xfrm>
          <a:prstGeom prst="rect">
            <a:avLst/>
          </a:prstGeom>
        </p:spPr>
      </p:pic>
      <p:sp>
        <p:nvSpPr>
          <p:cNvPr id="39" name="Pill"/>
          <p:cNvSpPr/>
          <p:nvPr/>
        </p:nvSpPr>
        <p:spPr>
          <a:xfrm>
            <a:off x="9219895" y="1764792"/>
            <a:ext cx="1554480" cy="310896"/>
          </a:xfrm>
          <a:prstGeom prst="roundRect">
            <a:avLst>
              <a:gd name="adj" fmla="val 50000"/>
            </a:avLst>
          </a:prstGeom>
          <a:solidFill>
            <a:schemeClr val="accent1"/>
          </a:solidFill>
          <a:ln/>
        </p:spPr>
      </p:sp>
      <p:sp>
        <p:nvSpPr>
          <p:cNvPr id="40" name="Text 28"/>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VALUE PHASE</a:t>
            </a:r>
            <a:endParaRPr lang="en-US" sz="900" dirty="0"/>
          </a:p>
        </p:txBody>
      </p:sp>
      <p:sp>
        <p:nvSpPr>
          <p:cNvPr id="41" name="Text 29"/>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900" b="1" dirty="0">
                <a:solidFill>
                  <a:schemeClr val="bg1"/>
                </a:solidFill>
              </a:rPr>
              <a:t>Support Bundle</a:t>
            </a:r>
            <a:endParaRPr lang="en-US" sz="1900" dirty="0"/>
          </a:p>
        </p:txBody>
      </p:sp>
      <p:sp>
        <p:nvSpPr>
          <p:cNvPr id="42" name="ValueItem"/>
          <p:cNvSpPr/>
          <p:nvPr/>
        </p:nvSpPr>
        <p:spPr>
          <a:xfrm>
            <a:off x="9219895" y="2880360"/>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43" name="Icon" descr="preencoded.png">    </p:cNvPr>
          <p:cNvPicPr>
            <a:picLocks noChangeAspect="1"/>
          </p:cNvPicPr>
          <p:nvPr/>
        </p:nvPicPr>
        <p:blipFill>
          <a:blip r:embed="rId11"/>
          <a:stretch>
            <a:fillRect/>
          </a:stretch>
        </p:blipFill>
        <p:spPr>
          <a:xfrm>
            <a:off x="9357055" y="3044952"/>
            <a:ext cx="237744" cy="237744"/>
          </a:xfrm>
          <a:prstGeom prst="rect">
            <a:avLst/>
          </a:prstGeom>
        </p:spPr>
      </p:pic>
      <p:sp>
        <p:nvSpPr>
          <p:cNvPr id="44" name="Text 31"/>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Pipeline Monitoring</a:t>
            </a:r>
            <a:endParaRPr lang="en-US" sz="1400" dirty="0"/>
          </a:p>
        </p:txBody>
      </p:sp>
      <p:sp>
        <p:nvSpPr>
          <p:cNvPr id="45" name="ValueItem"/>
          <p:cNvSpPr/>
          <p:nvPr/>
        </p:nvSpPr>
        <p:spPr>
          <a:xfrm>
            <a:off x="9219895" y="3575304"/>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46" name="Icon" descr="preencoded.png">    </p:cNvPr>
          <p:cNvPicPr>
            <a:picLocks noChangeAspect="1"/>
          </p:cNvPicPr>
          <p:nvPr/>
        </p:nvPicPr>
        <p:blipFill>
          <a:blip r:embed="rId12"/>
          <a:stretch>
            <a:fillRect/>
          </a:stretch>
        </p:blipFill>
        <p:spPr>
          <a:xfrm>
            <a:off x="9357055" y="3739896"/>
            <a:ext cx="237744" cy="237744"/>
          </a:xfrm>
          <a:prstGeom prst="rect">
            <a:avLst/>
          </a:prstGeom>
        </p:spPr>
      </p:pic>
      <p:sp>
        <p:nvSpPr>
          <p:cNvPr id="47" name="Text 33"/>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Cost Optimisation</a:t>
            </a:r>
            <a:endParaRPr lang="en-US" sz="1400" dirty="0"/>
          </a:p>
        </p:txBody>
      </p:sp>
      <p:sp>
        <p:nvSpPr>
          <p:cNvPr id="48" name="ValueItem"/>
          <p:cNvSpPr/>
          <p:nvPr/>
        </p:nvSpPr>
        <p:spPr>
          <a:xfrm>
            <a:off x="9219895" y="4270248"/>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49" name="Icon" descr="preencoded.png">    </p:cNvPr>
          <p:cNvPicPr>
            <a:picLocks noChangeAspect="1"/>
          </p:cNvPicPr>
          <p:nvPr/>
        </p:nvPicPr>
        <p:blipFill>
          <a:blip r:embed="rId13"/>
          <a:stretch>
            <a:fillRect/>
          </a:stretch>
        </p:blipFill>
        <p:spPr>
          <a:xfrm>
            <a:off x="9357055" y="4434840"/>
            <a:ext cx="237744" cy="237744"/>
          </a:xfrm>
          <a:prstGeom prst="rect">
            <a:avLst/>
          </a:prstGeom>
        </p:spPr>
      </p:pic>
      <p:sp>
        <p:nvSpPr>
          <p:cNvPr id="50" name="Text 35"/>
          <p:cNvSpPr txBox="1"/>
          <p:nvPr/>
        </p:nvSpPr>
        <p:spPr>
          <a:xfrm>
            <a:off x="9704527" y="4270248"/>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Performance Fine-tuning</a:t>
            </a:r>
            <a:endParaRPr lang="en-US" sz="1400" dirty="0"/>
          </a:p>
        </p:txBody>
      </p:sp>
      <p:sp>
        <p:nvSpPr>
          <p:cNvPr id="51" name="ValueItem"/>
          <p:cNvSpPr/>
          <p:nvPr/>
        </p:nvSpPr>
        <p:spPr>
          <a:xfrm>
            <a:off x="9219895" y="4965192"/>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2" name="Icon" descr="preencoded.png">    </p:cNvPr>
          <p:cNvPicPr>
            <a:picLocks noChangeAspect="1"/>
          </p:cNvPicPr>
          <p:nvPr/>
        </p:nvPicPr>
        <p:blipFill>
          <a:blip r:embed="rId14"/>
          <a:stretch>
            <a:fillRect/>
          </a:stretch>
        </p:blipFill>
        <p:spPr>
          <a:xfrm>
            <a:off x="9357055" y="5129784"/>
            <a:ext cx="237744" cy="237744"/>
          </a:xfrm>
          <a:prstGeom prst="rect">
            <a:avLst/>
          </a:prstGeom>
        </p:spPr>
      </p:pic>
      <p:sp>
        <p:nvSpPr>
          <p:cNvPr id="53" name="Text 37"/>
          <p:cNvSpPr txBox="1"/>
          <p:nvPr/>
        </p:nvSpPr>
        <p:spPr>
          <a:xfrm>
            <a:off x="9704527" y="4965192"/>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Pipeline Enhancements</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Business Intelligence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pic>
        <p:nvPicPr>
          <p:cNvPr id="4"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5"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6" name="Text 2"/>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tx1"/>
                </a:solidFill>
              </a:rPr>
              <a:t>Services</a:t>
            </a:r>
            <a:endParaRPr lang="en-US" sz="2000" dirty="0"/>
          </a:p>
        </p:txBody>
      </p:sp>
      <p:sp>
        <p:nvSpPr>
          <p:cNvPr id="7" name="Text 3"/>
          <p:cNvSpPr txBox="1"/>
          <p:nvPr/>
        </p:nvSpPr>
        <p:spPr>
          <a:xfrm>
            <a:off x="777240" y="2514600"/>
            <a:ext cx="2834640" cy="2697480"/>
          </a:xfrm>
          <a:prstGeom prst="rect">
            <a:avLst/>
          </a:prstGeom>
          <a:noFill/>
          <a:ln/>
        </p:spPr>
        <p:txBody>
          <a:bodyPr wrap="square" lIns="0" tIns="0" rIns="0" bIns="0" rtlCol="0" anchor="t"/>
          <a:lstStyle/>
          <a:p>
            <a:pPr marL="203200" indent="-203200">
              <a:spcAft>
                <a:spcPts val="900"/>
              </a:spcAft>
              <a:buClr>
                <a:srgbClr val="F7941E"/>
              </a:buClr>
              <a:buSzPct val="100000"/>
              <a:buChar char="✓"/>
            </a:pPr>
            <a:r>
              <a:rPr lang="en-US" sz="1600" dirty="0">
                <a:solidFill>
                  <a:schemeClr val="tx1"/>
                </a:solidFill>
              </a:rPr>
              <a:t>Data modelling</a:t>
            </a:r>
            <a:endParaRPr lang="en-US" sz="1600" dirty="0"/>
          </a:p>
          <a:p>
            <a:pPr marL="203200" indent="-203200">
              <a:spcAft>
                <a:spcPts val="900"/>
              </a:spcAft>
              <a:buClr>
                <a:srgbClr val="F7941E"/>
              </a:buClr>
              <a:buSzPct val="100000"/>
              <a:buChar char="✓"/>
            </a:pPr>
            <a:r>
              <a:rPr lang="en-US" sz="1600" dirty="0">
                <a:solidFill>
                  <a:schemeClr val="tx1"/>
                </a:solidFill>
              </a:rPr>
              <a:t>Dashboard building</a:t>
            </a:r>
            <a:endParaRPr lang="en-US" sz="1600" dirty="0"/>
          </a:p>
          <a:p>
            <a:pPr marL="203200" indent="-203200">
              <a:spcAft>
                <a:spcPts val="900"/>
              </a:spcAft>
              <a:buClr>
                <a:srgbClr val="F7941E"/>
              </a:buClr>
              <a:buSzPct val="100000"/>
              <a:buChar char="✓"/>
            </a:pPr>
            <a:r>
              <a:rPr lang="en-US" sz="1600" dirty="0">
                <a:solidFill>
                  <a:schemeClr val="tx1"/>
                </a:solidFill>
              </a:rPr>
              <a:t>Paginated reports</a:t>
            </a:r>
            <a:endParaRPr lang="en-US" sz="1600" dirty="0"/>
          </a:p>
          <a:p>
            <a:pPr marL="203200" indent="-203200">
              <a:spcAft>
                <a:spcPts val="900"/>
              </a:spcAft>
              <a:buClr>
                <a:srgbClr val="F7941E"/>
              </a:buClr>
              <a:buSzPct val="100000"/>
              <a:buChar char="✓"/>
            </a:pPr>
            <a:r>
              <a:rPr lang="en-US" sz="1600" dirty="0">
                <a:solidFill>
                  <a:schemeClr val="tx1"/>
                </a:solidFill>
              </a:rPr>
              <a:t>Embedding dashboards into custom apps or portals</a:t>
            </a:r>
            <a:endParaRPr lang="en-US" sz="1600" dirty="0"/>
          </a:p>
        </p:txBody>
      </p:sp>
      <p:sp>
        <p:nvSpPr>
          <p:cNvPr id="8" name="Text 4"/>
          <p:cNvSpPr txBox="1"/>
          <p:nvPr/>
        </p:nvSpPr>
        <p:spPr>
          <a:xfrm>
            <a:off x="3886200" y="2514600"/>
            <a:ext cx="2834640" cy="2697480"/>
          </a:xfrm>
          <a:prstGeom prst="rect">
            <a:avLst/>
          </a:prstGeom>
          <a:noFill/>
          <a:ln/>
        </p:spPr>
        <p:txBody>
          <a:bodyPr wrap="square" lIns="0" tIns="0" rIns="0" bIns="0" rtlCol="0" anchor="t"/>
          <a:lstStyle/>
          <a:p>
            <a:pPr marL="203200" indent="-203200">
              <a:spcAft>
                <a:spcPts val="900"/>
              </a:spcAft>
              <a:buClr>
                <a:srgbClr val="F7941E"/>
              </a:buClr>
              <a:buSzPct val="100000"/>
              <a:buChar char="✓"/>
            </a:pPr>
            <a:r>
              <a:rPr lang="en-US" sz="1600" dirty="0">
                <a:solidFill>
                  <a:schemeClr val="tx1"/>
                </a:solidFill>
              </a:rPr>
              <a:t>Row-level security</a:t>
            </a:r>
            <a:endParaRPr lang="en-US" sz="1600" dirty="0"/>
          </a:p>
          <a:p>
            <a:pPr marL="203200" indent="-203200">
              <a:spcAft>
                <a:spcPts val="900"/>
              </a:spcAft>
              <a:buClr>
                <a:srgbClr val="F7941E"/>
              </a:buClr>
              <a:buSzPct val="100000"/>
              <a:buChar char="✓"/>
            </a:pPr>
            <a:r>
              <a:rPr lang="en-US" sz="1600" dirty="0">
                <a:solidFill>
                  <a:schemeClr val="tx1"/>
                </a:solidFill>
              </a:rPr>
              <a:t>Data refresh management</a:t>
            </a:r>
            <a:endParaRPr lang="en-US" sz="1600" dirty="0"/>
          </a:p>
          <a:p>
            <a:pPr marL="203200" indent="-203200">
              <a:spcAft>
                <a:spcPts val="900"/>
              </a:spcAft>
              <a:buClr>
                <a:srgbClr val="F7941E"/>
              </a:buClr>
              <a:buSzPct val="100000"/>
              <a:buChar char="✓"/>
            </a:pPr>
            <a:r>
              <a:rPr lang="en-US" sz="1600" dirty="0">
                <a:solidFill>
                  <a:schemeClr val="tx1"/>
                </a:solidFill>
              </a:rPr>
              <a:t>Solution Augmentation and Maintenance Plan (SAPM)</a:t>
            </a:r>
            <a:endParaRPr lang="en-US" sz="1600" dirty="0"/>
          </a:p>
        </p:txBody>
      </p:sp>
      <p:pic>
        <p:nvPicPr>
          <p:cNvPr id="9" name="Card" descr="preencoded.png">    </p:cNvPr>
          <p:cNvPicPr>
            <a:picLocks noChangeAspect="1"/>
          </p:cNvPicPr>
          <p:nvPr/>
        </p:nvPicPr>
        <p:blipFill>
          <a:blip r:embed="rId3"/>
          <a:stretch>
            <a:fillRect/>
          </a:stretch>
        </p:blipFill>
        <p:spPr>
          <a:xfrm>
            <a:off x="7050024" y="1362456"/>
            <a:ext cx="4785055" cy="4178808"/>
          </a:xfrm>
          <a:prstGeom prst="rect">
            <a:avLst/>
          </a:prstGeom>
        </p:spPr>
      </p:pic>
      <p:pic>
        <p:nvPicPr>
          <p:cNvPr id="10" name="Badge" descr="preencoded.png">    </p:cNvPr>
          <p:cNvPicPr>
            <a:picLocks noChangeAspect="1"/>
          </p:cNvPicPr>
          <p:nvPr/>
        </p:nvPicPr>
        <p:blipFill>
          <a:blip r:embed="rId4"/>
          <a:stretch>
            <a:fillRect/>
          </a:stretch>
        </p:blipFill>
        <p:spPr>
          <a:xfrm>
            <a:off x="7470648" y="1764792"/>
            <a:ext cx="530352" cy="530352"/>
          </a:xfrm>
          <a:prstGeom prst="rect">
            <a:avLst/>
          </a:prstGeom>
        </p:spPr>
      </p:pic>
      <p:sp>
        <p:nvSpPr>
          <p:cNvPr id="11" name="Text 5"/>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2" name="Text 6"/>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Fixed-Bid Approach</a:t>
            </a:r>
            <a:endParaRPr lang="en-US" sz="1400" dirty="0"/>
          </a:p>
          <a:p>
            <a:pPr indent="0" marL="0">
              <a:spcAft>
                <a:spcPts val="1200"/>
              </a:spcAft>
              <a:buNone/>
            </a:pPr>
            <a:r>
              <a:rPr lang="en-US" sz="1400" dirty="0">
                <a:solidFill>
                  <a:schemeClr val="bg1"/>
                </a:solidFill>
              </a:rPr>
              <a:t>When requirements are clear and a concise BRD is available.</a:t>
            </a:r>
            <a:endParaRPr lang="en-US" sz="1400" dirty="0"/>
          </a:p>
          <a:p>
            <a:pPr marL="177800" indent="-177800">
              <a:buClr>
                <a:srgbClr val="F7941E"/>
              </a:buClr>
              <a:buSzPct val="100000"/>
              <a:buChar char="▸"/>
            </a:pPr>
            <a:r>
              <a:rPr lang="en-US" sz="1400" b="1" dirty="0">
                <a:solidFill>
                  <a:schemeClr val="accent3"/>
                </a:solidFill>
              </a:rPr>
              <a:t>Time &amp; Material Approach</a:t>
            </a:r>
            <a:endParaRPr lang="en-US" sz="1400" dirty="0"/>
          </a:p>
          <a:p>
            <a:pPr indent="0" marL="0">
              <a:spcAft>
                <a:spcPts val="1200"/>
              </a:spcAft>
              <a:buNone/>
            </a:pPr>
            <a:r>
              <a:rPr lang="en-US" sz="1400" dirty="0">
                <a:solidFill>
                  <a:schemeClr val="bg1"/>
                </a:solidFill>
              </a:rPr>
              <a:t>When requirements are fluid.</a:t>
            </a:r>
            <a:endParaRPr lang="en-US" sz="1400" dirty="0"/>
          </a:p>
          <a:p>
            <a:pPr marL="177800" indent="-177800">
              <a:buClr>
                <a:srgbClr val="F7941E"/>
              </a:buClr>
              <a:buSzPct val="100000"/>
              <a:buChar char="▸"/>
            </a:pPr>
            <a:r>
              <a:rPr lang="en-US" sz="1400" b="1" dirty="0">
                <a:solidFill>
                  <a:schemeClr val="accent3"/>
                </a:solidFill>
              </a:rPr>
              <a:t>Monthly Engagement Model</a:t>
            </a:r>
            <a:endParaRPr lang="en-US" sz="1400" dirty="0"/>
          </a:p>
          <a:p>
            <a:pPr indent="0" marL="0">
              <a:spcAft>
                <a:spcPts val="1200"/>
              </a:spcAft>
              <a:buNone/>
            </a:pPr>
            <a:r>
              <a:rPr lang="en-US" sz="1400" dirty="0">
                <a:solidFill>
                  <a:schemeClr val="bg1"/>
                </a:solidFill>
              </a:rPr>
              <a:t>Fixed outflow based on a fixed set of resource combinations. Suitable for agile deliveries.</a:t>
            </a:r>
            <a:endParaRPr lang="en-US" sz="1400" dirty="0"/>
          </a:p>
        </p:txBody>
      </p:sp>
      <p:sp>
        <p:nvSpPr>
          <p:cNvPr id="13" name="Text 7"/>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14" name="Card" descr="preencoded.png">    </p:cNvPr>
          <p:cNvPicPr>
            <a:picLocks noChangeAspect="1"/>
          </p:cNvPicPr>
          <p:nvPr/>
        </p:nvPicPr>
        <p:blipFill>
          <a:blip r:embed="rId5"/>
          <a:stretch>
            <a:fillRect/>
          </a:stretch>
        </p:blipFill>
        <p:spPr>
          <a:xfrm>
            <a:off x="1819656" y="5431536"/>
            <a:ext cx="2212848" cy="950976"/>
          </a:xfrm>
          <a:prstGeom prst="rect">
            <a:avLst/>
          </a:prstGeom>
        </p:spPr>
      </p:pic>
      <p:pic>
        <p:nvPicPr>
          <p:cNvPr id="15" name="Logo" descr="/tmp/claude-0/-home-user-ad-gallery/7fc27a5a-8417-58c4-b3ff-7a7825ba0161/scratchpad/assets/s21_00.png">    </p:cNvPr>
          <p:cNvPicPr>
            <a:picLocks noChangeAspect="1"/>
          </p:cNvPicPr>
          <p:nvPr/>
        </p:nvPicPr>
        <p:blipFill>
          <a:blip r:embed="rId6"/>
          <a:stretch>
            <a:fillRect/>
          </a:stretch>
        </p:blipFill>
        <p:spPr>
          <a:xfrm>
            <a:off x="2534194" y="5687568"/>
            <a:ext cx="783771" cy="438912"/>
          </a:xfrm>
          <a:prstGeom prst="rect">
            <a:avLst/>
          </a:prstGeom>
        </p:spPr>
      </p:pic>
      <p:pic>
        <p:nvPicPr>
          <p:cNvPr id="16" name="Card" descr="preencoded.png">    </p:cNvPr>
          <p:cNvPicPr>
            <a:picLocks noChangeAspect="1"/>
          </p:cNvPicPr>
          <p:nvPr/>
        </p:nvPicPr>
        <p:blipFill>
          <a:blip r:embed="rId7"/>
          <a:stretch>
            <a:fillRect/>
          </a:stretch>
        </p:blipFill>
        <p:spPr>
          <a:xfrm>
            <a:off x="3877056" y="5431536"/>
            <a:ext cx="2212848" cy="950976"/>
          </a:xfrm>
          <a:prstGeom prst="rect">
            <a:avLst/>
          </a:prstGeom>
        </p:spPr>
      </p:pic>
      <p:pic>
        <p:nvPicPr>
          <p:cNvPr id="17" name="Logo" descr="/tmp/claude-0/-home-user-ad-gallery/7fc27a5a-8417-58c4-b3ff-7a7825ba0161/scratchpad/assets/s21_02.png">    </p:cNvPr>
          <p:cNvPicPr>
            <a:picLocks noChangeAspect="1"/>
          </p:cNvPicPr>
          <p:nvPr/>
        </p:nvPicPr>
        <p:blipFill>
          <a:blip r:embed="rId8"/>
          <a:stretch>
            <a:fillRect/>
          </a:stretch>
        </p:blipFill>
        <p:spPr>
          <a:xfrm>
            <a:off x="4524617" y="5687568"/>
            <a:ext cx="917725" cy="438912"/>
          </a:xfrm>
          <a:prstGeom prst="rect">
            <a:avLst/>
          </a:prstGeom>
        </p:spPr>
      </p:pic>
      <p:pic>
        <p:nvPicPr>
          <p:cNvPr id="18" name="Card" descr="preencoded.png">    </p:cNvPr>
          <p:cNvPicPr>
            <a:picLocks noChangeAspect="1"/>
          </p:cNvPicPr>
          <p:nvPr/>
        </p:nvPicPr>
        <p:blipFill>
          <a:blip r:embed="rId9"/>
          <a:stretch>
            <a:fillRect/>
          </a:stretch>
        </p:blipFill>
        <p:spPr>
          <a:xfrm>
            <a:off x="5934456" y="5431536"/>
            <a:ext cx="2212848" cy="950976"/>
          </a:xfrm>
          <a:prstGeom prst="rect">
            <a:avLst/>
          </a:prstGeom>
        </p:spPr>
      </p:pic>
      <p:pic>
        <p:nvPicPr>
          <p:cNvPr id="19" name="Logo" descr="/tmp/claude-0/-home-user-ad-gallery/7fc27a5a-8417-58c4-b3ff-7a7825ba0161/scratchpad/assets/s21_01.png">    </p:cNvPr>
          <p:cNvPicPr>
            <a:picLocks noChangeAspect="1"/>
          </p:cNvPicPr>
          <p:nvPr/>
        </p:nvPicPr>
        <p:blipFill>
          <a:blip r:embed="rId10"/>
          <a:stretch>
            <a:fillRect/>
          </a:stretch>
        </p:blipFill>
        <p:spPr>
          <a:xfrm>
            <a:off x="6426403" y="5687568"/>
            <a:ext cx="1228954" cy="438912"/>
          </a:xfrm>
          <a:prstGeom prst="rect">
            <a:avLst/>
          </a:prstGeom>
        </p:spPr>
      </p:pic>
      <p:pic>
        <p:nvPicPr>
          <p:cNvPr id="20" name="Card" descr="preencoded.png">    </p:cNvPr>
          <p:cNvPicPr>
            <a:picLocks noChangeAspect="1"/>
          </p:cNvPicPr>
          <p:nvPr/>
        </p:nvPicPr>
        <p:blipFill>
          <a:blip r:embed="rId11"/>
          <a:stretch>
            <a:fillRect/>
          </a:stretch>
        </p:blipFill>
        <p:spPr>
          <a:xfrm>
            <a:off x="7991856" y="5431536"/>
            <a:ext cx="2212848" cy="950976"/>
          </a:xfrm>
          <a:prstGeom prst="rect">
            <a:avLst/>
          </a:prstGeom>
        </p:spPr>
      </p:pic>
      <p:pic>
        <p:nvPicPr>
          <p:cNvPr id="21" name="Logo" descr="/tmp/claude-0/-home-user-ad-gallery/7fc27a5a-8417-58c4-b3ff-7a7825ba0161/scratchpad/assets/s21_03.png">    </p:cNvPr>
          <p:cNvPicPr>
            <a:picLocks noChangeAspect="1"/>
          </p:cNvPicPr>
          <p:nvPr/>
        </p:nvPicPr>
        <p:blipFill>
          <a:blip r:embed="rId12"/>
          <a:stretch>
            <a:fillRect/>
          </a:stretch>
        </p:blipFill>
        <p:spPr>
          <a:xfrm>
            <a:off x="8247888" y="5796103"/>
            <a:ext cx="1700784" cy="221841"/>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Business Intelligence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pic>
        <p:nvPicPr>
          <p:cNvPr id="4" name="Card" descr="preencoded.png">    </p:cNvPr>
          <p:cNvPicPr>
            <a:picLocks noChangeAspect="1"/>
          </p:cNvPicPr>
          <p:nvPr/>
        </p:nvPicPr>
        <p:blipFill>
          <a:blip r:embed="rId1"/>
          <a:stretch>
            <a:fillRect/>
          </a:stretch>
        </p:blipFill>
        <p:spPr>
          <a:xfrm>
            <a:off x="502920" y="1508760"/>
            <a:ext cx="2331720" cy="4709160"/>
          </a:xfrm>
          <a:prstGeom prst="rect">
            <a:avLst/>
          </a:prstGeom>
        </p:spPr>
      </p:pic>
      <p:sp>
        <p:nvSpPr>
          <p:cNvPr id="5" name="Pill"/>
          <p:cNvSpPr/>
          <p:nvPr/>
        </p:nvSpPr>
        <p:spPr>
          <a:xfrm>
            <a:off x="731520" y="1764792"/>
            <a:ext cx="1783080" cy="310896"/>
          </a:xfrm>
          <a:prstGeom prst="roundRect">
            <a:avLst>
              <a:gd name="adj" fmla="val 50000"/>
            </a:avLst>
          </a:prstGeom>
          <a:solidFill>
            <a:schemeClr val="accent2"/>
          </a:solidFill>
          <a:ln/>
        </p:spPr>
      </p:sp>
      <p:sp>
        <p:nvSpPr>
          <p:cNvPr id="6" name="Text 3"/>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EDUCATION PHASE</a:t>
            </a:r>
            <a:endParaRPr lang="en-US" sz="900" dirty="0"/>
          </a:p>
        </p:txBody>
      </p:sp>
      <p:pic>
        <p:nvPicPr>
          <p:cNvPr id="7" name="Badge" descr="preencoded.png">    </p:cNvPr>
          <p:cNvPicPr>
            <a:picLocks noChangeAspect="1"/>
          </p:cNvPicPr>
          <p:nvPr/>
        </p:nvPicPr>
        <p:blipFill>
          <a:blip r:embed="rId2"/>
          <a:stretch>
            <a:fillRect/>
          </a:stretch>
        </p:blipFill>
        <p:spPr>
          <a:xfrm>
            <a:off x="731520" y="2377440"/>
            <a:ext cx="566928" cy="566928"/>
          </a:xfrm>
          <a:prstGeom prst="rect">
            <a:avLst/>
          </a:prstGeom>
        </p:spPr>
      </p:pic>
      <p:sp>
        <p:nvSpPr>
          <p:cNvPr id="8" name="Text 4"/>
          <p:cNvSpPr txBox="1"/>
          <p:nvPr/>
        </p:nvSpPr>
        <p:spPr>
          <a:xfrm>
            <a:off x="731520" y="3063240"/>
            <a:ext cx="1874520" cy="777240"/>
          </a:xfrm>
          <a:prstGeom prst="rect">
            <a:avLst/>
          </a:prstGeom>
          <a:noFill/>
          <a:ln/>
        </p:spPr>
        <p:txBody>
          <a:bodyPr wrap="square" lIns="0" tIns="0" rIns="0" bIns="0" rtlCol="0" anchor="t"/>
          <a:lstStyle/>
          <a:p>
            <a:pPr indent="0" marL="0">
              <a:buNone/>
            </a:pPr>
            <a:r>
              <a:rPr lang="en-US" sz="1500" b="1" dirty="0">
                <a:solidFill>
                  <a:schemeClr val="tx1"/>
                </a:solidFill>
              </a:rPr>
              <a:t>Pre-built industry-specific demo</a:t>
            </a:r>
            <a:endParaRPr lang="en-US" sz="1500" dirty="0"/>
          </a:p>
        </p:txBody>
      </p:sp>
      <p:pic>
        <p:nvPicPr>
          <p:cNvPr id="9" name="Badge" descr="preencoded.png">    </p:cNvPr>
          <p:cNvPicPr>
            <a:picLocks noChangeAspect="1"/>
          </p:cNvPicPr>
          <p:nvPr/>
        </p:nvPicPr>
        <p:blipFill>
          <a:blip r:embed="rId3"/>
          <a:stretch>
            <a:fillRect/>
          </a:stretch>
        </p:blipFill>
        <p:spPr>
          <a:xfrm>
            <a:off x="731520" y="4023360"/>
            <a:ext cx="566928" cy="566928"/>
          </a:xfrm>
          <a:prstGeom prst="rect">
            <a:avLst/>
          </a:prstGeom>
        </p:spPr>
      </p:pic>
      <p:sp>
        <p:nvSpPr>
          <p:cNvPr id="10" name="Text 5"/>
          <p:cNvSpPr txBox="1"/>
          <p:nvPr/>
        </p:nvSpPr>
        <p:spPr>
          <a:xfrm>
            <a:off x="731520" y="4709160"/>
            <a:ext cx="1874520" cy="777240"/>
          </a:xfrm>
          <a:prstGeom prst="rect">
            <a:avLst/>
          </a:prstGeom>
          <a:noFill/>
          <a:ln/>
        </p:spPr>
        <p:txBody>
          <a:bodyPr wrap="square" lIns="0" tIns="0" rIns="0" bIns="0" rtlCol="0" anchor="t"/>
          <a:lstStyle/>
          <a:p>
            <a:pPr indent="0" marL="0">
              <a:buNone/>
            </a:pPr>
            <a:r>
              <a:rPr lang="en-US" sz="1500" b="1" dirty="0">
                <a:solidFill>
                  <a:schemeClr val="tx1"/>
                </a:solidFill>
              </a:rPr>
              <a:t>Proof of concept using client's own data</a:t>
            </a:r>
            <a:endParaRPr lang="en-US" sz="1500" dirty="0"/>
          </a:p>
        </p:txBody>
      </p:sp>
      <p:pic>
        <p:nvPicPr>
          <p:cNvPr id="11" name="Card" descr="preencoded.png">    </p:cNvPr>
          <p:cNvPicPr>
            <a:picLocks noChangeAspect="1"/>
          </p:cNvPicPr>
          <p:nvPr/>
        </p:nvPicPr>
        <p:blipFill>
          <a:blip r:embed="rId4"/>
          <a:stretch>
            <a:fillRect/>
          </a:stretch>
        </p:blipFill>
        <p:spPr>
          <a:xfrm>
            <a:off x="2871216" y="1362456"/>
            <a:ext cx="6083503" cy="5001768"/>
          </a:xfrm>
          <a:prstGeom prst="rect">
            <a:avLst/>
          </a:prstGeom>
        </p:spPr>
      </p:pic>
      <p:sp>
        <p:nvSpPr>
          <p:cNvPr id="12" name="Pill"/>
          <p:cNvSpPr/>
          <p:nvPr/>
        </p:nvSpPr>
        <p:spPr>
          <a:xfrm>
            <a:off x="3246120" y="1764792"/>
            <a:ext cx="1783080" cy="310896"/>
          </a:xfrm>
          <a:prstGeom prst="roundRect">
            <a:avLst>
              <a:gd name="adj" fmla="val 50000"/>
            </a:avLst>
          </a:prstGeom>
          <a:solidFill>
            <a:schemeClr val="accent1"/>
          </a:solidFill>
          <a:ln/>
        </p:spPr>
      </p:sp>
      <p:sp>
        <p:nvSpPr>
          <p:cNvPr id="13" name="Text 7"/>
          <p:cNvSpPr txBox="1"/>
          <p:nvPr/>
        </p:nvSpPr>
        <p:spPr>
          <a:xfrm>
            <a:off x="32461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SOLUTION PHASE</a:t>
            </a:r>
            <a:endParaRPr lang="en-US" sz="900" dirty="0"/>
          </a:p>
        </p:txBody>
      </p:sp>
      <p:pic>
        <p:nvPicPr>
          <p:cNvPr id="14" name="Icon" descr="preencoded.png">    </p:cNvPr>
          <p:cNvPicPr>
            <a:picLocks noChangeAspect="1"/>
          </p:cNvPicPr>
          <p:nvPr/>
        </p:nvPicPr>
        <p:blipFill>
          <a:blip r:embed="rId5"/>
          <a:stretch>
            <a:fillRect/>
          </a:stretch>
        </p:blipFill>
        <p:spPr>
          <a:xfrm>
            <a:off x="5212080" y="1801368"/>
            <a:ext cx="237744" cy="237744"/>
          </a:xfrm>
          <a:prstGeom prst="rect">
            <a:avLst/>
          </a:prstGeom>
        </p:spPr>
      </p:pic>
      <p:sp>
        <p:nvSpPr>
          <p:cNvPr id="15" name="Text 8"/>
          <p:cNvSpPr txBox="1"/>
          <p:nvPr/>
        </p:nvSpPr>
        <p:spPr>
          <a:xfrm>
            <a:off x="5532120" y="1709928"/>
            <a:ext cx="3093415" cy="420624"/>
          </a:xfrm>
          <a:prstGeom prst="rect">
            <a:avLst/>
          </a:prstGeom>
          <a:noFill/>
          <a:ln/>
        </p:spPr>
        <p:txBody>
          <a:bodyPr wrap="square" lIns="0" tIns="0" rIns="0" bIns="0" rtlCol="0" anchor="ctr"/>
          <a:lstStyle/>
          <a:p>
            <a:pPr indent="0" marL="0">
              <a:buNone/>
            </a:pPr>
            <a:r>
              <a:rPr lang="en-US" sz="1200" b="1" dirty="0">
                <a:solidFill>
                  <a:schemeClr val="accent5"/>
                </a:solidFill>
              </a:rPr>
              <a:t>Typical duration: 4–6 weeks per dashboard (simple to medium)</a:t>
            </a:r>
            <a:endParaRPr lang="en-US" sz="1200" dirty="0"/>
          </a:p>
        </p:txBody>
      </p:sp>
      <p:sp>
        <p:nvSpPr>
          <p:cNvPr id="16" name="Timeline"/>
          <p:cNvSpPr/>
          <p:nvPr/>
        </p:nvSpPr>
        <p:spPr>
          <a:xfrm>
            <a:off x="3703320" y="3931920"/>
            <a:ext cx="4419295" cy="0"/>
          </a:xfrm>
          <a:prstGeom prst="line">
            <a:avLst/>
          </a:prstGeom>
          <a:noFill/>
          <a:ln w="31750">
            <a:solidFill>
              <a:schemeClr val="accent1"/>
            </a:solidFill>
            <a:prstDash val="solid"/>
          </a:ln>
        </p:spPr>
      </p:sp>
      <p:pic>
        <p:nvPicPr>
          <p:cNvPr id="17" name="NumBadge" descr="preencoded.png">    </p:cNvPr>
          <p:cNvPicPr>
            <a:picLocks noChangeAspect="1"/>
          </p:cNvPicPr>
          <p:nvPr/>
        </p:nvPicPr>
        <p:blipFill>
          <a:blip r:embed="rId6"/>
          <a:stretch>
            <a:fillRect/>
          </a:stretch>
        </p:blipFill>
        <p:spPr>
          <a:xfrm>
            <a:off x="3438144" y="3666744"/>
            <a:ext cx="530352" cy="530352"/>
          </a:xfrm>
          <a:prstGeom prst="rect">
            <a:avLst/>
          </a:prstGeom>
        </p:spPr>
      </p:pic>
      <p:sp>
        <p:nvSpPr>
          <p:cNvPr id="18" name="Text 10"/>
          <p:cNvSpPr txBox="1"/>
          <p:nvPr/>
        </p:nvSpPr>
        <p:spPr>
          <a:xfrm>
            <a:off x="3438144"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19" name="Rule"/>
          <p:cNvSpPr/>
          <p:nvPr/>
        </p:nvSpPr>
        <p:spPr>
          <a:xfrm>
            <a:off x="3703320" y="3218688"/>
            <a:ext cx="0" cy="448056"/>
          </a:xfrm>
          <a:prstGeom prst="line">
            <a:avLst/>
          </a:prstGeom>
          <a:noFill/>
          <a:ln w="12700">
            <a:solidFill>
              <a:schemeClr val="accent6"/>
            </a:solidFill>
            <a:prstDash val="solid"/>
          </a:ln>
        </p:spPr>
      </p:sp>
      <p:sp>
        <p:nvSpPr>
          <p:cNvPr id="20" name="Text 12"/>
          <p:cNvSpPr txBox="1"/>
          <p:nvPr/>
        </p:nvSpPr>
        <p:spPr>
          <a:xfrm>
            <a:off x="3021635" y="2450592"/>
            <a:ext cx="1363370" cy="749808"/>
          </a:xfrm>
          <a:prstGeom prst="rect">
            <a:avLst/>
          </a:prstGeom>
          <a:noFill/>
          <a:ln/>
        </p:spPr>
        <p:txBody>
          <a:bodyPr wrap="square" lIns="0" tIns="0" rIns="0" bIns="0" rtlCol="0" anchor="b"/>
          <a:lstStyle/>
          <a:p>
            <a:pPr algn="ctr" indent="0" marL="0">
              <a:buNone/>
            </a:pPr>
            <a:r>
              <a:rPr lang="en-US" sz="1300" b="1" dirty="0">
                <a:solidFill>
                  <a:schemeClr val="tx1"/>
                </a:solidFill>
              </a:rPr>
              <a:t>Business Workshop</a:t>
            </a:r>
            <a:endParaRPr lang="en-US" sz="1300" dirty="0"/>
          </a:p>
        </p:txBody>
      </p:sp>
      <p:pic>
        <p:nvPicPr>
          <p:cNvPr id="21" name="NumBadge" descr="preencoded.png">    </p:cNvPr>
          <p:cNvPicPr>
            <a:picLocks noChangeAspect="1"/>
          </p:cNvPicPr>
          <p:nvPr/>
        </p:nvPicPr>
        <p:blipFill>
          <a:blip r:embed="rId7"/>
          <a:stretch>
            <a:fillRect/>
          </a:stretch>
        </p:blipFill>
        <p:spPr>
          <a:xfrm>
            <a:off x="4174693" y="3666744"/>
            <a:ext cx="530352" cy="530352"/>
          </a:xfrm>
          <a:prstGeom prst="rect">
            <a:avLst/>
          </a:prstGeom>
        </p:spPr>
      </p:pic>
      <p:sp>
        <p:nvSpPr>
          <p:cNvPr id="22" name="Text 13"/>
          <p:cNvSpPr txBox="1"/>
          <p:nvPr/>
        </p:nvSpPr>
        <p:spPr>
          <a:xfrm>
            <a:off x="4174693"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23" name="Rule"/>
          <p:cNvSpPr/>
          <p:nvPr/>
        </p:nvSpPr>
        <p:spPr>
          <a:xfrm>
            <a:off x="4439869" y="4197096"/>
            <a:ext cx="0" cy="448056"/>
          </a:xfrm>
          <a:prstGeom prst="line">
            <a:avLst/>
          </a:prstGeom>
          <a:noFill/>
          <a:ln w="12700">
            <a:solidFill>
              <a:schemeClr val="accent6"/>
            </a:solidFill>
            <a:prstDash val="solid"/>
          </a:ln>
        </p:spPr>
      </p:sp>
      <p:sp>
        <p:nvSpPr>
          <p:cNvPr id="24" name="Text 15"/>
          <p:cNvSpPr txBox="1"/>
          <p:nvPr/>
        </p:nvSpPr>
        <p:spPr>
          <a:xfrm>
            <a:off x="3758184" y="4681728"/>
            <a:ext cx="1363370" cy="749808"/>
          </a:xfrm>
          <a:prstGeom prst="rect">
            <a:avLst/>
          </a:prstGeom>
          <a:noFill/>
          <a:ln/>
        </p:spPr>
        <p:txBody>
          <a:bodyPr wrap="square" lIns="0" tIns="0" rIns="0" bIns="0" rtlCol="0" anchor="t"/>
          <a:lstStyle/>
          <a:p>
            <a:pPr algn="ctr" indent="0" marL="0">
              <a:buNone/>
            </a:pPr>
            <a:r>
              <a:rPr lang="en-US" sz="1300" b="1" dirty="0">
                <a:solidFill>
                  <a:schemeClr val="tx1"/>
                </a:solidFill>
              </a:rPr>
              <a:t>Business Requirement Document</a:t>
            </a:r>
            <a:endParaRPr lang="en-US" sz="1300" dirty="0"/>
          </a:p>
        </p:txBody>
      </p:sp>
      <p:pic>
        <p:nvPicPr>
          <p:cNvPr id="25" name="NumBadge" descr="preencoded.png">    </p:cNvPr>
          <p:cNvPicPr>
            <a:picLocks noChangeAspect="1"/>
          </p:cNvPicPr>
          <p:nvPr/>
        </p:nvPicPr>
        <p:blipFill>
          <a:blip r:embed="rId8"/>
          <a:stretch>
            <a:fillRect/>
          </a:stretch>
        </p:blipFill>
        <p:spPr>
          <a:xfrm>
            <a:off x="4911242" y="3666744"/>
            <a:ext cx="530352" cy="530352"/>
          </a:xfrm>
          <a:prstGeom prst="rect">
            <a:avLst/>
          </a:prstGeom>
        </p:spPr>
      </p:pic>
      <p:sp>
        <p:nvSpPr>
          <p:cNvPr id="26" name="Text 16"/>
          <p:cNvSpPr txBox="1"/>
          <p:nvPr/>
        </p:nvSpPr>
        <p:spPr>
          <a:xfrm>
            <a:off x="491124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7" name="Rule"/>
          <p:cNvSpPr/>
          <p:nvPr/>
        </p:nvSpPr>
        <p:spPr>
          <a:xfrm>
            <a:off x="5176418" y="3218688"/>
            <a:ext cx="0" cy="448056"/>
          </a:xfrm>
          <a:prstGeom prst="line">
            <a:avLst/>
          </a:prstGeom>
          <a:noFill/>
          <a:ln w="12700">
            <a:solidFill>
              <a:schemeClr val="accent6"/>
            </a:solidFill>
            <a:prstDash val="solid"/>
          </a:ln>
        </p:spPr>
      </p:sp>
      <p:sp>
        <p:nvSpPr>
          <p:cNvPr id="28" name="Text 18"/>
          <p:cNvSpPr txBox="1"/>
          <p:nvPr/>
        </p:nvSpPr>
        <p:spPr>
          <a:xfrm>
            <a:off x="4494733" y="2450592"/>
            <a:ext cx="1363370" cy="749808"/>
          </a:xfrm>
          <a:prstGeom prst="rect">
            <a:avLst/>
          </a:prstGeom>
          <a:noFill/>
          <a:ln/>
        </p:spPr>
        <p:txBody>
          <a:bodyPr wrap="square" lIns="0" tIns="0" rIns="0" bIns="0" rtlCol="0" anchor="b"/>
          <a:lstStyle/>
          <a:p>
            <a:pPr algn="ctr" indent="0" marL="0">
              <a:buNone/>
            </a:pPr>
            <a:r>
              <a:rPr lang="en-US" sz="1300" b="1" dirty="0">
                <a:solidFill>
                  <a:schemeClr val="tx1"/>
                </a:solidFill>
              </a:rPr>
              <a:t>Data Mapping &amp; Testing</a:t>
            </a:r>
            <a:endParaRPr lang="en-US" sz="1300" dirty="0"/>
          </a:p>
        </p:txBody>
      </p:sp>
      <p:pic>
        <p:nvPicPr>
          <p:cNvPr id="29" name="NumBadge" descr="preencoded.png">    </p:cNvPr>
          <p:cNvPicPr>
            <a:picLocks noChangeAspect="1"/>
          </p:cNvPicPr>
          <p:nvPr/>
        </p:nvPicPr>
        <p:blipFill>
          <a:blip r:embed="rId9"/>
          <a:stretch>
            <a:fillRect/>
          </a:stretch>
        </p:blipFill>
        <p:spPr>
          <a:xfrm>
            <a:off x="5647792" y="3666744"/>
            <a:ext cx="530352" cy="530352"/>
          </a:xfrm>
          <a:prstGeom prst="rect">
            <a:avLst/>
          </a:prstGeom>
        </p:spPr>
      </p:pic>
      <p:sp>
        <p:nvSpPr>
          <p:cNvPr id="30" name="Text 19"/>
          <p:cNvSpPr txBox="1"/>
          <p:nvPr/>
        </p:nvSpPr>
        <p:spPr>
          <a:xfrm>
            <a:off x="564779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31" name="Rule"/>
          <p:cNvSpPr/>
          <p:nvPr/>
        </p:nvSpPr>
        <p:spPr>
          <a:xfrm>
            <a:off x="5912968" y="4197096"/>
            <a:ext cx="0" cy="448056"/>
          </a:xfrm>
          <a:prstGeom prst="line">
            <a:avLst/>
          </a:prstGeom>
          <a:noFill/>
          <a:ln w="12700">
            <a:solidFill>
              <a:schemeClr val="accent6"/>
            </a:solidFill>
            <a:prstDash val="solid"/>
          </a:ln>
        </p:spPr>
      </p:sp>
      <p:sp>
        <p:nvSpPr>
          <p:cNvPr id="32" name="Text 21"/>
          <p:cNvSpPr txBox="1"/>
          <p:nvPr/>
        </p:nvSpPr>
        <p:spPr>
          <a:xfrm>
            <a:off x="5231282" y="4681728"/>
            <a:ext cx="1363370" cy="749808"/>
          </a:xfrm>
          <a:prstGeom prst="rect">
            <a:avLst/>
          </a:prstGeom>
          <a:noFill/>
          <a:ln/>
        </p:spPr>
        <p:txBody>
          <a:bodyPr wrap="square" lIns="0" tIns="0" rIns="0" bIns="0" rtlCol="0" anchor="t"/>
          <a:lstStyle/>
          <a:p>
            <a:pPr algn="ctr" indent="0" marL="0">
              <a:buNone/>
            </a:pPr>
            <a:r>
              <a:rPr lang="en-US" sz="1300" b="1" dirty="0">
                <a:solidFill>
                  <a:schemeClr val="tx1"/>
                </a:solidFill>
              </a:rPr>
              <a:t>Wireframes</a:t>
            </a:r>
            <a:endParaRPr lang="en-US" sz="1300" dirty="0"/>
          </a:p>
        </p:txBody>
      </p:sp>
      <p:pic>
        <p:nvPicPr>
          <p:cNvPr id="33" name="NumBadge" descr="preencoded.png">    </p:cNvPr>
          <p:cNvPicPr>
            <a:picLocks noChangeAspect="1"/>
          </p:cNvPicPr>
          <p:nvPr/>
        </p:nvPicPr>
        <p:blipFill>
          <a:blip r:embed="rId10"/>
          <a:stretch>
            <a:fillRect/>
          </a:stretch>
        </p:blipFill>
        <p:spPr>
          <a:xfrm>
            <a:off x="6384341" y="3666744"/>
            <a:ext cx="530352" cy="530352"/>
          </a:xfrm>
          <a:prstGeom prst="rect">
            <a:avLst/>
          </a:prstGeom>
        </p:spPr>
      </p:pic>
      <p:sp>
        <p:nvSpPr>
          <p:cNvPr id="34" name="Text 22"/>
          <p:cNvSpPr txBox="1"/>
          <p:nvPr/>
        </p:nvSpPr>
        <p:spPr>
          <a:xfrm>
            <a:off x="6384341"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35" name="Rule"/>
          <p:cNvSpPr/>
          <p:nvPr/>
        </p:nvSpPr>
        <p:spPr>
          <a:xfrm>
            <a:off x="6649517" y="3218688"/>
            <a:ext cx="0" cy="448056"/>
          </a:xfrm>
          <a:prstGeom prst="line">
            <a:avLst/>
          </a:prstGeom>
          <a:noFill/>
          <a:ln w="12700">
            <a:solidFill>
              <a:schemeClr val="accent6"/>
            </a:solidFill>
            <a:prstDash val="solid"/>
          </a:ln>
        </p:spPr>
      </p:sp>
      <p:sp>
        <p:nvSpPr>
          <p:cNvPr id="36" name="Text 24"/>
          <p:cNvSpPr txBox="1"/>
          <p:nvPr/>
        </p:nvSpPr>
        <p:spPr>
          <a:xfrm>
            <a:off x="5967832" y="2450592"/>
            <a:ext cx="1363370" cy="749808"/>
          </a:xfrm>
          <a:prstGeom prst="rect">
            <a:avLst/>
          </a:prstGeom>
          <a:noFill/>
          <a:ln/>
        </p:spPr>
        <p:txBody>
          <a:bodyPr wrap="square" lIns="0" tIns="0" rIns="0" bIns="0" rtlCol="0" anchor="b"/>
          <a:lstStyle/>
          <a:p>
            <a:pPr algn="ctr" indent="0" marL="0">
              <a:buNone/>
            </a:pPr>
            <a:r>
              <a:rPr lang="en-US" sz="1300" b="1" dirty="0">
                <a:solidFill>
                  <a:schemeClr val="tx1"/>
                </a:solidFill>
              </a:rPr>
              <a:t>Build &amp; QC</a:t>
            </a:r>
            <a:endParaRPr lang="en-US" sz="1300" dirty="0"/>
          </a:p>
        </p:txBody>
      </p:sp>
      <p:pic>
        <p:nvPicPr>
          <p:cNvPr id="37" name="NumBadge" descr="preencoded.png">    </p:cNvPr>
          <p:cNvPicPr>
            <a:picLocks noChangeAspect="1"/>
          </p:cNvPicPr>
          <p:nvPr/>
        </p:nvPicPr>
        <p:blipFill>
          <a:blip r:embed="rId11"/>
          <a:stretch>
            <a:fillRect/>
          </a:stretch>
        </p:blipFill>
        <p:spPr>
          <a:xfrm>
            <a:off x="7120890" y="3666744"/>
            <a:ext cx="530352" cy="530352"/>
          </a:xfrm>
          <a:prstGeom prst="rect">
            <a:avLst/>
          </a:prstGeom>
        </p:spPr>
      </p:pic>
      <p:sp>
        <p:nvSpPr>
          <p:cNvPr id="38" name="Text 25"/>
          <p:cNvSpPr txBox="1"/>
          <p:nvPr/>
        </p:nvSpPr>
        <p:spPr>
          <a:xfrm>
            <a:off x="7120890"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39" name="Rule"/>
          <p:cNvSpPr/>
          <p:nvPr/>
        </p:nvSpPr>
        <p:spPr>
          <a:xfrm>
            <a:off x="7386066" y="4197096"/>
            <a:ext cx="0" cy="448056"/>
          </a:xfrm>
          <a:prstGeom prst="line">
            <a:avLst/>
          </a:prstGeom>
          <a:noFill/>
          <a:ln w="12700">
            <a:solidFill>
              <a:schemeClr val="accent6"/>
            </a:solidFill>
            <a:prstDash val="solid"/>
          </a:ln>
        </p:spPr>
      </p:sp>
      <p:sp>
        <p:nvSpPr>
          <p:cNvPr id="40" name="Text 27"/>
          <p:cNvSpPr txBox="1"/>
          <p:nvPr/>
        </p:nvSpPr>
        <p:spPr>
          <a:xfrm>
            <a:off x="6704381" y="4681728"/>
            <a:ext cx="1363370" cy="749808"/>
          </a:xfrm>
          <a:prstGeom prst="rect">
            <a:avLst/>
          </a:prstGeom>
          <a:noFill/>
          <a:ln/>
        </p:spPr>
        <p:txBody>
          <a:bodyPr wrap="square" lIns="0" tIns="0" rIns="0" bIns="0" rtlCol="0" anchor="t"/>
          <a:lstStyle/>
          <a:p>
            <a:pPr algn="ctr" indent="0" marL="0">
              <a:buNone/>
            </a:pPr>
            <a:r>
              <a:rPr lang="en-US" sz="1300" b="1" dirty="0">
                <a:solidFill>
                  <a:schemeClr val="tx1"/>
                </a:solidFill>
              </a:rPr>
              <a:t>Data Refresh &amp; RLS</a:t>
            </a:r>
            <a:endParaRPr lang="en-US" sz="1300" dirty="0"/>
          </a:p>
        </p:txBody>
      </p:sp>
      <p:pic>
        <p:nvPicPr>
          <p:cNvPr id="41" name="NumBadge" descr="preencoded.png">    </p:cNvPr>
          <p:cNvPicPr>
            <a:picLocks noChangeAspect="1"/>
          </p:cNvPicPr>
          <p:nvPr/>
        </p:nvPicPr>
        <p:blipFill>
          <a:blip r:embed="rId12"/>
          <a:stretch>
            <a:fillRect/>
          </a:stretch>
        </p:blipFill>
        <p:spPr>
          <a:xfrm>
            <a:off x="7857439" y="3666744"/>
            <a:ext cx="530352" cy="530352"/>
          </a:xfrm>
          <a:prstGeom prst="rect">
            <a:avLst/>
          </a:prstGeom>
        </p:spPr>
      </p:pic>
      <p:sp>
        <p:nvSpPr>
          <p:cNvPr id="42" name="Text 28"/>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7</a:t>
            </a:r>
            <a:endParaRPr lang="en-US" sz="1400" dirty="0"/>
          </a:p>
        </p:txBody>
      </p:sp>
      <p:sp>
        <p:nvSpPr>
          <p:cNvPr id="43" name="Rule"/>
          <p:cNvSpPr/>
          <p:nvPr/>
        </p:nvSpPr>
        <p:spPr>
          <a:xfrm>
            <a:off x="8122615" y="3218688"/>
            <a:ext cx="0" cy="448056"/>
          </a:xfrm>
          <a:prstGeom prst="line">
            <a:avLst/>
          </a:prstGeom>
          <a:noFill/>
          <a:ln w="12700">
            <a:solidFill>
              <a:schemeClr val="accent6"/>
            </a:solidFill>
            <a:prstDash val="solid"/>
          </a:ln>
        </p:spPr>
      </p:sp>
      <p:sp>
        <p:nvSpPr>
          <p:cNvPr id="44" name="Text 30"/>
          <p:cNvSpPr txBox="1"/>
          <p:nvPr/>
        </p:nvSpPr>
        <p:spPr>
          <a:xfrm>
            <a:off x="7440930" y="2450592"/>
            <a:ext cx="1363370" cy="749808"/>
          </a:xfrm>
          <a:prstGeom prst="rect">
            <a:avLst/>
          </a:prstGeom>
          <a:noFill/>
          <a:ln/>
        </p:spPr>
        <p:txBody>
          <a:bodyPr wrap="square" lIns="0" tIns="0" rIns="0" bIns="0" rtlCol="0" anchor="b"/>
          <a:lstStyle/>
          <a:p>
            <a:pPr algn="ctr" indent="0" marL="0">
              <a:buNone/>
            </a:pPr>
            <a:r>
              <a:rPr lang="en-US" sz="1300" b="1" dirty="0">
                <a:solidFill>
                  <a:schemeClr val="tx1"/>
                </a:solidFill>
              </a:rPr>
              <a:t>UAT &amp; Go-Live</a:t>
            </a:r>
            <a:endParaRPr lang="en-US" sz="1300" dirty="0"/>
          </a:p>
        </p:txBody>
      </p:sp>
      <p:sp>
        <p:nvSpPr>
          <p:cNvPr id="45" name="Note"/>
          <p:cNvSpPr/>
          <p:nvPr/>
        </p:nvSpPr>
        <p:spPr>
          <a:xfrm>
            <a:off x="3246120" y="5559552"/>
            <a:ext cx="5333695" cy="411480"/>
          </a:xfrm>
          <a:prstGeom prst="roundRect">
            <a:avLst>
              <a:gd name="adj" fmla="val 17778"/>
            </a:avLst>
          </a:prstGeom>
          <a:solidFill>
            <a:schemeClr val="bg2"/>
          </a:solidFill>
          <a:ln/>
        </p:spPr>
      </p:sp>
      <p:sp>
        <p:nvSpPr>
          <p:cNvPr id="46" name="Text 32"/>
          <p:cNvSpPr txBox="1"/>
          <p:nvPr/>
        </p:nvSpPr>
        <p:spPr>
          <a:xfrm>
            <a:off x="3246120" y="5559552"/>
            <a:ext cx="5333695" cy="411480"/>
          </a:xfrm>
          <a:prstGeom prst="rect">
            <a:avLst/>
          </a:prstGeom>
          <a:noFill/>
          <a:ln/>
        </p:spPr>
        <p:txBody>
          <a:bodyPr wrap="square" lIns="0" tIns="0" rIns="0" bIns="0" rtlCol="0" anchor="ctr"/>
          <a:lstStyle/>
          <a:p>
            <a:pPr algn="ctr" indent="0" marL="0">
              <a:buNone/>
            </a:pPr>
            <a:r>
              <a:rPr lang="en-US" sz="1200" b="1" dirty="0">
                <a:solidFill>
                  <a:schemeClr val="accent2"/>
                </a:solidFill>
              </a:rPr>
              <a:t>Waterfall or Agile delivery models</a:t>
            </a:r>
            <a:endParaRPr lang="en-US" sz="1200" dirty="0"/>
          </a:p>
        </p:txBody>
      </p:sp>
      <p:pic>
        <p:nvPicPr>
          <p:cNvPr id="47" name="Card" descr="preencoded.png">    </p:cNvPr>
          <p:cNvPicPr>
            <a:picLocks noChangeAspect="1"/>
          </p:cNvPicPr>
          <p:nvPr/>
        </p:nvPicPr>
        <p:blipFill>
          <a:blip r:embed="rId13"/>
          <a:stretch>
            <a:fillRect/>
          </a:stretch>
        </p:blipFill>
        <p:spPr>
          <a:xfrm>
            <a:off x="8844991" y="1362456"/>
            <a:ext cx="2990088" cy="5001768"/>
          </a:xfrm>
          <a:prstGeom prst="rect">
            <a:avLst/>
          </a:prstGeom>
        </p:spPr>
      </p:pic>
      <p:sp>
        <p:nvSpPr>
          <p:cNvPr id="48" name="Pill"/>
          <p:cNvSpPr/>
          <p:nvPr/>
        </p:nvSpPr>
        <p:spPr>
          <a:xfrm>
            <a:off x="9219895" y="1764792"/>
            <a:ext cx="1554480" cy="310896"/>
          </a:xfrm>
          <a:prstGeom prst="roundRect">
            <a:avLst>
              <a:gd name="adj" fmla="val 50000"/>
            </a:avLst>
          </a:prstGeom>
          <a:solidFill>
            <a:schemeClr val="accent1"/>
          </a:solidFill>
          <a:ln/>
        </p:spPr>
      </p:sp>
      <p:sp>
        <p:nvSpPr>
          <p:cNvPr id="49" name="Text 34"/>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VALUE PHASE</a:t>
            </a:r>
            <a:endParaRPr lang="en-US" sz="900" dirty="0"/>
          </a:p>
        </p:txBody>
      </p:sp>
      <p:sp>
        <p:nvSpPr>
          <p:cNvPr id="50" name="Text 35"/>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900" b="1" dirty="0">
                <a:solidFill>
                  <a:schemeClr val="bg1"/>
                </a:solidFill>
              </a:rPr>
              <a:t>SAPM Model</a:t>
            </a:r>
            <a:endParaRPr lang="en-US" sz="1900" dirty="0"/>
          </a:p>
        </p:txBody>
      </p:sp>
      <p:sp>
        <p:nvSpPr>
          <p:cNvPr id="51" name="ValueItem"/>
          <p:cNvSpPr/>
          <p:nvPr/>
        </p:nvSpPr>
        <p:spPr>
          <a:xfrm>
            <a:off x="9219895" y="2880360"/>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2" name="Icon" descr="preencoded.png">    </p:cNvPr>
          <p:cNvPicPr>
            <a:picLocks noChangeAspect="1"/>
          </p:cNvPicPr>
          <p:nvPr/>
        </p:nvPicPr>
        <p:blipFill>
          <a:blip r:embed="rId14"/>
          <a:stretch>
            <a:fillRect/>
          </a:stretch>
        </p:blipFill>
        <p:spPr>
          <a:xfrm>
            <a:off x="9357055" y="3044952"/>
            <a:ext cx="237744" cy="237744"/>
          </a:xfrm>
          <a:prstGeom prst="rect">
            <a:avLst/>
          </a:prstGeom>
        </p:spPr>
      </p:pic>
      <p:sp>
        <p:nvSpPr>
          <p:cNvPr id="53" name="Text 37"/>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Standard Maintenance</a:t>
            </a:r>
            <a:endParaRPr lang="en-US" sz="1400" dirty="0"/>
          </a:p>
        </p:txBody>
      </p:sp>
      <p:sp>
        <p:nvSpPr>
          <p:cNvPr id="54" name="ValueItem"/>
          <p:cNvSpPr/>
          <p:nvPr/>
        </p:nvSpPr>
        <p:spPr>
          <a:xfrm>
            <a:off x="9219895" y="3575304"/>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5" name="Icon" descr="preencoded.png">    </p:cNvPr>
          <p:cNvPicPr>
            <a:picLocks noChangeAspect="1"/>
          </p:cNvPicPr>
          <p:nvPr/>
        </p:nvPicPr>
        <p:blipFill>
          <a:blip r:embed="rId15"/>
          <a:stretch>
            <a:fillRect/>
          </a:stretch>
        </p:blipFill>
        <p:spPr>
          <a:xfrm>
            <a:off x="9357055" y="3739896"/>
            <a:ext cx="237744" cy="237744"/>
          </a:xfrm>
          <a:prstGeom prst="rect">
            <a:avLst/>
          </a:prstGeom>
        </p:spPr>
      </p:pic>
      <p:sp>
        <p:nvSpPr>
          <p:cNvPr id="56" name="Text 39"/>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New Visuals Add-ons</a:t>
            </a:r>
            <a:endParaRPr lang="en-US" sz="1400" dirty="0"/>
          </a:p>
        </p:txBody>
      </p:sp>
      <p:sp>
        <p:nvSpPr>
          <p:cNvPr id="57" name="ValueItem"/>
          <p:cNvSpPr/>
          <p:nvPr/>
        </p:nvSpPr>
        <p:spPr>
          <a:xfrm>
            <a:off x="9219895" y="4270248"/>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8" name="Icon" descr="preencoded.png">    </p:cNvPr>
          <p:cNvPicPr>
            <a:picLocks noChangeAspect="1"/>
          </p:cNvPicPr>
          <p:nvPr/>
        </p:nvPicPr>
        <p:blipFill>
          <a:blip r:embed="rId16"/>
          <a:stretch>
            <a:fillRect/>
          </a:stretch>
        </p:blipFill>
        <p:spPr>
          <a:xfrm>
            <a:off x="9357055" y="4434840"/>
            <a:ext cx="237744" cy="237744"/>
          </a:xfrm>
          <a:prstGeom prst="rect">
            <a:avLst/>
          </a:prstGeom>
        </p:spPr>
      </p:pic>
      <p:sp>
        <p:nvSpPr>
          <p:cNvPr id="59" name="Text 41"/>
          <p:cNvSpPr txBox="1"/>
          <p:nvPr/>
        </p:nvSpPr>
        <p:spPr>
          <a:xfrm>
            <a:off x="9704527" y="4270248"/>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New Analysis</a:t>
            </a:r>
            <a:endParaRPr lang="en-US" sz="1400" dirty="0"/>
          </a:p>
        </p:txBody>
      </p:sp>
      <p:sp>
        <p:nvSpPr>
          <p:cNvPr id="60" name="ValueItem"/>
          <p:cNvSpPr/>
          <p:nvPr/>
        </p:nvSpPr>
        <p:spPr>
          <a:xfrm>
            <a:off x="9219895" y="4965192"/>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61" name="Icon" descr="preencoded.png">    </p:cNvPr>
          <p:cNvPicPr>
            <a:picLocks noChangeAspect="1"/>
          </p:cNvPicPr>
          <p:nvPr/>
        </p:nvPicPr>
        <p:blipFill>
          <a:blip r:embed="rId17"/>
          <a:stretch>
            <a:fillRect/>
          </a:stretch>
        </p:blipFill>
        <p:spPr>
          <a:xfrm>
            <a:off x="9357055" y="5129784"/>
            <a:ext cx="237744" cy="237744"/>
          </a:xfrm>
          <a:prstGeom prst="rect">
            <a:avLst/>
          </a:prstGeom>
        </p:spPr>
      </p:pic>
      <p:sp>
        <p:nvSpPr>
          <p:cNvPr id="62" name="Text 43"/>
          <p:cNvSpPr txBox="1"/>
          <p:nvPr/>
        </p:nvSpPr>
        <p:spPr>
          <a:xfrm>
            <a:off x="9704527" y="4965192"/>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Monthly Insights</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Data Science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pic>
        <p:nvPicPr>
          <p:cNvPr id="4"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5"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6" name="Text 2"/>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tx1"/>
                </a:solidFill>
              </a:rPr>
              <a:t>Services</a:t>
            </a:r>
            <a:endParaRPr lang="en-US" sz="2000" dirty="0"/>
          </a:p>
        </p:txBody>
      </p:sp>
      <p:sp>
        <p:nvSpPr>
          <p:cNvPr id="7" name="Text 3"/>
          <p:cNvSpPr txBox="1"/>
          <p:nvPr/>
        </p:nvSpPr>
        <p:spPr>
          <a:xfrm>
            <a:off x="777240" y="2514600"/>
            <a:ext cx="2834640" cy="2697480"/>
          </a:xfrm>
          <a:prstGeom prst="rect">
            <a:avLst/>
          </a:prstGeom>
          <a:noFill/>
          <a:ln/>
        </p:spPr>
        <p:txBody>
          <a:bodyPr wrap="square" lIns="0" tIns="0" rIns="0" bIns="0" rtlCol="0" anchor="t"/>
          <a:lstStyle/>
          <a:p>
            <a:pPr marL="203200" indent="-203200">
              <a:spcAft>
                <a:spcPts val="900"/>
              </a:spcAft>
              <a:buClr>
                <a:srgbClr val="F7941E"/>
              </a:buClr>
              <a:buSzPct val="100000"/>
              <a:buChar char="✓"/>
            </a:pPr>
            <a:r>
              <a:rPr lang="en-US" sz="1400" dirty="0">
                <a:solidFill>
                  <a:schemeClr val="tx1"/>
                </a:solidFill>
              </a:rPr>
              <a:t>Data enrichment and capture through web scraping</a:t>
            </a:r>
            <a:endParaRPr lang="en-US" sz="1400" dirty="0"/>
          </a:p>
          <a:p>
            <a:pPr marL="203200" indent="-203200">
              <a:spcAft>
                <a:spcPts val="900"/>
              </a:spcAft>
              <a:buClr>
                <a:srgbClr val="F7941E"/>
              </a:buClr>
              <a:buSzPct val="100000"/>
              <a:buChar char="✓"/>
            </a:pPr>
            <a:r>
              <a:rPr lang="en-US" sz="1400" dirty="0">
                <a:solidFill>
                  <a:schemeClr val="tx1"/>
                </a:solidFill>
              </a:rPr>
              <a:t>Azure ML models</a:t>
            </a:r>
            <a:endParaRPr lang="en-US" sz="1400" dirty="0"/>
          </a:p>
          <a:p>
            <a:pPr marL="203200" indent="-203200">
              <a:spcAft>
                <a:spcPts val="900"/>
              </a:spcAft>
              <a:buClr>
                <a:srgbClr val="F7941E"/>
              </a:buClr>
              <a:buSzPct val="100000"/>
              <a:buChar char="✓"/>
            </a:pPr>
            <a:r>
              <a:rPr lang="en-US" sz="1400" dirty="0">
                <a:solidFill>
                  <a:schemeClr val="tx1"/>
                </a:solidFill>
              </a:rPr>
              <a:t>Custom ML models using Python</a:t>
            </a:r>
            <a:endParaRPr lang="en-US" sz="1400" dirty="0"/>
          </a:p>
          <a:p>
            <a:pPr marL="203200" indent="-203200">
              <a:spcAft>
                <a:spcPts val="900"/>
              </a:spcAft>
              <a:buClr>
                <a:srgbClr val="F7941E"/>
              </a:buClr>
              <a:buSzPct val="100000"/>
              <a:buChar char="✓"/>
            </a:pPr>
            <a:r>
              <a:rPr lang="en-US" sz="1400" dirty="0">
                <a:solidFill>
                  <a:schemeClr val="tx1"/>
                </a:solidFill>
              </a:rPr>
              <a:t>Python programming for data wrangling</a:t>
            </a:r>
            <a:endParaRPr lang="en-US" sz="1400" dirty="0"/>
          </a:p>
          <a:p>
            <a:pPr marL="203200" indent="-203200">
              <a:spcAft>
                <a:spcPts val="900"/>
              </a:spcAft>
              <a:buClr>
                <a:srgbClr val="F7941E"/>
              </a:buClr>
              <a:buSzPct val="100000"/>
              <a:buChar char="✓"/>
            </a:pPr>
            <a:r>
              <a:rPr lang="en-US" sz="1400" dirty="0">
                <a:solidFill>
                  <a:schemeClr val="tx1"/>
                </a:solidFill>
              </a:rPr>
              <a:t>Auto Insight generation (Data Product)</a:t>
            </a:r>
            <a:endParaRPr lang="en-US" sz="1400" dirty="0"/>
          </a:p>
        </p:txBody>
      </p:sp>
      <p:sp>
        <p:nvSpPr>
          <p:cNvPr id="8" name="Text 4"/>
          <p:cNvSpPr txBox="1"/>
          <p:nvPr/>
        </p:nvSpPr>
        <p:spPr>
          <a:xfrm>
            <a:off x="3886200" y="2514600"/>
            <a:ext cx="2834640" cy="2697480"/>
          </a:xfrm>
          <a:prstGeom prst="rect">
            <a:avLst/>
          </a:prstGeom>
          <a:noFill/>
          <a:ln/>
        </p:spPr>
        <p:txBody>
          <a:bodyPr wrap="square" lIns="0" tIns="0" rIns="0" bIns="0" rtlCol="0" anchor="t"/>
          <a:lstStyle/>
          <a:p>
            <a:pPr marL="203200" indent="-203200">
              <a:spcAft>
                <a:spcPts val="900"/>
              </a:spcAft>
              <a:buClr>
                <a:srgbClr val="F7941E"/>
              </a:buClr>
              <a:buSzPct val="100000"/>
              <a:buChar char="✓"/>
            </a:pPr>
            <a:r>
              <a:rPr lang="en-US" sz="1400" dirty="0">
                <a:solidFill>
                  <a:schemeClr val="tx1"/>
                </a:solidFill>
              </a:rPr>
              <a:t>Auto reports through email / MS Teams channel (Data Product)</a:t>
            </a:r>
            <a:endParaRPr lang="en-US" sz="1400" dirty="0"/>
          </a:p>
          <a:p>
            <a:pPr marL="203200" indent="-203200">
              <a:spcAft>
                <a:spcPts val="900"/>
              </a:spcAft>
              <a:buClr>
                <a:srgbClr val="F7941E"/>
              </a:buClr>
              <a:buSzPct val="100000"/>
              <a:buChar char="✓"/>
            </a:pPr>
            <a:r>
              <a:rPr lang="en-US" sz="1400" dirty="0">
                <a:solidFill>
                  <a:schemeClr val="tx1"/>
                </a:solidFill>
              </a:rPr>
              <a:t>Auto stories generation in PPT format (Data Product)</a:t>
            </a:r>
            <a:endParaRPr lang="en-US" sz="1400" dirty="0"/>
          </a:p>
          <a:p>
            <a:pPr marL="203200" indent="-203200">
              <a:spcAft>
                <a:spcPts val="900"/>
              </a:spcAft>
              <a:buClr>
                <a:srgbClr val="F7941E"/>
              </a:buClr>
              <a:buSzPct val="100000"/>
              <a:buChar char="✓"/>
            </a:pPr>
            <a:r>
              <a:rPr lang="en-US" sz="1400" dirty="0">
                <a:solidFill>
                  <a:schemeClr val="tx1"/>
                </a:solidFill>
              </a:rPr>
              <a:t>Gen AI / LLM – Bots + Data Products</a:t>
            </a:r>
            <a:endParaRPr lang="en-US" sz="1400" dirty="0"/>
          </a:p>
          <a:p>
            <a:pPr marL="203200" indent="-203200">
              <a:spcAft>
                <a:spcPts val="900"/>
              </a:spcAft>
              <a:buClr>
                <a:srgbClr val="F7941E"/>
              </a:buClr>
              <a:buSzPct val="100000"/>
              <a:buChar char="✓"/>
            </a:pPr>
            <a:r>
              <a:rPr lang="en-US" sz="1400" dirty="0">
                <a:solidFill>
                  <a:schemeClr val="tx1"/>
                </a:solidFill>
              </a:rPr>
              <a:t>Agentic AI</a:t>
            </a:r>
            <a:endParaRPr lang="en-US" sz="1400" dirty="0"/>
          </a:p>
        </p:txBody>
      </p:sp>
      <p:pic>
        <p:nvPicPr>
          <p:cNvPr id="9" name="Card" descr="preencoded.png">    </p:cNvPr>
          <p:cNvPicPr>
            <a:picLocks noChangeAspect="1"/>
          </p:cNvPicPr>
          <p:nvPr/>
        </p:nvPicPr>
        <p:blipFill>
          <a:blip r:embed="rId3"/>
          <a:stretch>
            <a:fillRect/>
          </a:stretch>
        </p:blipFill>
        <p:spPr>
          <a:xfrm>
            <a:off x="7050024" y="1362456"/>
            <a:ext cx="4785055" cy="4178808"/>
          </a:xfrm>
          <a:prstGeom prst="rect">
            <a:avLst/>
          </a:prstGeom>
        </p:spPr>
      </p:pic>
      <p:pic>
        <p:nvPicPr>
          <p:cNvPr id="10" name="Badge" descr="preencoded.png">    </p:cNvPr>
          <p:cNvPicPr>
            <a:picLocks noChangeAspect="1"/>
          </p:cNvPicPr>
          <p:nvPr/>
        </p:nvPicPr>
        <p:blipFill>
          <a:blip r:embed="rId4"/>
          <a:stretch>
            <a:fillRect/>
          </a:stretch>
        </p:blipFill>
        <p:spPr>
          <a:xfrm>
            <a:off x="7470648" y="1764792"/>
            <a:ext cx="530352" cy="530352"/>
          </a:xfrm>
          <a:prstGeom prst="rect">
            <a:avLst/>
          </a:prstGeom>
        </p:spPr>
      </p:pic>
      <p:sp>
        <p:nvSpPr>
          <p:cNvPr id="11" name="Text 5"/>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2" name="Text 6"/>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Data Products</a:t>
            </a:r>
            <a:endParaRPr lang="en-US" sz="1400" dirty="0"/>
          </a:p>
          <a:p>
            <a:pPr indent="0" marL="0">
              <a:spcAft>
                <a:spcPts val="1200"/>
              </a:spcAft>
              <a:buNone/>
            </a:pPr>
            <a:r>
              <a:rPr lang="en-US" sz="1400" dirty="0">
                <a:solidFill>
                  <a:schemeClr val="bg1"/>
                </a:solidFill>
              </a:rPr>
              <a:t>SaaS offerings with subscription models.</a:t>
            </a:r>
            <a:endParaRPr lang="en-US" sz="1400" dirty="0"/>
          </a:p>
          <a:p>
            <a:pPr marL="177800" indent="-177800">
              <a:buClr>
                <a:srgbClr val="F7941E"/>
              </a:buClr>
              <a:buSzPct val="100000"/>
              <a:buChar char="▸"/>
            </a:pPr>
            <a:r>
              <a:rPr lang="en-US" sz="1400" b="1" dirty="0">
                <a:solidFill>
                  <a:schemeClr val="accent3"/>
                </a:solidFill>
              </a:rPr>
              <a:t>For Services – Monthly Engagement Model</a:t>
            </a:r>
            <a:endParaRPr lang="en-US" sz="1400" dirty="0"/>
          </a:p>
          <a:p>
            <a:pPr indent="0" marL="0">
              <a:spcAft>
                <a:spcPts val="1200"/>
              </a:spcAft>
              <a:buNone/>
            </a:pPr>
            <a:r>
              <a:rPr lang="en-US" sz="1400" dirty="0">
                <a:solidFill>
                  <a:schemeClr val="bg1"/>
                </a:solidFill>
              </a:rPr>
              <a:t>Based on the objective, a predefined set of teams is deployed at a fixed monthly cost.</a:t>
            </a:r>
            <a:endParaRPr lang="en-US" sz="1400" dirty="0"/>
          </a:p>
        </p:txBody>
      </p:sp>
      <p:sp>
        <p:nvSpPr>
          <p:cNvPr id="13" name="Text 7"/>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14" name="Card" descr="preencoded.png">    </p:cNvPr>
          <p:cNvPicPr>
            <a:picLocks noChangeAspect="1"/>
          </p:cNvPicPr>
          <p:nvPr/>
        </p:nvPicPr>
        <p:blipFill>
          <a:blip r:embed="rId5"/>
          <a:stretch>
            <a:fillRect/>
          </a:stretch>
        </p:blipFill>
        <p:spPr>
          <a:xfrm>
            <a:off x="1819656" y="5431536"/>
            <a:ext cx="2127443" cy="950976"/>
          </a:xfrm>
          <a:prstGeom prst="rect">
            <a:avLst/>
          </a:prstGeom>
        </p:spPr>
      </p:pic>
      <p:pic>
        <p:nvPicPr>
          <p:cNvPr id="15" name="Logo" descr="/tmp/claude-0/-home-user-ad-gallery/7fc27a5a-8417-58c4-b3ff-7a7825ba0161/scratchpad/assets/s23_04.png">    </p:cNvPr>
          <p:cNvPicPr>
            <a:picLocks noChangeAspect="1"/>
          </p:cNvPicPr>
          <p:nvPr/>
        </p:nvPicPr>
        <p:blipFill>
          <a:blip r:embed="rId6"/>
          <a:stretch>
            <a:fillRect/>
          </a:stretch>
        </p:blipFill>
        <p:spPr>
          <a:xfrm>
            <a:off x="2312792" y="5687568"/>
            <a:ext cx="1141171" cy="438912"/>
          </a:xfrm>
          <a:prstGeom prst="rect">
            <a:avLst/>
          </a:prstGeom>
        </p:spPr>
      </p:pic>
      <p:pic>
        <p:nvPicPr>
          <p:cNvPr id="16" name="Card" descr="preencoded.png">    </p:cNvPr>
          <p:cNvPicPr>
            <a:picLocks noChangeAspect="1"/>
          </p:cNvPicPr>
          <p:nvPr/>
        </p:nvPicPr>
        <p:blipFill>
          <a:blip r:embed="rId7"/>
          <a:stretch>
            <a:fillRect/>
          </a:stretch>
        </p:blipFill>
        <p:spPr>
          <a:xfrm>
            <a:off x="3791651" y="5431536"/>
            <a:ext cx="2127443" cy="950976"/>
          </a:xfrm>
          <a:prstGeom prst="rect">
            <a:avLst/>
          </a:prstGeom>
        </p:spPr>
      </p:pic>
      <p:pic>
        <p:nvPicPr>
          <p:cNvPr id="17" name="Logo" descr="/tmp/claude-0/-home-user-ad-gallery/7fc27a5a-8417-58c4-b3ff-7a7825ba0161/scratchpad/assets/s23_00.png">    </p:cNvPr>
          <p:cNvPicPr>
            <a:picLocks noChangeAspect="1"/>
          </p:cNvPicPr>
          <p:nvPr/>
        </p:nvPicPr>
        <p:blipFill>
          <a:blip r:embed="rId8"/>
          <a:stretch>
            <a:fillRect/>
          </a:stretch>
        </p:blipFill>
        <p:spPr>
          <a:xfrm>
            <a:off x="4149978" y="5687568"/>
            <a:ext cx="1410789" cy="438912"/>
          </a:xfrm>
          <a:prstGeom prst="rect">
            <a:avLst/>
          </a:prstGeom>
        </p:spPr>
      </p:pic>
      <p:pic>
        <p:nvPicPr>
          <p:cNvPr id="18" name="Card" descr="preencoded.png">    </p:cNvPr>
          <p:cNvPicPr>
            <a:picLocks noChangeAspect="1"/>
          </p:cNvPicPr>
          <p:nvPr/>
        </p:nvPicPr>
        <p:blipFill>
          <a:blip r:embed="rId9"/>
          <a:stretch>
            <a:fillRect/>
          </a:stretch>
        </p:blipFill>
        <p:spPr>
          <a:xfrm>
            <a:off x="5763646" y="5431536"/>
            <a:ext cx="2127443" cy="950976"/>
          </a:xfrm>
          <a:prstGeom prst="rect">
            <a:avLst/>
          </a:prstGeom>
        </p:spPr>
      </p:pic>
      <p:pic>
        <p:nvPicPr>
          <p:cNvPr id="19" name="Logo" descr="/tmp/claude-0/-home-user-ad-gallery/7fc27a5a-8417-58c4-b3ff-7a7825ba0161/scratchpad/assets/s23_03.png">    </p:cNvPr>
          <p:cNvPicPr>
            <a:picLocks noChangeAspect="1"/>
          </p:cNvPicPr>
          <p:nvPr/>
        </p:nvPicPr>
        <p:blipFill>
          <a:blip r:embed="rId10"/>
          <a:stretch>
            <a:fillRect/>
          </a:stretch>
        </p:blipFill>
        <p:spPr>
          <a:xfrm>
            <a:off x="6436788" y="5687568"/>
            <a:ext cx="781159" cy="438912"/>
          </a:xfrm>
          <a:prstGeom prst="rect">
            <a:avLst/>
          </a:prstGeom>
        </p:spPr>
      </p:pic>
      <p:pic>
        <p:nvPicPr>
          <p:cNvPr id="20" name="Card" descr="preencoded.png">    </p:cNvPr>
          <p:cNvPicPr>
            <a:picLocks noChangeAspect="1"/>
          </p:cNvPicPr>
          <p:nvPr/>
        </p:nvPicPr>
        <p:blipFill>
          <a:blip r:embed="rId11"/>
          <a:stretch>
            <a:fillRect/>
          </a:stretch>
        </p:blipFill>
        <p:spPr>
          <a:xfrm>
            <a:off x="7735641" y="5431536"/>
            <a:ext cx="2127443" cy="950976"/>
          </a:xfrm>
          <a:prstGeom prst="rect">
            <a:avLst/>
          </a:prstGeom>
        </p:spPr>
      </p:pic>
      <p:pic>
        <p:nvPicPr>
          <p:cNvPr id="21" name="Logo" descr="/tmp/claude-0/-home-user-ad-gallery/7fc27a5a-8417-58c4-b3ff-7a7825ba0161/scratchpad/assets/s23_02.png">    </p:cNvPr>
          <p:cNvPicPr>
            <a:picLocks noChangeAspect="1"/>
          </p:cNvPicPr>
          <p:nvPr/>
        </p:nvPicPr>
        <p:blipFill>
          <a:blip r:embed="rId12"/>
          <a:stretch>
            <a:fillRect/>
          </a:stretch>
        </p:blipFill>
        <p:spPr>
          <a:xfrm>
            <a:off x="8381992" y="5687568"/>
            <a:ext cx="834741" cy="438912"/>
          </a:xfrm>
          <a:prstGeom prst="rect">
            <a:avLst/>
          </a:prstGeom>
        </p:spPr>
      </p:pic>
      <p:pic>
        <p:nvPicPr>
          <p:cNvPr id="22" name="Card" descr="preencoded.png">    </p:cNvPr>
          <p:cNvPicPr>
            <a:picLocks noChangeAspect="1"/>
          </p:cNvPicPr>
          <p:nvPr/>
        </p:nvPicPr>
        <p:blipFill>
          <a:blip r:embed="rId13"/>
          <a:stretch>
            <a:fillRect/>
          </a:stretch>
        </p:blipFill>
        <p:spPr>
          <a:xfrm>
            <a:off x="9707636" y="5431536"/>
            <a:ext cx="2127443" cy="950976"/>
          </a:xfrm>
          <a:prstGeom prst="rect">
            <a:avLst/>
          </a:prstGeom>
        </p:spPr>
      </p:pic>
      <p:pic>
        <p:nvPicPr>
          <p:cNvPr id="23" name="Logo" descr="/tmp/claude-0/-home-user-ad-gallery/7fc27a5a-8417-58c4-b3ff-7a7825ba0161/scratchpad/assets/s23_01.png">    </p:cNvPr>
          <p:cNvPicPr>
            <a:picLocks noChangeAspect="1"/>
          </p:cNvPicPr>
          <p:nvPr/>
        </p:nvPicPr>
        <p:blipFill>
          <a:blip r:embed="rId14"/>
          <a:stretch>
            <a:fillRect/>
          </a:stretch>
        </p:blipFill>
        <p:spPr>
          <a:xfrm>
            <a:off x="10261384" y="5687568"/>
            <a:ext cx="1019948"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Data Science Approach</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sp>
        <p:nvSpPr>
          <p:cNvPr id="4" name="Text 2"/>
          <p:cNvSpPr txBox="1"/>
          <p:nvPr/>
        </p:nvSpPr>
        <p:spPr>
          <a:xfrm>
            <a:off x="4407408" y="1371600"/>
            <a:ext cx="7333488" cy="292608"/>
          </a:xfrm>
          <a:prstGeom prst="rect">
            <a:avLst/>
          </a:prstGeom>
          <a:noFill/>
          <a:ln/>
        </p:spPr>
        <p:txBody>
          <a:bodyPr wrap="square" lIns="0" tIns="0" rIns="0" bIns="0" rtlCol="0" anchor="ctr"/>
          <a:lstStyle/>
          <a:p>
            <a:pPr algn="ctr" indent="0" marL="0">
              <a:buNone/>
            </a:pPr>
            <a:r>
              <a:rPr lang="en-US" sz="1200" b="1" dirty="0">
                <a:solidFill>
                  <a:schemeClr val="accent1"/>
                </a:solidFill>
              </a:rPr>
              <a:t>⇄  </a:t>
            </a:r>
            <a:pPr algn="ctr" indent="0" marL="0">
              <a:buNone/>
            </a:pPr>
            <a:r>
              <a:rPr lang="en-US" sz="1200" dirty="0">
                <a:solidFill>
                  <a:schemeClr val="accent5"/>
                </a:solidFill>
              </a:rPr>
              <a:t>Iterative feedback loop between Modelling and Data Engineering</a:t>
            </a:r>
            <a:endParaRPr lang="en-US" sz="1200" dirty="0"/>
          </a:p>
        </p:txBody>
      </p:sp>
      <p:pic>
        <p:nvPicPr>
          <p:cNvPr id="5" name="Card" descr="preencoded.png">    </p:cNvPr>
          <p:cNvPicPr>
            <a:picLocks noChangeAspect="1"/>
          </p:cNvPicPr>
          <p:nvPr/>
        </p:nvPicPr>
        <p:blipFill>
          <a:blip r:embed="rId1"/>
          <a:stretch>
            <a:fillRect/>
          </a:stretch>
        </p:blipFill>
        <p:spPr>
          <a:xfrm>
            <a:off x="356616" y="1636776"/>
            <a:ext cx="3721608" cy="4727448"/>
          </a:xfrm>
          <a:prstGeom prst="rect">
            <a:avLst/>
          </a:prstGeom>
        </p:spPr>
      </p:pic>
      <p:pic>
        <p:nvPicPr>
          <p:cNvPr id="6" name="Badge" descr="preencoded.png">    </p:cNvPr>
          <p:cNvPicPr>
            <a:picLocks noChangeAspect="1"/>
          </p:cNvPicPr>
          <p:nvPr/>
        </p:nvPicPr>
        <p:blipFill>
          <a:blip r:embed="rId2"/>
          <a:stretch>
            <a:fillRect/>
          </a:stretch>
        </p:blipFill>
        <p:spPr>
          <a:xfrm>
            <a:off x="731520" y="2011680"/>
            <a:ext cx="566928" cy="566928"/>
          </a:xfrm>
          <a:prstGeom prst="rect">
            <a:avLst/>
          </a:prstGeom>
        </p:spPr>
      </p:pic>
      <p:sp>
        <p:nvSpPr>
          <p:cNvPr id="7" name="Text 3"/>
          <p:cNvSpPr txBox="1"/>
          <p:nvPr/>
        </p:nvSpPr>
        <p:spPr>
          <a:xfrm>
            <a:off x="1463040" y="1965960"/>
            <a:ext cx="2331720" cy="658368"/>
          </a:xfrm>
          <a:prstGeom prst="rect">
            <a:avLst/>
          </a:prstGeom>
          <a:noFill/>
          <a:ln/>
        </p:spPr>
        <p:txBody>
          <a:bodyPr wrap="square" lIns="0" tIns="0" rIns="0" bIns="0" rtlCol="0" anchor="ctr"/>
          <a:lstStyle/>
          <a:p>
            <a:pPr indent="0" marL="0">
              <a:buNone/>
            </a:pPr>
            <a:r>
              <a:rPr lang="en-US" sz="1000" b="1" spc="300" kern="0" dirty="0">
                <a:solidFill>
                  <a:schemeClr val="accent1"/>
                </a:solidFill>
              </a:rPr>
              <a:t>PHASE 01</a:t>
            </a:r>
            <a:endParaRPr lang="en-US" sz="1400" dirty="0"/>
          </a:p>
          <a:p>
            <a:pPr indent="0" marL="0">
              <a:buNone/>
            </a:pPr>
            <a:r>
              <a:rPr lang="en-US" sz="1800" b="1" dirty="0">
                <a:solidFill>
                  <a:schemeClr val="tx1"/>
                </a:solidFill>
              </a:rPr>
              <a:t>Business Use Case</a:t>
            </a:r>
            <a:endParaRPr lang="en-US" sz="1400" dirty="0"/>
          </a:p>
        </p:txBody>
      </p:sp>
      <p:sp>
        <p:nvSpPr>
          <p:cNvPr id="8" name="StepChip"/>
          <p:cNvSpPr/>
          <p:nvPr/>
        </p:nvSpPr>
        <p:spPr>
          <a:xfrm>
            <a:off x="731520" y="2834640"/>
            <a:ext cx="2971800" cy="365760"/>
          </a:xfrm>
          <a:prstGeom prst="roundRect">
            <a:avLst>
              <a:gd name="adj" fmla="val 15000"/>
            </a:avLst>
          </a:prstGeom>
          <a:solidFill>
            <a:schemeClr val="bg2"/>
          </a:solidFill>
          <a:ln w="9525">
            <a:solidFill>
              <a:schemeClr val="accent6"/>
            </a:solidFill>
            <a:prstDash val="solid"/>
          </a:ln>
        </p:spPr>
      </p:sp>
      <p:sp>
        <p:nvSpPr>
          <p:cNvPr id="9" name="Text 5"/>
          <p:cNvSpPr txBox="1"/>
          <p:nvPr/>
        </p:nvSpPr>
        <p:spPr>
          <a:xfrm>
            <a:off x="886968" y="28346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Business Objective</a:t>
            </a:r>
            <a:endParaRPr lang="en-US" sz="1300" dirty="0"/>
          </a:p>
        </p:txBody>
      </p:sp>
      <p:sp>
        <p:nvSpPr>
          <p:cNvPr id="10" name="StepChip"/>
          <p:cNvSpPr/>
          <p:nvPr/>
        </p:nvSpPr>
        <p:spPr>
          <a:xfrm>
            <a:off x="731520" y="3291840"/>
            <a:ext cx="2971800" cy="365760"/>
          </a:xfrm>
          <a:prstGeom prst="roundRect">
            <a:avLst>
              <a:gd name="adj" fmla="val 15000"/>
            </a:avLst>
          </a:prstGeom>
          <a:solidFill>
            <a:schemeClr val="bg2"/>
          </a:solidFill>
          <a:ln w="9525">
            <a:solidFill>
              <a:schemeClr val="accent6"/>
            </a:solidFill>
            <a:prstDash val="solid"/>
          </a:ln>
        </p:spPr>
      </p:sp>
      <p:sp>
        <p:nvSpPr>
          <p:cNvPr id="11" name="Text 7"/>
          <p:cNvSpPr txBox="1"/>
          <p:nvPr/>
        </p:nvSpPr>
        <p:spPr>
          <a:xfrm>
            <a:off x="886968" y="32918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Analytics Approach</a:t>
            </a:r>
            <a:endParaRPr lang="en-US" sz="1300" dirty="0"/>
          </a:p>
        </p:txBody>
      </p:sp>
      <p:sp>
        <p:nvSpPr>
          <p:cNvPr id="12" name="Rule"/>
          <p:cNvSpPr/>
          <p:nvPr/>
        </p:nvSpPr>
        <p:spPr>
          <a:xfrm>
            <a:off x="731520" y="4663440"/>
            <a:ext cx="2971800" cy="0"/>
          </a:xfrm>
          <a:prstGeom prst="line">
            <a:avLst/>
          </a:prstGeom>
          <a:noFill/>
          <a:ln w="12700">
            <a:solidFill>
              <a:schemeClr val="accent6"/>
            </a:solidFill>
            <a:prstDash val="solid"/>
          </a:ln>
        </p:spPr>
      </p:sp>
      <p:pic>
        <p:nvPicPr>
          <p:cNvPr id="13" name="Icon" descr="preencoded.png">    </p:cNvPr>
          <p:cNvPicPr>
            <a:picLocks noChangeAspect="1"/>
          </p:cNvPicPr>
          <p:nvPr/>
        </p:nvPicPr>
        <p:blipFill>
          <a:blip r:embed="rId3"/>
          <a:stretch>
            <a:fillRect/>
          </a:stretch>
        </p:blipFill>
        <p:spPr>
          <a:xfrm>
            <a:off x="731520" y="4800600"/>
            <a:ext cx="274320" cy="274320"/>
          </a:xfrm>
          <a:prstGeom prst="rect">
            <a:avLst/>
          </a:prstGeom>
        </p:spPr>
      </p:pic>
      <p:sp>
        <p:nvSpPr>
          <p:cNvPr id="14" name="Text 9"/>
          <p:cNvSpPr txBox="1"/>
          <p:nvPr/>
        </p:nvSpPr>
        <p:spPr>
          <a:xfrm>
            <a:off x="1097280" y="4800600"/>
            <a:ext cx="1828800" cy="274320"/>
          </a:xfrm>
          <a:prstGeom prst="rect">
            <a:avLst/>
          </a:prstGeom>
          <a:noFill/>
          <a:ln/>
        </p:spPr>
        <p:txBody>
          <a:bodyPr wrap="square" lIns="0" tIns="0" rIns="0" bIns="0" rtlCol="0" anchor="ctr"/>
          <a:lstStyle/>
          <a:p>
            <a:pPr indent="0" marL="0">
              <a:buNone/>
            </a:pPr>
            <a:r>
              <a:rPr lang="en-US" sz="1000" b="1" spc="300" kern="0" dirty="0">
                <a:solidFill>
                  <a:schemeClr val="accent2"/>
                </a:solidFill>
              </a:rPr>
              <a:t>ROLES</a:t>
            </a:r>
            <a:endParaRPr lang="en-US" sz="1000" dirty="0"/>
          </a:p>
        </p:txBody>
      </p:sp>
      <p:sp>
        <p:nvSpPr>
          <p:cNvPr id="15" name="Text 10"/>
          <p:cNvSpPr txBox="1"/>
          <p:nvPr/>
        </p:nvSpPr>
        <p:spPr>
          <a:xfrm>
            <a:off x="731520"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300" dirty="0">
                <a:solidFill>
                  <a:schemeClr val="tx1"/>
                </a:solidFill>
              </a:rPr>
              <a:t>Domain Expert</a:t>
            </a:r>
            <a:endParaRPr lang="en-US" sz="1300" dirty="0"/>
          </a:p>
          <a:p>
            <a:pPr marL="203200" indent="-203200">
              <a:spcAft>
                <a:spcPts val="200"/>
              </a:spcAft>
              <a:buClr>
                <a:srgbClr val="F7941E"/>
              </a:buClr>
              <a:buSzPct val="100000"/>
              <a:buChar char="✓"/>
            </a:pPr>
            <a:r>
              <a:rPr lang="en-US" sz="1300" dirty="0">
                <a:solidFill>
                  <a:schemeClr val="tx1"/>
                </a:solidFill>
              </a:rPr>
              <a:t>Business User / Sponsor</a:t>
            </a:r>
            <a:endParaRPr lang="en-US" sz="1300" dirty="0"/>
          </a:p>
          <a:p>
            <a:pPr marL="203200" indent="-203200">
              <a:spcAft>
                <a:spcPts val="200"/>
              </a:spcAft>
              <a:buClr>
                <a:srgbClr val="F7941E"/>
              </a:buClr>
              <a:buSzPct val="100000"/>
              <a:buChar char="✓"/>
            </a:pPr>
            <a:r>
              <a:rPr lang="en-US" sz="1300" dirty="0">
                <a:solidFill>
                  <a:schemeClr val="tx1"/>
                </a:solidFill>
              </a:rPr>
              <a:t>Data Scientist</a:t>
            </a:r>
            <a:endParaRPr lang="en-US" sz="1300" dirty="0"/>
          </a:p>
          <a:p>
            <a:pPr marL="203200" indent="-203200">
              <a:spcAft>
                <a:spcPts val="200"/>
              </a:spcAft>
              <a:buClr>
                <a:srgbClr val="F7941E"/>
              </a:buClr>
              <a:buSzPct val="100000"/>
              <a:buChar char="✓"/>
            </a:pPr>
            <a:r>
              <a:rPr lang="en-US" sz="1300" dirty="0">
                <a:solidFill>
                  <a:schemeClr val="tx1"/>
                </a:solidFill>
              </a:rPr>
              <a:t>Project Coordinator</a:t>
            </a:r>
            <a:endParaRPr lang="en-US" sz="1300" dirty="0"/>
          </a:p>
        </p:txBody>
      </p:sp>
      <p:pic>
        <p:nvPicPr>
          <p:cNvPr id="16" name="Icon" descr="preencoded.png">    </p:cNvPr>
          <p:cNvPicPr>
            <a:picLocks noChangeAspect="1"/>
          </p:cNvPicPr>
          <p:nvPr/>
        </p:nvPicPr>
        <p:blipFill>
          <a:blip r:embed="rId4"/>
          <a:stretch>
            <a:fillRect/>
          </a:stretch>
        </p:blipFill>
        <p:spPr>
          <a:xfrm>
            <a:off x="4023360" y="2103120"/>
            <a:ext cx="292608" cy="292608"/>
          </a:xfrm>
          <a:prstGeom prst="rect">
            <a:avLst/>
          </a:prstGeom>
        </p:spPr>
      </p:pic>
      <p:pic>
        <p:nvPicPr>
          <p:cNvPr id="17" name="Card" descr="preencoded.png">    </p:cNvPr>
          <p:cNvPicPr>
            <a:picLocks noChangeAspect="1"/>
          </p:cNvPicPr>
          <p:nvPr/>
        </p:nvPicPr>
        <p:blipFill>
          <a:blip r:embed="rId5"/>
          <a:stretch>
            <a:fillRect/>
          </a:stretch>
        </p:blipFill>
        <p:spPr>
          <a:xfrm>
            <a:off x="4261104" y="1636776"/>
            <a:ext cx="3721608" cy="4727448"/>
          </a:xfrm>
          <a:prstGeom prst="rect">
            <a:avLst/>
          </a:prstGeom>
        </p:spPr>
      </p:pic>
      <p:pic>
        <p:nvPicPr>
          <p:cNvPr id="18" name="Badge" descr="preencoded.png">    </p:cNvPr>
          <p:cNvPicPr>
            <a:picLocks noChangeAspect="1"/>
          </p:cNvPicPr>
          <p:nvPr/>
        </p:nvPicPr>
        <p:blipFill>
          <a:blip r:embed="rId6"/>
          <a:stretch>
            <a:fillRect/>
          </a:stretch>
        </p:blipFill>
        <p:spPr>
          <a:xfrm>
            <a:off x="4636008" y="2011680"/>
            <a:ext cx="566928" cy="566928"/>
          </a:xfrm>
          <a:prstGeom prst="rect">
            <a:avLst/>
          </a:prstGeom>
        </p:spPr>
      </p:pic>
      <p:sp>
        <p:nvSpPr>
          <p:cNvPr id="19" name="Text 11"/>
          <p:cNvSpPr txBox="1"/>
          <p:nvPr/>
        </p:nvSpPr>
        <p:spPr>
          <a:xfrm>
            <a:off x="5367528" y="1965960"/>
            <a:ext cx="2331720" cy="658368"/>
          </a:xfrm>
          <a:prstGeom prst="rect">
            <a:avLst/>
          </a:prstGeom>
          <a:noFill/>
          <a:ln/>
        </p:spPr>
        <p:txBody>
          <a:bodyPr wrap="square" lIns="0" tIns="0" rIns="0" bIns="0" rtlCol="0" anchor="ctr"/>
          <a:lstStyle/>
          <a:p>
            <a:pPr indent="0" marL="0">
              <a:buNone/>
            </a:pPr>
            <a:r>
              <a:rPr lang="en-US" sz="1000" b="1" spc="300" kern="0" dirty="0">
                <a:solidFill>
                  <a:schemeClr val="accent1"/>
                </a:solidFill>
              </a:rPr>
              <a:t>PHASE 02</a:t>
            </a:r>
            <a:endParaRPr lang="en-US" sz="1400" dirty="0"/>
          </a:p>
          <a:p>
            <a:pPr indent="0" marL="0">
              <a:buNone/>
            </a:pPr>
            <a:r>
              <a:rPr lang="en-US" sz="1800" b="1" dirty="0">
                <a:solidFill>
                  <a:schemeClr val="tx1"/>
                </a:solidFill>
              </a:rPr>
              <a:t>Data Engineering</a:t>
            </a:r>
            <a:endParaRPr lang="en-US" sz="1400" dirty="0"/>
          </a:p>
        </p:txBody>
      </p:sp>
      <p:sp>
        <p:nvSpPr>
          <p:cNvPr id="20" name="StepChip"/>
          <p:cNvSpPr/>
          <p:nvPr/>
        </p:nvSpPr>
        <p:spPr>
          <a:xfrm>
            <a:off x="4636008" y="2834640"/>
            <a:ext cx="2971800" cy="365760"/>
          </a:xfrm>
          <a:prstGeom prst="roundRect">
            <a:avLst>
              <a:gd name="adj" fmla="val 15000"/>
            </a:avLst>
          </a:prstGeom>
          <a:solidFill>
            <a:schemeClr val="bg2"/>
          </a:solidFill>
          <a:ln w="9525">
            <a:solidFill>
              <a:schemeClr val="accent6"/>
            </a:solidFill>
            <a:prstDash val="solid"/>
          </a:ln>
        </p:spPr>
      </p:sp>
      <p:sp>
        <p:nvSpPr>
          <p:cNvPr id="21" name="Text 13"/>
          <p:cNvSpPr txBox="1"/>
          <p:nvPr/>
        </p:nvSpPr>
        <p:spPr>
          <a:xfrm>
            <a:off x="4791456" y="28346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Data Requirement</a:t>
            </a:r>
            <a:endParaRPr lang="en-US" sz="1300" dirty="0"/>
          </a:p>
        </p:txBody>
      </p:sp>
      <p:sp>
        <p:nvSpPr>
          <p:cNvPr id="22" name="StepChip"/>
          <p:cNvSpPr/>
          <p:nvPr/>
        </p:nvSpPr>
        <p:spPr>
          <a:xfrm>
            <a:off x="4636008" y="3291840"/>
            <a:ext cx="2971800" cy="365760"/>
          </a:xfrm>
          <a:prstGeom prst="roundRect">
            <a:avLst>
              <a:gd name="adj" fmla="val 15000"/>
            </a:avLst>
          </a:prstGeom>
          <a:solidFill>
            <a:schemeClr val="bg2"/>
          </a:solidFill>
          <a:ln w="9525">
            <a:solidFill>
              <a:schemeClr val="accent6"/>
            </a:solidFill>
            <a:prstDash val="solid"/>
          </a:ln>
        </p:spPr>
      </p:sp>
      <p:sp>
        <p:nvSpPr>
          <p:cNvPr id="23" name="Text 15"/>
          <p:cNvSpPr txBox="1"/>
          <p:nvPr/>
        </p:nvSpPr>
        <p:spPr>
          <a:xfrm>
            <a:off x="4791456" y="32918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Data Collection</a:t>
            </a:r>
            <a:endParaRPr lang="en-US" sz="1300" dirty="0"/>
          </a:p>
        </p:txBody>
      </p:sp>
      <p:sp>
        <p:nvSpPr>
          <p:cNvPr id="24" name="StepChip"/>
          <p:cNvSpPr/>
          <p:nvPr/>
        </p:nvSpPr>
        <p:spPr>
          <a:xfrm>
            <a:off x="4636008" y="3749040"/>
            <a:ext cx="2971800" cy="365760"/>
          </a:xfrm>
          <a:prstGeom prst="roundRect">
            <a:avLst>
              <a:gd name="adj" fmla="val 15000"/>
            </a:avLst>
          </a:prstGeom>
          <a:solidFill>
            <a:schemeClr val="bg2"/>
          </a:solidFill>
          <a:ln w="9525">
            <a:solidFill>
              <a:schemeClr val="accent6"/>
            </a:solidFill>
            <a:prstDash val="solid"/>
          </a:ln>
        </p:spPr>
      </p:sp>
      <p:sp>
        <p:nvSpPr>
          <p:cNvPr id="25" name="Text 17"/>
          <p:cNvSpPr txBox="1"/>
          <p:nvPr/>
        </p:nvSpPr>
        <p:spPr>
          <a:xfrm>
            <a:off x="4791456" y="37490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Data Preparation</a:t>
            </a:r>
            <a:endParaRPr lang="en-US" sz="1300" dirty="0"/>
          </a:p>
        </p:txBody>
      </p:sp>
      <p:sp>
        <p:nvSpPr>
          <p:cNvPr id="26" name="StepChip"/>
          <p:cNvSpPr/>
          <p:nvPr/>
        </p:nvSpPr>
        <p:spPr>
          <a:xfrm>
            <a:off x="4636008" y="4206240"/>
            <a:ext cx="2971800" cy="365760"/>
          </a:xfrm>
          <a:prstGeom prst="roundRect">
            <a:avLst>
              <a:gd name="adj" fmla="val 15000"/>
            </a:avLst>
          </a:prstGeom>
          <a:solidFill>
            <a:schemeClr val="bg2"/>
          </a:solidFill>
          <a:ln w="9525">
            <a:solidFill>
              <a:schemeClr val="accent6"/>
            </a:solidFill>
            <a:prstDash val="solid"/>
          </a:ln>
        </p:spPr>
      </p:sp>
      <p:sp>
        <p:nvSpPr>
          <p:cNvPr id="27" name="Text 19"/>
          <p:cNvSpPr txBox="1"/>
          <p:nvPr/>
        </p:nvSpPr>
        <p:spPr>
          <a:xfrm>
            <a:off x="4791456" y="42062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Data Understanding</a:t>
            </a:r>
            <a:endParaRPr lang="en-US" sz="1300" dirty="0"/>
          </a:p>
        </p:txBody>
      </p:sp>
      <p:sp>
        <p:nvSpPr>
          <p:cNvPr id="28" name="Rule"/>
          <p:cNvSpPr/>
          <p:nvPr/>
        </p:nvSpPr>
        <p:spPr>
          <a:xfrm>
            <a:off x="4636008" y="4663440"/>
            <a:ext cx="2971800" cy="0"/>
          </a:xfrm>
          <a:prstGeom prst="line">
            <a:avLst/>
          </a:prstGeom>
          <a:noFill/>
          <a:ln w="12700">
            <a:solidFill>
              <a:schemeClr val="accent6"/>
            </a:solidFill>
            <a:prstDash val="solid"/>
          </a:ln>
        </p:spPr>
      </p:sp>
      <p:pic>
        <p:nvPicPr>
          <p:cNvPr id="29" name="Icon" descr="preencoded.png">    </p:cNvPr>
          <p:cNvPicPr>
            <a:picLocks noChangeAspect="1"/>
          </p:cNvPicPr>
          <p:nvPr/>
        </p:nvPicPr>
        <p:blipFill>
          <a:blip r:embed="rId7"/>
          <a:stretch>
            <a:fillRect/>
          </a:stretch>
        </p:blipFill>
        <p:spPr>
          <a:xfrm>
            <a:off x="4636008" y="4800600"/>
            <a:ext cx="274320" cy="274320"/>
          </a:xfrm>
          <a:prstGeom prst="rect">
            <a:avLst/>
          </a:prstGeom>
        </p:spPr>
      </p:pic>
      <p:sp>
        <p:nvSpPr>
          <p:cNvPr id="30" name="Text 21"/>
          <p:cNvSpPr txBox="1"/>
          <p:nvPr/>
        </p:nvSpPr>
        <p:spPr>
          <a:xfrm>
            <a:off x="5001768" y="4800600"/>
            <a:ext cx="1828800" cy="274320"/>
          </a:xfrm>
          <a:prstGeom prst="rect">
            <a:avLst/>
          </a:prstGeom>
          <a:noFill/>
          <a:ln/>
        </p:spPr>
        <p:txBody>
          <a:bodyPr wrap="square" lIns="0" tIns="0" rIns="0" bIns="0" rtlCol="0" anchor="ctr"/>
          <a:lstStyle/>
          <a:p>
            <a:pPr indent="0" marL="0">
              <a:buNone/>
            </a:pPr>
            <a:r>
              <a:rPr lang="en-US" sz="1000" b="1" spc="300" kern="0" dirty="0">
                <a:solidFill>
                  <a:schemeClr val="accent2"/>
                </a:solidFill>
              </a:rPr>
              <a:t>ROLES</a:t>
            </a:r>
            <a:endParaRPr lang="en-US" sz="1000" dirty="0"/>
          </a:p>
        </p:txBody>
      </p:sp>
      <p:sp>
        <p:nvSpPr>
          <p:cNvPr id="31" name="Text 22"/>
          <p:cNvSpPr txBox="1"/>
          <p:nvPr/>
        </p:nvSpPr>
        <p:spPr>
          <a:xfrm>
            <a:off x="4636008"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300" dirty="0">
                <a:solidFill>
                  <a:schemeClr val="tx1"/>
                </a:solidFill>
              </a:rPr>
              <a:t>Data Engineer</a:t>
            </a:r>
            <a:endParaRPr lang="en-US" sz="1300" dirty="0"/>
          </a:p>
          <a:p>
            <a:pPr marL="203200" indent="-203200">
              <a:spcAft>
                <a:spcPts val="200"/>
              </a:spcAft>
              <a:buClr>
                <a:srgbClr val="F7941E"/>
              </a:buClr>
              <a:buSzPct val="100000"/>
              <a:buChar char="✓"/>
            </a:pPr>
            <a:r>
              <a:rPr lang="en-US" sz="1300" dirty="0">
                <a:solidFill>
                  <a:schemeClr val="tx1"/>
                </a:solidFill>
              </a:rPr>
              <a:t>Data Analyst</a:t>
            </a:r>
            <a:endParaRPr lang="en-US" sz="1300" dirty="0"/>
          </a:p>
          <a:p>
            <a:pPr marL="203200" indent="-203200">
              <a:spcAft>
                <a:spcPts val="200"/>
              </a:spcAft>
              <a:buClr>
                <a:srgbClr val="F7941E"/>
              </a:buClr>
              <a:buSzPct val="100000"/>
              <a:buChar char="✓"/>
            </a:pPr>
            <a:r>
              <a:rPr lang="en-US" sz="1300" dirty="0">
                <a:solidFill>
                  <a:schemeClr val="tx1"/>
                </a:solidFill>
              </a:rPr>
              <a:t>Data Expert</a:t>
            </a:r>
            <a:endParaRPr lang="en-US" sz="1300" dirty="0"/>
          </a:p>
          <a:p>
            <a:pPr marL="203200" indent="-203200">
              <a:spcAft>
                <a:spcPts val="200"/>
              </a:spcAft>
              <a:buClr>
                <a:srgbClr val="F7941E"/>
              </a:buClr>
              <a:buSzPct val="100000"/>
              <a:buChar char="✓"/>
            </a:pPr>
            <a:r>
              <a:rPr lang="en-US" sz="1300" dirty="0">
                <a:solidFill>
                  <a:schemeClr val="tx1"/>
                </a:solidFill>
              </a:rPr>
              <a:t>Project Coordinator</a:t>
            </a:r>
            <a:endParaRPr lang="en-US" sz="1300" dirty="0"/>
          </a:p>
        </p:txBody>
      </p:sp>
      <p:pic>
        <p:nvPicPr>
          <p:cNvPr id="32" name="Icon" descr="preencoded.png">    </p:cNvPr>
          <p:cNvPicPr>
            <a:picLocks noChangeAspect="1"/>
          </p:cNvPicPr>
          <p:nvPr/>
        </p:nvPicPr>
        <p:blipFill>
          <a:blip r:embed="rId8"/>
          <a:stretch>
            <a:fillRect/>
          </a:stretch>
        </p:blipFill>
        <p:spPr>
          <a:xfrm>
            <a:off x="7927848" y="2103120"/>
            <a:ext cx="292608" cy="292608"/>
          </a:xfrm>
          <a:prstGeom prst="rect">
            <a:avLst/>
          </a:prstGeom>
        </p:spPr>
      </p:pic>
      <p:pic>
        <p:nvPicPr>
          <p:cNvPr id="33" name="Card" descr="preencoded.png">    </p:cNvPr>
          <p:cNvPicPr>
            <a:picLocks noChangeAspect="1"/>
          </p:cNvPicPr>
          <p:nvPr/>
        </p:nvPicPr>
        <p:blipFill>
          <a:blip r:embed="rId9"/>
          <a:stretch>
            <a:fillRect/>
          </a:stretch>
        </p:blipFill>
        <p:spPr>
          <a:xfrm>
            <a:off x="8165592" y="1636776"/>
            <a:ext cx="3721608" cy="4727448"/>
          </a:xfrm>
          <a:prstGeom prst="rect">
            <a:avLst/>
          </a:prstGeom>
        </p:spPr>
      </p:pic>
      <p:pic>
        <p:nvPicPr>
          <p:cNvPr id="34" name="Badge" descr="preencoded.png">    </p:cNvPr>
          <p:cNvPicPr>
            <a:picLocks noChangeAspect="1"/>
          </p:cNvPicPr>
          <p:nvPr/>
        </p:nvPicPr>
        <p:blipFill>
          <a:blip r:embed="rId10"/>
          <a:stretch>
            <a:fillRect/>
          </a:stretch>
        </p:blipFill>
        <p:spPr>
          <a:xfrm>
            <a:off x="8540496" y="2011680"/>
            <a:ext cx="566928" cy="566928"/>
          </a:xfrm>
          <a:prstGeom prst="rect">
            <a:avLst/>
          </a:prstGeom>
        </p:spPr>
      </p:pic>
      <p:sp>
        <p:nvSpPr>
          <p:cNvPr id="35" name="Text 23"/>
          <p:cNvSpPr txBox="1"/>
          <p:nvPr/>
        </p:nvSpPr>
        <p:spPr>
          <a:xfrm>
            <a:off x="9272016" y="1965960"/>
            <a:ext cx="2331720" cy="658368"/>
          </a:xfrm>
          <a:prstGeom prst="rect">
            <a:avLst/>
          </a:prstGeom>
          <a:noFill/>
          <a:ln/>
        </p:spPr>
        <p:txBody>
          <a:bodyPr wrap="square" lIns="0" tIns="0" rIns="0" bIns="0" rtlCol="0" anchor="ctr"/>
          <a:lstStyle/>
          <a:p>
            <a:pPr indent="0" marL="0">
              <a:buNone/>
            </a:pPr>
            <a:r>
              <a:rPr lang="en-US" sz="1000" b="1" spc="300" kern="0" dirty="0">
                <a:solidFill>
                  <a:schemeClr val="accent1"/>
                </a:solidFill>
              </a:rPr>
              <a:t>PHASE 03</a:t>
            </a:r>
            <a:endParaRPr lang="en-US" sz="1400" dirty="0"/>
          </a:p>
          <a:p>
            <a:pPr indent="0" marL="0">
              <a:buNone/>
            </a:pPr>
            <a:r>
              <a:rPr lang="en-US" sz="1800" b="1" dirty="0">
                <a:solidFill>
                  <a:schemeClr val="tx1"/>
                </a:solidFill>
              </a:rPr>
              <a:t>Modelling / ML</a:t>
            </a:r>
            <a:endParaRPr lang="en-US" sz="1400" dirty="0"/>
          </a:p>
        </p:txBody>
      </p:sp>
      <p:sp>
        <p:nvSpPr>
          <p:cNvPr id="36" name="StepChip"/>
          <p:cNvSpPr/>
          <p:nvPr/>
        </p:nvSpPr>
        <p:spPr>
          <a:xfrm>
            <a:off x="8540496" y="2834640"/>
            <a:ext cx="2971800" cy="365760"/>
          </a:xfrm>
          <a:prstGeom prst="roundRect">
            <a:avLst>
              <a:gd name="adj" fmla="val 15000"/>
            </a:avLst>
          </a:prstGeom>
          <a:solidFill>
            <a:schemeClr val="bg2"/>
          </a:solidFill>
          <a:ln w="9525">
            <a:solidFill>
              <a:schemeClr val="accent6"/>
            </a:solidFill>
            <a:prstDash val="solid"/>
          </a:ln>
        </p:spPr>
      </p:sp>
      <p:sp>
        <p:nvSpPr>
          <p:cNvPr id="37" name="Text 25"/>
          <p:cNvSpPr txBox="1"/>
          <p:nvPr/>
        </p:nvSpPr>
        <p:spPr>
          <a:xfrm>
            <a:off x="8695944" y="28346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Modelling</a:t>
            </a:r>
            <a:endParaRPr lang="en-US" sz="1300" dirty="0"/>
          </a:p>
        </p:txBody>
      </p:sp>
      <p:sp>
        <p:nvSpPr>
          <p:cNvPr id="38" name="StepChip"/>
          <p:cNvSpPr/>
          <p:nvPr/>
        </p:nvSpPr>
        <p:spPr>
          <a:xfrm>
            <a:off x="8540496" y="3291840"/>
            <a:ext cx="2971800" cy="365760"/>
          </a:xfrm>
          <a:prstGeom prst="roundRect">
            <a:avLst>
              <a:gd name="adj" fmla="val 15000"/>
            </a:avLst>
          </a:prstGeom>
          <a:solidFill>
            <a:schemeClr val="bg2"/>
          </a:solidFill>
          <a:ln w="9525">
            <a:solidFill>
              <a:schemeClr val="accent6"/>
            </a:solidFill>
            <a:prstDash val="solid"/>
          </a:ln>
        </p:spPr>
      </p:sp>
      <p:sp>
        <p:nvSpPr>
          <p:cNvPr id="39" name="Text 27"/>
          <p:cNvSpPr txBox="1"/>
          <p:nvPr/>
        </p:nvSpPr>
        <p:spPr>
          <a:xfrm>
            <a:off x="8695944" y="32918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Evaluation</a:t>
            </a:r>
            <a:endParaRPr lang="en-US" sz="1300" dirty="0"/>
          </a:p>
        </p:txBody>
      </p:sp>
      <p:sp>
        <p:nvSpPr>
          <p:cNvPr id="40" name="StepChip"/>
          <p:cNvSpPr/>
          <p:nvPr/>
        </p:nvSpPr>
        <p:spPr>
          <a:xfrm>
            <a:off x="8540496" y="3749040"/>
            <a:ext cx="2971800" cy="365760"/>
          </a:xfrm>
          <a:prstGeom prst="roundRect">
            <a:avLst>
              <a:gd name="adj" fmla="val 15000"/>
            </a:avLst>
          </a:prstGeom>
          <a:solidFill>
            <a:schemeClr val="bg2"/>
          </a:solidFill>
          <a:ln w="9525">
            <a:solidFill>
              <a:schemeClr val="accent6"/>
            </a:solidFill>
            <a:prstDash val="solid"/>
          </a:ln>
        </p:spPr>
      </p:sp>
      <p:sp>
        <p:nvSpPr>
          <p:cNvPr id="41" name="Text 29"/>
          <p:cNvSpPr txBox="1"/>
          <p:nvPr/>
        </p:nvSpPr>
        <p:spPr>
          <a:xfrm>
            <a:off x="8695944" y="37490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Feedback</a:t>
            </a:r>
            <a:endParaRPr lang="en-US" sz="1300" dirty="0"/>
          </a:p>
        </p:txBody>
      </p:sp>
      <p:sp>
        <p:nvSpPr>
          <p:cNvPr id="42" name="StepChip"/>
          <p:cNvSpPr/>
          <p:nvPr/>
        </p:nvSpPr>
        <p:spPr>
          <a:xfrm>
            <a:off x="8540496" y="4206240"/>
            <a:ext cx="2971800" cy="365760"/>
          </a:xfrm>
          <a:prstGeom prst="roundRect">
            <a:avLst>
              <a:gd name="adj" fmla="val 15000"/>
            </a:avLst>
          </a:prstGeom>
          <a:solidFill>
            <a:schemeClr val="bg2"/>
          </a:solidFill>
          <a:ln w="9525">
            <a:solidFill>
              <a:schemeClr val="accent6"/>
            </a:solidFill>
            <a:prstDash val="solid"/>
          </a:ln>
        </p:spPr>
      </p:sp>
      <p:sp>
        <p:nvSpPr>
          <p:cNvPr id="43" name="Text 31"/>
          <p:cNvSpPr txBox="1"/>
          <p:nvPr/>
        </p:nvSpPr>
        <p:spPr>
          <a:xfrm>
            <a:off x="8695944" y="4206240"/>
            <a:ext cx="2697480" cy="365760"/>
          </a:xfrm>
          <a:prstGeom prst="rect">
            <a:avLst/>
          </a:prstGeom>
          <a:noFill/>
          <a:ln/>
        </p:spPr>
        <p:txBody>
          <a:bodyPr wrap="square" lIns="0" tIns="0" rIns="0" bIns="0" rtlCol="0" anchor="ctr"/>
          <a:lstStyle/>
          <a:p>
            <a:pPr indent="0" marL="0">
              <a:buNone/>
            </a:pPr>
            <a:r>
              <a:rPr lang="en-US" sz="1300" b="1" dirty="0">
                <a:solidFill>
                  <a:schemeClr val="tx1"/>
                </a:solidFill>
              </a:rPr>
              <a:t>Deployment</a:t>
            </a:r>
            <a:endParaRPr lang="en-US" sz="1300" dirty="0"/>
          </a:p>
        </p:txBody>
      </p:sp>
      <p:sp>
        <p:nvSpPr>
          <p:cNvPr id="44" name="Rule"/>
          <p:cNvSpPr/>
          <p:nvPr/>
        </p:nvSpPr>
        <p:spPr>
          <a:xfrm>
            <a:off x="8540496" y="4663440"/>
            <a:ext cx="2971800" cy="0"/>
          </a:xfrm>
          <a:prstGeom prst="line">
            <a:avLst/>
          </a:prstGeom>
          <a:noFill/>
          <a:ln w="12700">
            <a:solidFill>
              <a:schemeClr val="accent6"/>
            </a:solidFill>
            <a:prstDash val="solid"/>
          </a:ln>
        </p:spPr>
      </p:sp>
      <p:pic>
        <p:nvPicPr>
          <p:cNvPr id="45" name="Icon" descr="preencoded.png">    </p:cNvPr>
          <p:cNvPicPr>
            <a:picLocks noChangeAspect="1"/>
          </p:cNvPicPr>
          <p:nvPr/>
        </p:nvPicPr>
        <p:blipFill>
          <a:blip r:embed="rId11"/>
          <a:stretch>
            <a:fillRect/>
          </a:stretch>
        </p:blipFill>
        <p:spPr>
          <a:xfrm>
            <a:off x="8540496" y="4800600"/>
            <a:ext cx="274320" cy="274320"/>
          </a:xfrm>
          <a:prstGeom prst="rect">
            <a:avLst/>
          </a:prstGeom>
        </p:spPr>
      </p:pic>
      <p:sp>
        <p:nvSpPr>
          <p:cNvPr id="46" name="Text 33"/>
          <p:cNvSpPr txBox="1"/>
          <p:nvPr/>
        </p:nvSpPr>
        <p:spPr>
          <a:xfrm>
            <a:off x="8906256" y="4800600"/>
            <a:ext cx="1828800" cy="274320"/>
          </a:xfrm>
          <a:prstGeom prst="rect">
            <a:avLst/>
          </a:prstGeom>
          <a:noFill/>
          <a:ln/>
        </p:spPr>
        <p:txBody>
          <a:bodyPr wrap="square" lIns="0" tIns="0" rIns="0" bIns="0" rtlCol="0" anchor="ctr"/>
          <a:lstStyle/>
          <a:p>
            <a:pPr indent="0" marL="0">
              <a:buNone/>
            </a:pPr>
            <a:r>
              <a:rPr lang="en-US" sz="1000" b="1" spc="300" kern="0" dirty="0">
                <a:solidFill>
                  <a:schemeClr val="accent2"/>
                </a:solidFill>
              </a:rPr>
              <a:t>ROLES</a:t>
            </a:r>
            <a:endParaRPr lang="en-US" sz="1000" dirty="0"/>
          </a:p>
        </p:txBody>
      </p:sp>
      <p:sp>
        <p:nvSpPr>
          <p:cNvPr id="47" name="Text 34"/>
          <p:cNvSpPr txBox="1"/>
          <p:nvPr/>
        </p:nvSpPr>
        <p:spPr>
          <a:xfrm>
            <a:off x="8540496"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300" dirty="0">
                <a:solidFill>
                  <a:schemeClr val="tx1"/>
                </a:solidFill>
              </a:rPr>
              <a:t>ML Engineer</a:t>
            </a:r>
            <a:endParaRPr lang="en-US" sz="1300" dirty="0"/>
          </a:p>
          <a:p>
            <a:pPr marL="203200" indent="-203200">
              <a:spcAft>
                <a:spcPts val="200"/>
              </a:spcAft>
              <a:buClr>
                <a:srgbClr val="F7941E"/>
              </a:buClr>
              <a:buSzPct val="100000"/>
              <a:buChar char="✓"/>
            </a:pPr>
            <a:r>
              <a:rPr lang="en-US" sz="1300" dirty="0">
                <a:solidFill>
                  <a:schemeClr val="tx1"/>
                </a:solidFill>
              </a:rPr>
              <a:t>Data Scientist</a:t>
            </a:r>
            <a:endParaRPr lang="en-US" sz="1300" dirty="0"/>
          </a:p>
          <a:p>
            <a:pPr marL="203200" indent="-203200">
              <a:spcAft>
                <a:spcPts val="200"/>
              </a:spcAft>
              <a:buClr>
                <a:srgbClr val="F7941E"/>
              </a:buClr>
              <a:buSzPct val="100000"/>
              <a:buChar char="✓"/>
            </a:pPr>
            <a:r>
              <a:rPr lang="en-US" sz="1300" dirty="0">
                <a:solidFill>
                  <a:schemeClr val="tx1"/>
                </a:solidFill>
              </a:rPr>
              <a:t>Domain Expert</a:t>
            </a:r>
            <a:endParaRPr lang="en-US" sz="1300" dirty="0"/>
          </a:p>
          <a:p>
            <a:pPr marL="203200" indent="-203200">
              <a:spcAft>
                <a:spcPts val="200"/>
              </a:spcAft>
              <a:buClr>
                <a:srgbClr val="F7941E"/>
              </a:buClr>
              <a:buSzPct val="100000"/>
              <a:buChar char="✓"/>
            </a:pPr>
            <a:r>
              <a:rPr lang="en-US" sz="1300" dirty="0">
                <a:solidFill>
                  <a:schemeClr val="tx1"/>
                </a:solidFill>
              </a:rPr>
              <a:t>Business User / Sponsor</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Digitization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SERVICE OFFERINGS</a:t>
            </a:r>
            <a:endParaRPr lang="en-US" sz="1100" dirty="0"/>
          </a:p>
        </p:txBody>
      </p:sp>
      <p:pic>
        <p:nvPicPr>
          <p:cNvPr id="4"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5"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6" name="Text 2"/>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2000" b="1" dirty="0">
                <a:solidFill>
                  <a:schemeClr val="tx1"/>
                </a:solidFill>
              </a:rPr>
              <a:t>Services</a:t>
            </a:r>
            <a:endParaRPr lang="en-US" sz="2000" dirty="0"/>
          </a:p>
        </p:txBody>
      </p:sp>
      <p:sp>
        <p:nvSpPr>
          <p:cNvPr id="7" name="Text 3"/>
          <p:cNvSpPr txBox="1"/>
          <p:nvPr/>
        </p:nvSpPr>
        <p:spPr>
          <a:xfrm>
            <a:off x="777240" y="2514600"/>
            <a:ext cx="5943600" cy="2697480"/>
          </a:xfrm>
          <a:prstGeom prst="rect">
            <a:avLst/>
          </a:prstGeom>
          <a:noFill/>
          <a:ln/>
        </p:spPr>
        <p:txBody>
          <a:bodyPr wrap="square" lIns="0" tIns="0" rIns="0" bIns="0" rtlCol="0" anchor="t"/>
          <a:lstStyle/>
          <a:p>
            <a:pPr marL="203200" indent="-203200">
              <a:spcAft>
                <a:spcPts val="900"/>
              </a:spcAft>
              <a:buClr>
                <a:srgbClr val="F7941E"/>
              </a:buClr>
              <a:buSzPct val="100000"/>
              <a:buChar char="✓"/>
            </a:pPr>
            <a:r>
              <a:rPr lang="en-US" sz="1600" dirty="0">
                <a:solidFill>
                  <a:schemeClr val="tx1"/>
                </a:solidFill>
              </a:rPr>
              <a:t>Low-code / No-code app development</a:t>
            </a:r>
            <a:endParaRPr lang="en-US" sz="1600" dirty="0"/>
          </a:p>
          <a:p>
            <a:pPr marL="203200" indent="-203200">
              <a:spcAft>
                <a:spcPts val="900"/>
              </a:spcAft>
              <a:buClr>
                <a:srgbClr val="F7941E"/>
              </a:buClr>
              <a:buSzPct val="100000"/>
              <a:buChar char="✓"/>
            </a:pPr>
            <a:r>
              <a:rPr lang="en-US" sz="1600" dirty="0">
                <a:solidFill>
                  <a:schemeClr val="tx1"/>
                </a:solidFill>
              </a:rPr>
              <a:t>Digital process automation</a:t>
            </a:r>
            <a:endParaRPr lang="en-US" sz="1600" dirty="0"/>
          </a:p>
          <a:p>
            <a:pPr marL="203200" indent="-203200">
              <a:spcAft>
                <a:spcPts val="900"/>
              </a:spcAft>
              <a:buClr>
                <a:srgbClr val="F7941E"/>
              </a:buClr>
              <a:buSzPct val="100000"/>
              <a:buChar char="✓"/>
            </a:pPr>
            <a:r>
              <a:rPr lang="en-US" sz="1600" dirty="0">
                <a:solidFill>
                  <a:schemeClr val="tx1"/>
                </a:solidFill>
              </a:rPr>
              <a:t>Process mapping</a:t>
            </a:r>
            <a:endParaRPr lang="en-US" sz="1600" dirty="0"/>
          </a:p>
          <a:p>
            <a:pPr marL="203200" indent="-203200">
              <a:spcAft>
                <a:spcPts val="900"/>
              </a:spcAft>
              <a:buClr>
                <a:srgbClr val="F7941E"/>
              </a:buClr>
              <a:buSzPct val="100000"/>
              <a:buChar char="✓"/>
            </a:pPr>
            <a:r>
              <a:rPr lang="en-US" sz="1600" dirty="0">
                <a:solidFill>
                  <a:schemeClr val="tx1"/>
                </a:solidFill>
              </a:rPr>
              <a:t>External portal development</a:t>
            </a:r>
            <a:endParaRPr lang="en-US" sz="1600" dirty="0"/>
          </a:p>
          <a:p>
            <a:pPr marL="203200" indent="-203200">
              <a:spcAft>
                <a:spcPts val="900"/>
              </a:spcAft>
              <a:buClr>
                <a:srgbClr val="F7941E"/>
              </a:buClr>
              <a:buSzPct val="100000"/>
              <a:buChar char="✓"/>
            </a:pPr>
            <a:r>
              <a:rPr lang="en-US" sz="1600" dirty="0">
                <a:solidFill>
                  <a:schemeClr val="tx1"/>
                </a:solidFill>
              </a:rPr>
              <a:t>No-code SharePoint development for workflow automation, document management, project management and employee portal</a:t>
            </a:r>
            <a:endParaRPr lang="en-US" sz="1600" dirty="0"/>
          </a:p>
          <a:p>
            <a:pPr marL="203200" indent="-203200">
              <a:spcAft>
                <a:spcPts val="900"/>
              </a:spcAft>
              <a:buClr>
                <a:srgbClr val="F7941E"/>
              </a:buClr>
              <a:buSzPct val="100000"/>
              <a:buChar char="✓"/>
            </a:pPr>
            <a:r>
              <a:rPr lang="en-US" sz="1600" dirty="0">
                <a:solidFill>
                  <a:schemeClr val="tx1"/>
                </a:solidFill>
              </a:rPr>
              <a:t>Automation trigger from Power BI dashboards</a:t>
            </a:r>
            <a:endParaRPr lang="en-US" sz="1600" dirty="0"/>
          </a:p>
        </p:txBody>
      </p:sp>
      <p:pic>
        <p:nvPicPr>
          <p:cNvPr id="8" name="Card" descr="preencoded.png">    </p:cNvPr>
          <p:cNvPicPr>
            <a:picLocks noChangeAspect="1"/>
          </p:cNvPicPr>
          <p:nvPr/>
        </p:nvPicPr>
        <p:blipFill>
          <a:blip r:embed="rId3"/>
          <a:stretch>
            <a:fillRect/>
          </a:stretch>
        </p:blipFill>
        <p:spPr>
          <a:xfrm>
            <a:off x="7050024" y="1362456"/>
            <a:ext cx="4785055" cy="4178808"/>
          </a:xfrm>
          <a:prstGeom prst="rect">
            <a:avLst/>
          </a:prstGeom>
        </p:spPr>
      </p:pic>
      <p:pic>
        <p:nvPicPr>
          <p:cNvPr id="9" name="Badge" descr="preencoded.png">    </p:cNvPr>
          <p:cNvPicPr>
            <a:picLocks noChangeAspect="1"/>
          </p:cNvPicPr>
          <p:nvPr/>
        </p:nvPicPr>
        <p:blipFill>
          <a:blip r:embed="rId4"/>
          <a:stretch>
            <a:fillRect/>
          </a:stretch>
        </p:blipFill>
        <p:spPr>
          <a:xfrm>
            <a:off x="7470648" y="1764792"/>
            <a:ext cx="530352" cy="530352"/>
          </a:xfrm>
          <a:prstGeom prst="rect">
            <a:avLst/>
          </a:prstGeom>
        </p:spPr>
      </p:pic>
      <p:sp>
        <p:nvSpPr>
          <p:cNvPr id="10" name="Text 4"/>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2000" b="1" dirty="0">
                <a:solidFill>
                  <a:schemeClr val="bg1"/>
                </a:solidFill>
              </a:rPr>
              <a:t>Delivery Models</a:t>
            </a:r>
            <a:endParaRPr lang="en-US" sz="2000" dirty="0"/>
          </a:p>
        </p:txBody>
      </p:sp>
      <p:sp>
        <p:nvSpPr>
          <p:cNvPr id="11" name="Text 5"/>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400" b="1" dirty="0">
                <a:solidFill>
                  <a:schemeClr val="accent3"/>
                </a:solidFill>
              </a:rPr>
              <a:t>Fixed-Bid Approach</a:t>
            </a:r>
            <a:endParaRPr lang="en-US" sz="1400" dirty="0"/>
          </a:p>
          <a:p>
            <a:pPr indent="0" marL="0">
              <a:spcAft>
                <a:spcPts val="1200"/>
              </a:spcAft>
              <a:buNone/>
            </a:pPr>
            <a:r>
              <a:rPr lang="en-US" sz="1400" dirty="0">
                <a:solidFill>
                  <a:schemeClr val="bg1"/>
                </a:solidFill>
              </a:rPr>
              <a:t>Based on process mapping and automation requirement.</a:t>
            </a:r>
            <a:endParaRPr lang="en-US" sz="1400" dirty="0"/>
          </a:p>
          <a:p>
            <a:pPr marL="177800" indent="-177800">
              <a:buClr>
                <a:srgbClr val="F7941E"/>
              </a:buClr>
              <a:buSzPct val="100000"/>
              <a:buChar char="▸"/>
            </a:pPr>
            <a:r>
              <a:rPr lang="en-US" sz="1400" b="1" dirty="0">
                <a:solidFill>
                  <a:schemeClr val="accent3"/>
                </a:solidFill>
              </a:rPr>
              <a:t>Subscription</a:t>
            </a:r>
            <a:endParaRPr lang="en-US" sz="1400" dirty="0"/>
          </a:p>
          <a:p>
            <a:pPr indent="0" marL="0">
              <a:spcAft>
                <a:spcPts val="1200"/>
              </a:spcAft>
              <a:buNone/>
            </a:pPr>
            <a:r>
              <a:rPr lang="en-US" sz="1400" dirty="0">
                <a:solidFill>
                  <a:schemeClr val="bg1"/>
                </a:solidFill>
              </a:rPr>
              <a:t>For predefined out-of-the-box processes.</a:t>
            </a:r>
            <a:endParaRPr lang="en-US" sz="1400" dirty="0"/>
          </a:p>
          <a:p>
            <a:pPr marL="177800" indent="-177800">
              <a:buClr>
                <a:srgbClr val="F7941E"/>
              </a:buClr>
              <a:buSzPct val="100000"/>
              <a:buChar char="▸"/>
            </a:pPr>
            <a:r>
              <a:rPr lang="en-US" sz="1400" b="1" dirty="0">
                <a:solidFill>
                  <a:schemeClr val="accent3"/>
                </a:solidFill>
              </a:rPr>
              <a:t>Time &amp; Material</a:t>
            </a:r>
            <a:endParaRPr lang="en-US" sz="1400" dirty="0"/>
          </a:p>
          <a:p>
            <a:pPr indent="0" marL="0">
              <a:spcAft>
                <a:spcPts val="1200"/>
              </a:spcAft>
              <a:buNone/>
            </a:pPr>
            <a:r>
              <a:rPr lang="en-US" sz="1400" dirty="0">
                <a:solidFill>
                  <a:schemeClr val="bg1"/>
                </a:solidFill>
              </a:rPr>
              <a:t>For process consulting and documentation.</a:t>
            </a:r>
            <a:endParaRPr lang="en-US" sz="1400" dirty="0"/>
          </a:p>
        </p:txBody>
      </p:sp>
      <p:sp>
        <p:nvSpPr>
          <p:cNvPr id="12" name="Text 6"/>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TECHNOLOGY</a:t>
            </a:r>
            <a:endParaRPr lang="en-US" sz="1000" dirty="0"/>
          </a:p>
          <a:p>
            <a:pPr indent="0" marL="0">
              <a:buNone/>
            </a:pPr>
            <a:r>
              <a:rPr lang="en-US" sz="1000" b="1" spc="300" kern="0" dirty="0">
                <a:solidFill>
                  <a:schemeClr val="accent1"/>
                </a:solidFill>
              </a:rPr>
              <a:t>COVERAGE</a:t>
            </a:r>
            <a:endParaRPr lang="en-US" sz="1000" dirty="0"/>
          </a:p>
        </p:txBody>
      </p:sp>
      <p:pic>
        <p:nvPicPr>
          <p:cNvPr id="13" name="Card" descr="preencoded.png">    </p:cNvPr>
          <p:cNvPicPr>
            <a:picLocks noChangeAspect="1"/>
          </p:cNvPicPr>
          <p:nvPr/>
        </p:nvPicPr>
        <p:blipFill>
          <a:blip r:embed="rId5"/>
          <a:stretch>
            <a:fillRect/>
          </a:stretch>
        </p:blipFill>
        <p:spPr>
          <a:xfrm>
            <a:off x="1819656" y="5431536"/>
            <a:ext cx="2212848" cy="950976"/>
          </a:xfrm>
          <a:prstGeom prst="rect">
            <a:avLst/>
          </a:prstGeom>
        </p:spPr>
      </p:pic>
      <p:pic>
        <p:nvPicPr>
          <p:cNvPr id="14" name="Logo" descr="/tmp/claude-0/-home-user-ad-gallery/7fc27a5a-8417-58c4-b3ff-7a7825ba0161/scratchpad/assets/s25_01.png">    </p:cNvPr>
          <p:cNvPicPr>
            <a:picLocks noChangeAspect="1"/>
          </p:cNvPicPr>
          <p:nvPr/>
        </p:nvPicPr>
        <p:blipFill>
          <a:blip r:embed="rId6"/>
          <a:stretch>
            <a:fillRect/>
          </a:stretch>
        </p:blipFill>
        <p:spPr>
          <a:xfrm>
            <a:off x="2471694" y="5687568"/>
            <a:ext cx="908773" cy="438912"/>
          </a:xfrm>
          <a:prstGeom prst="rect">
            <a:avLst/>
          </a:prstGeom>
        </p:spPr>
      </p:pic>
      <p:pic>
        <p:nvPicPr>
          <p:cNvPr id="15" name="Card" descr="preencoded.png">    </p:cNvPr>
          <p:cNvPicPr>
            <a:picLocks noChangeAspect="1"/>
          </p:cNvPicPr>
          <p:nvPr/>
        </p:nvPicPr>
        <p:blipFill>
          <a:blip r:embed="rId7"/>
          <a:stretch>
            <a:fillRect/>
          </a:stretch>
        </p:blipFill>
        <p:spPr>
          <a:xfrm>
            <a:off x="3877056" y="5431536"/>
            <a:ext cx="2212848" cy="950976"/>
          </a:xfrm>
          <a:prstGeom prst="rect">
            <a:avLst/>
          </a:prstGeom>
        </p:spPr>
      </p:pic>
      <p:pic>
        <p:nvPicPr>
          <p:cNvPr id="16" name="Logo" descr="/tmp/claude-0/-home-user-ad-gallery/7fc27a5a-8417-58c4-b3ff-7a7825ba0161/scratchpad/assets/s25_00.png">    </p:cNvPr>
          <p:cNvPicPr>
            <a:picLocks noChangeAspect="1"/>
          </p:cNvPicPr>
          <p:nvPr/>
        </p:nvPicPr>
        <p:blipFill>
          <a:blip r:embed="rId8"/>
          <a:stretch>
            <a:fillRect/>
          </a:stretch>
        </p:blipFill>
        <p:spPr>
          <a:xfrm>
            <a:off x="4331864" y="5687568"/>
            <a:ext cx="1303231" cy="438912"/>
          </a:xfrm>
          <a:prstGeom prst="rect">
            <a:avLst/>
          </a:prstGeom>
        </p:spPr>
      </p:pic>
      <p:pic>
        <p:nvPicPr>
          <p:cNvPr id="17" name="Card" descr="preencoded.png">    </p:cNvPr>
          <p:cNvPicPr>
            <a:picLocks noChangeAspect="1"/>
          </p:cNvPicPr>
          <p:nvPr/>
        </p:nvPicPr>
        <p:blipFill>
          <a:blip r:embed="rId9"/>
          <a:stretch>
            <a:fillRect/>
          </a:stretch>
        </p:blipFill>
        <p:spPr>
          <a:xfrm>
            <a:off x="5934456" y="5431536"/>
            <a:ext cx="2212848" cy="950976"/>
          </a:xfrm>
          <a:prstGeom prst="rect">
            <a:avLst/>
          </a:prstGeom>
        </p:spPr>
      </p:pic>
      <p:pic>
        <p:nvPicPr>
          <p:cNvPr id="18" name="Logo" descr="/tmp/claude-0/-home-user-ad-gallery/7fc27a5a-8417-58c4-b3ff-7a7825ba0161/scratchpad/assets/s25_02.png">    </p:cNvPr>
          <p:cNvPicPr>
            <a:picLocks noChangeAspect="1"/>
          </p:cNvPicPr>
          <p:nvPr/>
        </p:nvPicPr>
        <p:blipFill>
          <a:blip r:embed="rId10"/>
          <a:stretch>
            <a:fillRect/>
          </a:stretch>
        </p:blipFill>
        <p:spPr>
          <a:xfrm>
            <a:off x="6406025" y="5687568"/>
            <a:ext cx="1269710"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Digitization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PROJECT APPROACH</a:t>
            </a:r>
            <a:endParaRPr lang="en-US" sz="1100" dirty="0"/>
          </a:p>
        </p:txBody>
      </p:sp>
      <p:pic>
        <p:nvPicPr>
          <p:cNvPr id="4" name="Card" descr="preencoded.png">    </p:cNvPr>
          <p:cNvPicPr>
            <a:picLocks noChangeAspect="1"/>
          </p:cNvPicPr>
          <p:nvPr/>
        </p:nvPicPr>
        <p:blipFill>
          <a:blip r:embed="rId1"/>
          <a:stretch>
            <a:fillRect/>
          </a:stretch>
        </p:blipFill>
        <p:spPr>
          <a:xfrm>
            <a:off x="502920" y="1508760"/>
            <a:ext cx="2331720" cy="4709160"/>
          </a:xfrm>
          <a:prstGeom prst="rect">
            <a:avLst/>
          </a:prstGeom>
        </p:spPr>
      </p:pic>
      <p:sp>
        <p:nvSpPr>
          <p:cNvPr id="5" name="Pill"/>
          <p:cNvSpPr/>
          <p:nvPr/>
        </p:nvSpPr>
        <p:spPr>
          <a:xfrm>
            <a:off x="731520" y="1764792"/>
            <a:ext cx="1783080" cy="310896"/>
          </a:xfrm>
          <a:prstGeom prst="roundRect">
            <a:avLst>
              <a:gd name="adj" fmla="val 50000"/>
            </a:avLst>
          </a:prstGeom>
          <a:solidFill>
            <a:schemeClr val="accent2"/>
          </a:solidFill>
          <a:ln/>
        </p:spPr>
      </p:sp>
      <p:sp>
        <p:nvSpPr>
          <p:cNvPr id="6" name="Text 3"/>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EDUCATION PHASE</a:t>
            </a:r>
            <a:endParaRPr lang="en-US" sz="900" dirty="0"/>
          </a:p>
        </p:txBody>
      </p:sp>
      <p:pic>
        <p:nvPicPr>
          <p:cNvPr id="7" name="Badge" descr="preencoded.png">    </p:cNvPr>
          <p:cNvPicPr>
            <a:picLocks noChangeAspect="1"/>
          </p:cNvPicPr>
          <p:nvPr/>
        </p:nvPicPr>
        <p:blipFill>
          <a:blip r:embed="rId2"/>
          <a:stretch>
            <a:fillRect/>
          </a:stretch>
        </p:blipFill>
        <p:spPr>
          <a:xfrm>
            <a:off x="731520" y="2377440"/>
            <a:ext cx="566928" cy="566928"/>
          </a:xfrm>
          <a:prstGeom prst="rect">
            <a:avLst/>
          </a:prstGeom>
        </p:spPr>
      </p:pic>
      <p:sp>
        <p:nvSpPr>
          <p:cNvPr id="8" name="Text 4"/>
          <p:cNvSpPr txBox="1"/>
          <p:nvPr/>
        </p:nvSpPr>
        <p:spPr>
          <a:xfrm>
            <a:off x="731520" y="3063240"/>
            <a:ext cx="1874520" cy="777240"/>
          </a:xfrm>
          <a:prstGeom prst="rect">
            <a:avLst/>
          </a:prstGeom>
          <a:noFill/>
          <a:ln/>
        </p:spPr>
        <p:txBody>
          <a:bodyPr wrap="square" lIns="0" tIns="0" rIns="0" bIns="0" rtlCol="0" anchor="t"/>
          <a:lstStyle/>
          <a:p>
            <a:pPr indent="0" marL="0">
              <a:buNone/>
            </a:pPr>
            <a:r>
              <a:rPr lang="en-US" sz="1500" b="1" dirty="0">
                <a:solidFill>
                  <a:schemeClr val="tx1"/>
                </a:solidFill>
              </a:rPr>
              <a:t>Pre-built industry-specific demo</a:t>
            </a:r>
            <a:endParaRPr lang="en-US" sz="1500" dirty="0"/>
          </a:p>
        </p:txBody>
      </p:sp>
      <p:pic>
        <p:nvPicPr>
          <p:cNvPr id="9" name="Badge" descr="preencoded.png">    </p:cNvPr>
          <p:cNvPicPr>
            <a:picLocks noChangeAspect="1"/>
          </p:cNvPicPr>
          <p:nvPr/>
        </p:nvPicPr>
        <p:blipFill>
          <a:blip r:embed="rId3"/>
          <a:stretch>
            <a:fillRect/>
          </a:stretch>
        </p:blipFill>
        <p:spPr>
          <a:xfrm>
            <a:off x="731520" y="4023360"/>
            <a:ext cx="566928" cy="566928"/>
          </a:xfrm>
          <a:prstGeom prst="rect">
            <a:avLst/>
          </a:prstGeom>
        </p:spPr>
      </p:pic>
      <p:sp>
        <p:nvSpPr>
          <p:cNvPr id="10" name="Text 5"/>
          <p:cNvSpPr txBox="1"/>
          <p:nvPr/>
        </p:nvSpPr>
        <p:spPr>
          <a:xfrm>
            <a:off x="731520" y="4709160"/>
            <a:ext cx="1874520" cy="777240"/>
          </a:xfrm>
          <a:prstGeom prst="rect">
            <a:avLst/>
          </a:prstGeom>
          <a:noFill/>
          <a:ln/>
        </p:spPr>
        <p:txBody>
          <a:bodyPr wrap="square" lIns="0" tIns="0" rIns="0" bIns="0" rtlCol="0" anchor="t"/>
          <a:lstStyle/>
          <a:p>
            <a:pPr indent="0" marL="0">
              <a:buNone/>
            </a:pPr>
            <a:r>
              <a:rPr lang="en-US" sz="1500" b="1" dirty="0">
                <a:solidFill>
                  <a:schemeClr val="tx1"/>
                </a:solidFill>
              </a:rPr>
              <a:t>Proof of concept using client's own data</a:t>
            </a:r>
            <a:endParaRPr lang="en-US" sz="1500" dirty="0"/>
          </a:p>
        </p:txBody>
      </p:sp>
      <p:pic>
        <p:nvPicPr>
          <p:cNvPr id="11" name="Card" descr="preencoded.png">    </p:cNvPr>
          <p:cNvPicPr>
            <a:picLocks noChangeAspect="1"/>
          </p:cNvPicPr>
          <p:nvPr/>
        </p:nvPicPr>
        <p:blipFill>
          <a:blip r:embed="rId4"/>
          <a:stretch>
            <a:fillRect/>
          </a:stretch>
        </p:blipFill>
        <p:spPr>
          <a:xfrm>
            <a:off x="2871216" y="1362456"/>
            <a:ext cx="6083503" cy="5001768"/>
          </a:xfrm>
          <a:prstGeom prst="rect">
            <a:avLst/>
          </a:prstGeom>
        </p:spPr>
      </p:pic>
      <p:sp>
        <p:nvSpPr>
          <p:cNvPr id="12" name="Pill"/>
          <p:cNvSpPr/>
          <p:nvPr/>
        </p:nvSpPr>
        <p:spPr>
          <a:xfrm>
            <a:off x="3246120" y="1764792"/>
            <a:ext cx="1783080" cy="310896"/>
          </a:xfrm>
          <a:prstGeom prst="roundRect">
            <a:avLst>
              <a:gd name="adj" fmla="val 50000"/>
            </a:avLst>
          </a:prstGeom>
          <a:solidFill>
            <a:schemeClr val="accent1"/>
          </a:solidFill>
          <a:ln/>
        </p:spPr>
      </p:sp>
      <p:sp>
        <p:nvSpPr>
          <p:cNvPr id="13" name="Text 7"/>
          <p:cNvSpPr txBox="1"/>
          <p:nvPr/>
        </p:nvSpPr>
        <p:spPr>
          <a:xfrm>
            <a:off x="3246120" y="1764792"/>
            <a:ext cx="17830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SOLUTION PHASE</a:t>
            </a:r>
            <a:endParaRPr lang="en-US" sz="900" dirty="0"/>
          </a:p>
        </p:txBody>
      </p:sp>
      <p:pic>
        <p:nvPicPr>
          <p:cNvPr id="14" name="Icon" descr="preencoded.png">    </p:cNvPr>
          <p:cNvPicPr>
            <a:picLocks noChangeAspect="1"/>
          </p:cNvPicPr>
          <p:nvPr/>
        </p:nvPicPr>
        <p:blipFill>
          <a:blip r:embed="rId5"/>
          <a:stretch>
            <a:fillRect/>
          </a:stretch>
        </p:blipFill>
        <p:spPr>
          <a:xfrm>
            <a:off x="5212080" y="1801368"/>
            <a:ext cx="237744" cy="237744"/>
          </a:xfrm>
          <a:prstGeom prst="rect">
            <a:avLst/>
          </a:prstGeom>
        </p:spPr>
      </p:pic>
      <p:sp>
        <p:nvSpPr>
          <p:cNvPr id="15" name="Text 8"/>
          <p:cNvSpPr txBox="1"/>
          <p:nvPr/>
        </p:nvSpPr>
        <p:spPr>
          <a:xfrm>
            <a:off x="5532120" y="1709928"/>
            <a:ext cx="3093415" cy="420624"/>
          </a:xfrm>
          <a:prstGeom prst="rect">
            <a:avLst/>
          </a:prstGeom>
          <a:noFill/>
          <a:ln/>
        </p:spPr>
        <p:txBody>
          <a:bodyPr wrap="square" lIns="0" tIns="0" rIns="0" bIns="0" rtlCol="0" anchor="ctr"/>
          <a:lstStyle/>
          <a:p>
            <a:pPr indent="0" marL="0">
              <a:buNone/>
            </a:pPr>
            <a:r>
              <a:rPr lang="en-US" sz="1200" b="1" dirty="0">
                <a:solidFill>
                  <a:schemeClr val="accent5"/>
                </a:solidFill>
              </a:rPr>
              <a:t>Typical duration: 3–4 weeks per automation in case of LC/NC</a:t>
            </a:r>
            <a:endParaRPr lang="en-US" sz="1200" dirty="0"/>
          </a:p>
        </p:txBody>
      </p:sp>
      <p:sp>
        <p:nvSpPr>
          <p:cNvPr id="16" name="Timeline"/>
          <p:cNvSpPr/>
          <p:nvPr/>
        </p:nvSpPr>
        <p:spPr>
          <a:xfrm>
            <a:off x="3703320" y="3931920"/>
            <a:ext cx="4419295" cy="0"/>
          </a:xfrm>
          <a:prstGeom prst="line">
            <a:avLst/>
          </a:prstGeom>
          <a:noFill/>
          <a:ln w="31750">
            <a:solidFill>
              <a:schemeClr val="accent1"/>
            </a:solidFill>
            <a:prstDash val="solid"/>
          </a:ln>
        </p:spPr>
      </p:sp>
      <p:pic>
        <p:nvPicPr>
          <p:cNvPr id="17" name="NumBadge" descr="preencoded.png">    </p:cNvPr>
          <p:cNvPicPr>
            <a:picLocks noChangeAspect="1"/>
          </p:cNvPicPr>
          <p:nvPr/>
        </p:nvPicPr>
        <p:blipFill>
          <a:blip r:embed="rId6"/>
          <a:stretch>
            <a:fillRect/>
          </a:stretch>
        </p:blipFill>
        <p:spPr>
          <a:xfrm>
            <a:off x="3438144" y="3666744"/>
            <a:ext cx="530352" cy="530352"/>
          </a:xfrm>
          <a:prstGeom prst="rect">
            <a:avLst/>
          </a:prstGeom>
        </p:spPr>
      </p:pic>
      <p:sp>
        <p:nvSpPr>
          <p:cNvPr id="18" name="Text 10"/>
          <p:cNvSpPr txBox="1"/>
          <p:nvPr/>
        </p:nvSpPr>
        <p:spPr>
          <a:xfrm>
            <a:off x="3438144"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1</a:t>
            </a:r>
            <a:endParaRPr lang="en-US" sz="1400" dirty="0"/>
          </a:p>
        </p:txBody>
      </p:sp>
      <p:sp>
        <p:nvSpPr>
          <p:cNvPr id="19" name="Rule"/>
          <p:cNvSpPr/>
          <p:nvPr/>
        </p:nvSpPr>
        <p:spPr>
          <a:xfrm>
            <a:off x="3703320" y="3218688"/>
            <a:ext cx="0" cy="448056"/>
          </a:xfrm>
          <a:prstGeom prst="line">
            <a:avLst/>
          </a:prstGeom>
          <a:noFill/>
          <a:ln w="12700">
            <a:solidFill>
              <a:schemeClr val="accent6"/>
            </a:solidFill>
            <a:prstDash val="solid"/>
          </a:ln>
        </p:spPr>
      </p:sp>
      <p:sp>
        <p:nvSpPr>
          <p:cNvPr id="20" name="Text 12"/>
          <p:cNvSpPr txBox="1"/>
          <p:nvPr/>
        </p:nvSpPr>
        <p:spPr>
          <a:xfrm>
            <a:off x="2874325" y="2450592"/>
            <a:ext cx="1657990" cy="749808"/>
          </a:xfrm>
          <a:prstGeom prst="rect">
            <a:avLst/>
          </a:prstGeom>
          <a:noFill/>
          <a:ln/>
        </p:spPr>
        <p:txBody>
          <a:bodyPr wrap="square" lIns="0" tIns="0" rIns="0" bIns="0" rtlCol="0" anchor="b"/>
          <a:lstStyle/>
          <a:p>
            <a:pPr algn="ctr" indent="0" marL="0">
              <a:buNone/>
            </a:pPr>
            <a:r>
              <a:rPr lang="en-US" sz="1300" b="1" dirty="0">
                <a:solidFill>
                  <a:schemeClr val="tx1"/>
                </a:solidFill>
              </a:rPr>
              <a:t>Process Workshop</a:t>
            </a:r>
            <a:endParaRPr lang="en-US" sz="1300" dirty="0"/>
          </a:p>
        </p:txBody>
      </p:sp>
      <p:pic>
        <p:nvPicPr>
          <p:cNvPr id="21" name="NumBadge" descr="preencoded.png">    </p:cNvPr>
          <p:cNvPicPr>
            <a:picLocks noChangeAspect="1"/>
          </p:cNvPicPr>
          <p:nvPr/>
        </p:nvPicPr>
        <p:blipFill>
          <a:blip r:embed="rId7"/>
          <a:stretch>
            <a:fillRect/>
          </a:stretch>
        </p:blipFill>
        <p:spPr>
          <a:xfrm>
            <a:off x="4322003" y="3666744"/>
            <a:ext cx="530352" cy="530352"/>
          </a:xfrm>
          <a:prstGeom prst="rect">
            <a:avLst/>
          </a:prstGeom>
        </p:spPr>
      </p:pic>
      <p:sp>
        <p:nvSpPr>
          <p:cNvPr id="22" name="Text 13"/>
          <p:cNvSpPr txBox="1"/>
          <p:nvPr/>
        </p:nvSpPr>
        <p:spPr>
          <a:xfrm>
            <a:off x="4322003"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2</a:t>
            </a:r>
            <a:endParaRPr lang="en-US" sz="1400" dirty="0"/>
          </a:p>
        </p:txBody>
      </p:sp>
      <p:sp>
        <p:nvSpPr>
          <p:cNvPr id="23" name="Rule"/>
          <p:cNvSpPr/>
          <p:nvPr/>
        </p:nvSpPr>
        <p:spPr>
          <a:xfrm>
            <a:off x="4587179" y="4197096"/>
            <a:ext cx="0" cy="448056"/>
          </a:xfrm>
          <a:prstGeom prst="line">
            <a:avLst/>
          </a:prstGeom>
          <a:noFill/>
          <a:ln w="12700">
            <a:solidFill>
              <a:schemeClr val="accent6"/>
            </a:solidFill>
            <a:prstDash val="solid"/>
          </a:ln>
        </p:spPr>
      </p:sp>
      <p:sp>
        <p:nvSpPr>
          <p:cNvPr id="24" name="Text 15"/>
          <p:cNvSpPr txBox="1"/>
          <p:nvPr/>
        </p:nvSpPr>
        <p:spPr>
          <a:xfrm>
            <a:off x="3758184" y="4681728"/>
            <a:ext cx="1657990" cy="749808"/>
          </a:xfrm>
          <a:prstGeom prst="rect">
            <a:avLst/>
          </a:prstGeom>
          <a:noFill/>
          <a:ln/>
        </p:spPr>
        <p:txBody>
          <a:bodyPr wrap="square" lIns="0" tIns="0" rIns="0" bIns="0" rtlCol="0" anchor="t"/>
          <a:lstStyle/>
          <a:p>
            <a:pPr algn="ctr" indent="0" marL="0">
              <a:buNone/>
            </a:pPr>
            <a:r>
              <a:rPr lang="en-US" sz="1300" b="1" dirty="0">
                <a:solidFill>
                  <a:schemeClr val="tx1"/>
                </a:solidFill>
              </a:rPr>
              <a:t>Process Document</a:t>
            </a:r>
            <a:endParaRPr lang="en-US" sz="1300" dirty="0"/>
          </a:p>
        </p:txBody>
      </p:sp>
      <p:pic>
        <p:nvPicPr>
          <p:cNvPr id="25" name="NumBadge" descr="preencoded.png">    </p:cNvPr>
          <p:cNvPicPr>
            <a:picLocks noChangeAspect="1"/>
          </p:cNvPicPr>
          <p:nvPr/>
        </p:nvPicPr>
        <p:blipFill>
          <a:blip r:embed="rId8"/>
          <a:stretch>
            <a:fillRect/>
          </a:stretch>
        </p:blipFill>
        <p:spPr>
          <a:xfrm>
            <a:off x="5205862" y="3666744"/>
            <a:ext cx="530352" cy="530352"/>
          </a:xfrm>
          <a:prstGeom prst="rect">
            <a:avLst/>
          </a:prstGeom>
        </p:spPr>
      </p:pic>
      <p:sp>
        <p:nvSpPr>
          <p:cNvPr id="26" name="Text 16"/>
          <p:cNvSpPr txBox="1"/>
          <p:nvPr/>
        </p:nvSpPr>
        <p:spPr>
          <a:xfrm>
            <a:off x="5205862"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3</a:t>
            </a:r>
            <a:endParaRPr lang="en-US" sz="1400" dirty="0"/>
          </a:p>
        </p:txBody>
      </p:sp>
      <p:sp>
        <p:nvSpPr>
          <p:cNvPr id="27" name="Rule"/>
          <p:cNvSpPr/>
          <p:nvPr/>
        </p:nvSpPr>
        <p:spPr>
          <a:xfrm>
            <a:off x="5471038" y="3218688"/>
            <a:ext cx="0" cy="448056"/>
          </a:xfrm>
          <a:prstGeom prst="line">
            <a:avLst/>
          </a:prstGeom>
          <a:noFill/>
          <a:ln w="12700">
            <a:solidFill>
              <a:schemeClr val="accent6"/>
            </a:solidFill>
            <a:prstDash val="solid"/>
          </a:ln>
        </p:spPr>
      </p:sp>
      <p:sp>
        <p:nvSpPr>
          <p:cNvPr id="28" name="Text 18"/>
          <p:cNvSpPr txBox="1"/>
          <p:nvPr/>
        </p:nvSpPr>
        <p:spPr>
          <a:xfrm>
            <a:off x="4642043" y="2450592"/>
            <a:ext cx="1657990" cy="749808"/>
          </a:xfrm>
          <a:prstGeom prst="rect">
            <a:avLst/>
          </a:prstGeom>
          <a:noFill/>
          <a:ln/>
        </p:spPr>
        <p:txBody>
          <a:bodyPr wrap="square" lIns="0" tIns="0" rIns="0" bIns="0" rtlCol="0" anchor="b"/>
          <a:lstStyle/>
          <a:p>
            <a:pPr algn="ctr" indent="0" marL="0">
              <a:buNone/>
            </a:pPr>
            <a:r>
              <a:rPr lang="en-US" sz="1300" b="1" dirty="0">
                <a:solidFill>
                  <a:schemeClr val="tx1"/>
                </a:solidFill>
              </a:rPr>
              <a:t>Integration Build</a:t>
            </a:r>
            <a:endParaRPr lang="en-US" sz="1300" dirty="0"/>
          </a:p>
        </p:txBody>
      </p:sp>
      <p:pic>
        <p:nvPicPr>
          <p:cNvPr id="29" name="NumBadge" descr="preencoded.png">    </p:cNvPr>
          <p:cNvPicPr>
            <a:picLocks noChangeAspect="1"/>
          </p:cNvPicPr>
          <p:nvPr/>
        </p:nvPicPr>
        <p:blipFill>
          <a:blip r:embed="rId9"/>
          <a:stretch>
            <a:fillRect/>
          </a:stretch>
        </p:blipFill>
        <p:spPr>
          <a:xfrm>
            <a:off x="6089721" y="3666744"/>
            <a:ext cx="530352" cy="530352"/>
          </a:xfrm>
          <a:prstGeom prst="rect">
            <a:avLst/>
          </a:prstGeom>
        </p:spPr>
      </p:pic>
      <p:sp>
        <p:nvSpPr>
          <p:cNvPr id="30" name="Text 19"/>
          <p:cNvSpPr txBox="1"/>
          <p:nvPr/>
        </p:nvSpPr>
        <p:spPr>
          <a:xfrm>
            <a:off x="6089721"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4</a:t>
            </a:r>
            <a:endParaRPr lang="en-US" sz="1400" dirty="0"/>
          </a:p>
        </p:txBody>
      </p:sp>
      <p:sp>
        <p:nvSpPr>
          <p:cNvPr id="31" name="Rule"/>
          <p:cNvSpPr/>
          <p:nvPr/>
        </p:nvSpPr>
        <p:spPr>
          <a:xfrm>
            <a:off x="6354897" y="4197096"/>
            <a:ext cx="0" cy="448056"/>
          </a:xfrm>
          <a:prstGeom prst="line">
            <a:avLst/>
          </a:prstGeom>
          <a:noFill/>
          <a:ln w="12700">
            <a:solidFill>
              <a:schemeClr val="accent6"/>
            </a:solidFill>
            <a:prstDash val="solid"/>
          </a:ln>
        </p:spPr>
      </p:sp>
      <p:sp>
        <p:nvSpPr>
          <p:cNvPr id="32" name="Text 21"/>
          <p:cNvSpPr txBox="1"/>
          <p:nvPr/>
        </p:nvSpPr>
        <p:spPr>
          <a:xfrm>
            <a:off x="5525902" y="4681728"/>
            <a:ext cx="1657990" cy="749808"/>
          </a:xfrm>
          <a:prstGeom prst="rect">
            <a:avLst/>
          </a:prstGeom>
          <a:noFill/>
          <a:ln/>
        </p:spPr>
        <p:txBody>
          <a:bodyPr wrap="square" lIns="0" tIns="0" rIns="0" bIns="0" rtlCol="0" anchor="t"/>
          <a:lstStyle/>
          <a:p>
            <a:pPr algn="ctr" indent="0" marL="0">
              <a:buNone/>
            </a:pPr>
            <a:r>
              <a:rPr lang="en-US" sz="1300" b="1" dirty="0">
                <a:solidFill>
                  <a:schemeClr val="tx1"/>
                </a:solidFill>
              </a:rPr>
              <a:t>Process Build</a:t>
            </a:r>
            <a:endParaRPr lang="en-US" sz="1300" dirty="0"/>
          </a:p>
        </p:txBody>
      </p:sp>
      <p:pic>
        <p:nvPicPr>
          <p:cNvPr id="33" name="NumBadge" descr="preencoded.png">    </p:cNvPr>
          <p:cNvPicPr>
            <a:picLocks noChangeAspect="1"/>
          </p:cNvPicPr>
          <p:nvPr/>
        </p:nvPicPr>
        <p:blipFill>
          <a:blip r:embed="rId10"/>
          <a:stretch>
            <a:fillRect/>
          </a:stretch>
        </p:blipFill>
        <p:spPr>
          <a:xfrm>
            <a:off x="6973580" y="3666744"/>
            <a:ext cx="530352" cy="530352"/>
          </a:xfrm>
          <a:prstGeom prst="rect">
            <a:avLst/>
          </a:prstGeom>
        </p:spPr>
      </p:pic>
      <p:sp>
        <p:nvSpPr>
          <p:cNvPr id="34" name="Text 22"/>
          <p:cNvSpPr txBox="1"/>
          <p:nvPr/>
        </p:nvSpPr>
        <p:spPr>
          <a:xfrm>
            <a:off x="6973580"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5</a:t>
            </a:r>
            <a:endParaRPr lang="en-US" sz="1400" dirty="0"/>
          </a:p>
        </p:txBody>
      </p:sp>
      <p:sp>
        <p:nvSpPr>
          <p:cNvPr id="35" name="Rule"/>
          <p:cNvSpPr/>
          <p:nvPr/>
        </p:nvSpPr>
        <p:spPr>
          <a:xfrm>
            <a:off x="7238756" y="3218688"/>
            <a:ext cx="0" cy="448056"/>
          </a:xfrm>
          <a:prstGeom prst="line">
            <a:avLst/>
          </a:prstGeom>
          <a:noFill/>
          <a:ln w="12700">
            <a:solidFill>
              <a:schemeClr val="accent6"/>
            </a:solidFill>
            <a:prstDash val="solid"/>
          </a:ln>
        </p:spPr>
      </p:sp>
      <p:sp>
        <p:nvSpPr>
          <p:cNvPr id="36" name="Text 24"/>
          <p:cNvSpPr txBox="1"/>
          <p:nvPr/>
        </p:nvSpPr>
        <p:spPr>
          <a:xfrm>
            <a:off x="6409761" y="2450592"/>
            <a:ext cx="1657990" cy="749808"/>
          </a:xfrm>
          <a:prstGeom prst="rect">
            <a:avLst/>
          </a:prstGeom>
          <a:noFill/>
          <a:ln/>
        </p:spPr>
        <p:txBody>
          <a:bodyPr wrap="square" lIns="0" tIns="0" rIns="0" bIns="0" rtlCol="0" anchor="b"/>
          <a:lstStyle/>
          <a:p>
            <a:pPr algn="ctr" indent="0" marL="0">
              <a:buNone/>
            </a:pPr>
            <a:r>
              <a:rPr lang="en-US" sz="1300" b="1" dirty="0">
                <a:solidFill>
                  <a:schemeClr val="tx1"/>
                </a:solidFill>
              </a:rPr>
              <a:t>Conference Room Pilot</a:t>
            </a:r>
            <a:endParaRPr lang="en-US" sz="1300" dirty="0"/>
          </a:p>
        </p:txBody>
      </p:sp>
      <p:pic>
        <p:nvPicPr>
          <p:cNvPr id="37" name="NumBadge" descr="preencoded.png">    </p:cNvPr>
          <p:cNvPicPr>
            <a:picLocks noChangeAspect="1"/>
          </p:cNvPicPr>
          <p:nvPr/>
        </p:nvPicPr>
        <p:blipFill>
          <a:blip r:embed="rId11"/>
          <a:stretch>
            <a:fillRect/>
          </a:stretch>
        </p:blipFill>
        <p:spPr>
          <a:xfrm>
            <a:off x="7857439" y="3666744"/>
            <a:ext cx="530352" cy="530352"/>
          </a:xfrm>
          <a:prstGeom prst="rect">
            <a:avLst/>
          </a:prstGeom>
        </p:spPr>
      </p:pic>
      <p:sp>
        <p:nvSpPr>
          <p:cNvPr id="38" name="Text 25"/>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6</a:t>
            </a:r>
            <a:endParaRPr lang="en-US" sz="1400" dirty="0"/>
          </a:p>
        </p:txBody>
      </p:sp>
      <p:sp>
        <p:nvSpPr>
          <p:cNvPr id="39" name="Rule"/>
          <p:cNvSpPr/>
          <p:nvPr/>
        </p:nvSpPr>
        <p:spPr>
          <a:xfrm>
            <a:off x="8122615" y="4197096"/>
            <a:ext cx="0" cy="448056"/>
          </a:xfrm>
          <a:prstGeom prst="line">
            <a:avLst/>
          </a:prstGeom>
          <a:noFill/>
          <a:ln w="12700">
            <a:solidFill>
              <a:schemeClr val="accent6"/>
            </a:solidFill>
            <a:prstDash val="solid"/>
          </a:ln>
        </p:spPr>
      </p:sp>
      <p:sp>
        <p:nvSpPr>
          <p:cNvPr id="40" name="Text 27"/>
          <p:cNvSpPr txBox="1"/>
          <p:nvPr/>
        </p:nvSpPr>
        <p:spPr>
          <a:xfrm>
            <a:off x="7293620" y="4681728"/>
            <a:ext cx="1657990" cy="749808"/>
          </a:xfrm>
          <a:prstGeom prst="rect">
            <a:avLst/>
          </a:prstGeom>
          <a:noFill/>
          <a:ln/>
        </p:spPr>
        <p:txBody>
          <a:bodyPr wrap="square" lIns="0" tIns="0" rIns="0" bIns="0" rtlCol="0" anchor="t"/>
          <a:lstStyle/>
          <a:p>
            <a:pPr algn="ctr" indent="0" marL="0">
              <a:buNone/>
            </a:pPr>
            <a:r>
              <a:rPr lang="en-US" sz="1300" b="1" dirty="0">
                <a:solidFill>
                  <a:schemeClr val="tx1"/>
                </a:solidFill>
              </a:rPr>
              <a:t>Go-Live</a:t>
            </a:r>
            <a:endParaRPr lang="en-US" sz="1300" dirty="0"/>
          </a:p>
        </p:txBody>
      </p:sp>
      <p:pic>
        <p:nvPicPr>
          <p:cNvPr id="41" name="Card" descr="preencoded.png">    </p:cNvPr>
          <p:cNvPicPr>
            <a:picLocks noChangeAspect="1"/>
          </p:cNvPicPr>
          <p:nvPr/>
        </p:nvPicPr>
        <p:blipFill>
          <a:blip r:embed="rId12"/>
          <a:stretch>
            <a:fillRect/>
          </a:stretch>
        </p:blipFill>
        <p:spPr>
          <a:xfrm>
            <a:off x="8844991" y="1362456"/>
            <a:ext cx="2990088" cy="5001768"/>
          </a:xfrm>
          <a:prstGeom prst="rect">
            <a:avLst/>
          </a:prstGeom>
        </p:spPr>
      </p:pic>
      <p:sp>
        <p:nvSpPr>
          <p:cNvPr id="42" name="Pill"/>
          <p:cNvSpPr/>
          <p:nvPr/>
        </p:nvSpPr>
        <p:spPr>
          <a:xfrm>
            <a:off x="9219895" y="1764792"/>
            <a:ext cx="1554480" cy="310896"/>
          </a:xfrm>
          <a:prstGeom prst="roundRect">
            <a:avLst>
              <a:gd name="adj" fmla="val 50000"/>
            </a:avLst>
          </a:prstGeom>
          <a:solidFill>
            <a:schemeClr val="accent1"/>
          </a:solidFill>
          <a:ln/>
        </p:spPr>
      </p:sp>
      <p:sp>
        <p:nvSpPr>
          <p:cNvPr id="43" name="Text 29"/>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200" kern="0" dirty="0">
                <a:solidFill>
                  <a:schemeClr val="bg1"/>
                </a:solidFill>
              </a:rPr>
              <a:t>VALUE PHASE</a:t>
            </a:r>
            <a:endParaRPr lang="en-US" sz="900" dirty="0"/>
          </a:p>
        </p:txBody>
      </p:sp>
      <p:sp>
        <p:nvSpPr>
          <p:cNvPr id="44" name="Text 30"/>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900" b="1" dirty="0">
                <a:solidFill>
                  <a:schemeClr val="bg1"/>
                </a:solidFill>
              </a:rPr>
              <a:t>Engagement Models</a:t>
            </a:r>
            <a:endParaRPr lang="en-US" sz="1900" dirty="0"/>
          </a:p>
        </p:txBody>
      </p:sp>
      <p:sp>
        <p:nvSpPr>
          <p:cNvPr id="45" name="ValueItem"/>
          <p:cNvSpPr/>
          <p:nvPr/>
        </p:nvSpPr>
        <p:spPr>
          <a:xfrm>
            <a:off x="9219895" y="2880360"/>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46" name="Icon" descr="preencoded.png">    </p:cNvPr>
          <p:cNvPicPr>
            <a:picLocks noChangeAspect="1"/>
          </p:cNvPicPr>
          <p:nvPr/>
        </p:nvPicPr>
        <p:blipFill>
          <a:blip r:embed="rId13"/>
          <a:stretch>
            <a:fillRect/>
          </a:stretch>
        </p:blipFill>
        <p:spPr>
          <a:xfrm>
            <a:off x="9357055" y="3044952"/>
            <a:ext cx="237744" cy="237744"/>
          </a:xfrm>
          <a:prstGeom prst="rect">
            <a:avLst/>
          </a:prstGeom>
        </p:spPr>
      </p:pic>
      <p:sp>
        <p:nvSpPr>
          <p:cNvPr id="47" name="Text 32"/>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AMC Model</a:t>
            </a:r>
            <a:endParaRPr lang="en-US" sz="1400" dirty="0"/>
          </a:p>
        </p:txBody>
      </p:sp>
      <p:sp>
        <p:nvSpPr>
          <p:cNvPr id="48" name="ValueItem"/>
          <p:cNvSpPr/>
          <p:nvPr/>
        </p:nvSpPr>
        <p:spPr>
          <a:xfrm>
            <a:off x="9219895" y="3575304"/>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49" name="Icon" descr="preencoded.png">    </p:cNvPr>
          <p:cNvPicPr>
            <a:picLocks noChangeAspect="1"/>
          </p:cNvPicPr>
          <p:nvPr/>
        </p:nvPicPr>
        <p:blipFill>
          <a:blip r:embed="rId14"/>
          <a:stretch>
            <a:fillRect/>
          </a:stretch>
        </p:blipFill>
        <p:spPr>
          <a:xfrm>
            <a:off x="9357055" y="3739896"/>
            <a:ext cx="237744" cy="237744"/>
          </a:xfrm>
          <a:prstGeom prst="rect">
            <a:avLst/>
          </a:prstGeom>
        </p:spPr>
      </p:pic>
      <p:sp>
        <p:nvSpPr>
          <p:cNvPr id="50" name="Text 34"/>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400" b="1" dirty="0">
                <a:solidFill>
                  <a:schemeClr val="bg1"/>
                </a:solidFill>
              </a:rPr>
              <a:t>Subscription Model</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Microsoft Data Analytics Platform</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PLATFORM EXPERTISE</a:t>
            </a:r>
            <a:endParaRPr lang="en-US" sz="1100" dirty="0"/>
          </a:p>
        </p:txBody>
      </p:sp>
      <p:pic>
        <p:nvPicPr>
          <p:cNvPr id="4" name="Card" descr="preencoded.png">    </p:cNvPr>
          <p:cNvPicPr>
            <a:picLocks noChangeAspect="1"/>
          </p:cNvPicPr>
          <p:nvPr/>
        </p:nvPicPr>
        <p:blipFill>
          <a:blip r:embed="rId1"/>
          <a:stretch>
            <a:fillRect/>
          </a:stretch>
        </p:blipFill>
        <p:spPr>
          <a:xfrm>
            <a:off x="356616" y="1316736"/>
            <a:ext cx="2578608" cy="795528"/>
          </a:xfrm>
          <a:prstGeom prst="rect">
            <a:avLst/>
          </a:prstGeom>
        </p:spPr>
      </p:pic>
      <p:pic>
        <p:nvPicPr>
          <p:cNvPr id="5" name="Logo" descr="/tmp/claude-0/-home-user-ad-gallery/7fc27a5a-8417-58c4-b3ff-7a7825ba0161/scratchpad/assets/s19_03.png">    </p:cNvPr>
          <p:cNvPicPr>
            <a:picLocks noChangeAspect="1"/>
          </p:cNvPicPr>
          <p:nvPr/>
        </p:nvPicPr>
        <p:blipFill>
          <a:blip r:embed="rId2"/>
          <a:stretch>
            <a:fillRect/>
          </a:stretch>
        </p:blipFill>
        <p:spPr>
          <a:xfrm>
            <a:off x="1205761" y="1536192"/>
            <a:ext cx="880318" cy="356616"/>
          </a:xfrm>
          <a:prstGeom prst="rect">
            <a:avLst/>
          </a:prstGeom>
        </p:spPr>
      </p:pic>
      <p:sp>
        <p:nvSpPr>
          <p:cNvPr id="6" name="Text 2"/>
          <p:cNvSpPr txBox="1"/>
          <p:nvPr/>
        </p:nvSpPr>
        <p:spPr>
          <a:xfrm>
            <a:off x="2971800" y="1463040"/>
            <a:ext cx="5486400" cy="502920"/>
          </a:xfrm>
          <a:prstGeom prst="rect">
            <a:avLst/>
          </a:prstGeom>
          <a:noFill/>
          <a:ln/>
        </p:spPr>
        <p:txBody>
          <a:bodyPr wrap="square" lIns="0" tIns="0" rIns="0" bIns="0" rtlCol="0" anchor="ctr"/>
          <a:lstStyle/>
          <a:p>
            <a:pPr indent="0" marL="0">
              <a:buNone/>
            </a:pPr>
            <a:r>
              <a:rPr lang="en-US" sz="1600" b="1" dirty="0">
                <a:solidFill>
                  <a:schemeClr val="accent2"/>
                </a:solidFill>
              </a:rPr>
              <a:t>Intelligent data foundation</a:t>
            </a:r>
            <a:endParaRPr lang="en-US" sz="1600" dirty="0"/>
          </a:p>
        </p:txBody>
      </p:sp>
      <p:pic>
        <p:nvPicPr>
          <p:cNvPr id="7" name="Card" descr="preencoded.png">    </p:cNvPr>
          <p:cNvPicPr>
            <a:picLocks noChangeAspect="1"/>
          </p:cNvPicPr>
          <p:nvPr/>
        </p:nvPicPr>
        <p:blipFill>
          <a:blip r:embed="rId3"/>
          <a:stretch>
            <a:fillRect/>
          </a:stretch>
        </p:blipFill>
        <p:spPr>
          <a:xfrm>
            <a:off x="356616" y="2002536"/>
            <a:ext cx="1594828" cy="1709928"/>
          </a:xfrm>
          <a:prstGeom prst="rect">
            <a:avLst/>
          </a:prstGeom>
        </p:spPr>
      </p:pic>
      <p:pic>
        <p:nvPicPr>
          <p:cNvPr id="8" name="Badge" descr="preencoded.png">    </p:cNvPr>
          <p:cNvPicPr>
            <a:picLocks noChangeAspect="1"/>
          </p:cNvPicPr>
          <p:nvPr/>
        </p:nvPicPr>
        <p:blipFill>
          <a:blip r:embed="rId4"/>
          <a:stretch>
            <a:fillRect/>
          </a:stretch>
        </p:blipFill>
        <p:spPr>
          <a:xfrm>
            <a:off x="879710" y="2286000"/>
            <a:ext cx="548640" cy="548640"/>
          </a:xfrm>
          <a:prstGeom prst="rect">
            <a:avLst/>
          </a:prstGeom>
        </p:spPr>
      </p:pic>
      <p:sp>
        <p:nvSpPr>
          <p:cNvPr id="9" name="Text 3"/>
          <p:cNvSpPr txBox="1"/>
          <p:nvPr/>
        </p:nvSpPr>
        <p:spPr>
          <a:xfrm>
            <a:off x="557784"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Factory</a:t>
            </a:r>
            <a:endParaRPr lang="en-US" sz="1200" dirty="0"/>
          </a:p>
        </p:txBody>
      </p:sp>
      <p:pic>
        <p:nvPicPr>
          <p:cNvPr id="10" name="Card" descr="preencoded.png">    </p:cNvPr>
          <p:cNvPicPr>
            <a:picLocks noChangeAspect="1"/>
          </p:cNvPicPr>
          <p:nvPr/>
        </p:nvPicPr>
        <p:blipFill>
          <a:blip r:embed="rId5"/>
          <a:stretch>
            <a:fillRect/>
          </a:stretch>
        </p:blipFill>
        <p:spPr>
          <a:xfrm>
            <a:off x="1768564" y="2002536"/>
            <a:ext cx="1594828" cy="1709928"/>
          </a:xfrm>
          <a:prstGeom prst="rect">
            <a:avLst/>
          </a:prstGeom>
        </p:spPr>
      </p:pic>
      <p:pic>
        <p:nvPicPr>
          <p:cNvPr id="11" name="Badge" descr="preencoded.png">    </p:cNvPr>
          <p:cNvPicPr>
            <a:picLocks noChangeAspect="1"/>
          </p:cNvPicPr>
          <p:nvPr/>
        </p:nvPicPr>
        <p:blipFill>
          <a:blip r:embed="rId6"/>
          <a:stretch>
            <a:fillRect/>
          </a:stretch>
        </p:blipFill>
        <p:spPr>
          <a:xfrm>
            <a:off x="2291658" y="2286000"/>
            <a:ext cx="548640" cy="548640"/>
          </a:xfrm>
          <a:prstGeom prst="rect">
            <a:avLst/>
          </a:prstGeom>
        </p:spPr>
      </p:pic>
      <p:sp>
        <p:nvSpPr>
          <p:cNvPr id="12" name="Text 4"/>
          <p:cNvSpPr txBox="1"/>
          <p:nvPr/>
        </p:nvSpPr>
        <p:spPr>
          <a:xfrm>
            <a:off x="1969732"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Engineering</a:t>
            </a:r>
            <a:endParaRPr lang="en-US" sz="1200" dirty="0"/>
          </a:p>
        </p:txBody>
      </p:sp>
      <p:pic>
        <p:nvPicPr>
          <p:cNvPr id="13" name="Card" descr="preencoded.png">    </p:cNvPr>
          <p:cNvPicPr>
            <a:picLocks noChangeAspect="1"/>
          </p:cNvPicPr>
          <p:nvPr/>
        </p:nvPicPr>
        <p:blipFill>
          <a:blip r:embed="rId7"/>
          <a:stretch>
            <a:fillRect/>
          </a:stretch>
        </p:blipFill>
        <p:spPr>
          <a:xfrm>
            <a:off x="3180512" y="2002536"/>
            <a:ext cx="1594828" cy="1709928"/>
          </a:xfrm>
          <a:prstGeom prst="rect">
            <a:avLst/>
          </a:prstGeom>
        </p:spPr>
      </p:pic>
      <p:pic>
        <p:nvPicPr>
          <p:cNvPr id="14" name="Badge" descr="preencoded.png">    </p:cNvPr>
          <p:cNvPicPr>
            <a:picLocks noChangeAspect="1"/>
          </p:cNvPicPr>
          <p:nvPr/>
        </p:nvPicPr>
        <p:blipFill>
          <a:blip r:embed="rId8"/>
          <a:stretch>
            <a:fillRect/>
          </a:stretch>
        </p:blipFill>
        <p:spPr>
          <a:xfrm>
            <a:off x="3703606" y="2286000"/>
            <a:ext cx="548640" cy="548640"/>
          </a:xfrm>
          <a:prstGeom prst="rect">
            <a:avLst/>
          </a:prstGeom>
        </p:spPr>
      </p:pic>
      <p:sp>
        <p:nvSpPr>
          <p:cNvPr id="15" name="Text 5"/>
          <p:cNvSpPr txBox="1"/>
          <p:nvPr/>
        </p:nvSpPr>
        <p:spPr>
          <a:xfrm>
            <a:off x="3381680"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Warehouse</a:t>
            </a:r>
            <a:endParaRPr lang="en-US" sz="1200" dirty="0"/>
          </a:p>
        </p:txBody>
      </p:sp>
      <p:pic>
        <p:nvPicPr>
          <p:cNvPr id="16" name="Card" descr="preencoded.png">    </p:cNvPr>
          <p:cNvPicPr>
            <a:picLocks noChangeAspect="1"/>
          </p:cNvPicPr>
          <p:nvPr/>
        </p:nvPicPr>
        <p:blipFill>
          <a:blip r:embed="rId9"/>
          <a:stretch>
            <a:fillRect/>
          </a:stretch>
        </p:blipFill>
        <p:spPr>
          <a:xfrm>
            <a:off x="4592460" y="2002536"/>
            <a:ext cx="1594828" cy="1709928"/>
          </a:xfrm>
          <a:prstGeom prst="rect">
            <a:avLst/>
          </a:prstGeom>
        </p:spPr>
      </p:pic>
      <p:pic>
        <p:nvPicPr>
          <p:cNvPr id="17" name="Badge" descr="preencoded.png">    </p:cNvPr>
          <p:cNvPicPr>
            <a:picLocks noChangeAspect="1"/>
          </p:cNvPicPr>
          <p:nvPr/>
        </p:nvPicPr>
        <p:blipFill>
          <a:blip r:embed="rId10"/>
          <a:stretch>
            <a:fillRect/>
          </a:stretch>
        </p:blipFill>
        <p:spPr>
          <a:xfrm>
            <a:off x="5115554" y="2286000"/>
            <a:ext cx="548640" cy="548640"/>
          </a:xfrm>
          <a:prstGeom prst="rect">
            <a:avLst/>
          </a:prstGeom>
        </p:spPr>
      </p:pic>
      <p:sp>
        <p:nvSpPr>
          <p:cNvPr id="18" name="Text 6"/>
          <p:cNvSpPr txBox="1"/>
          <p:nvPr/>
        </p:nvSpPr>
        <p:spPr>
          <a:xfrm>
            <a:off x="4793628"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Science</a:t>
            </a:r>
            <a:endParaRPr lang="en-US" sz="1200" dirty="0"/>
          </a:p>
        </p:txBody>
      </p:sp>
      <p:pic>
        <p:nvPicPr>
          <p:cNvPr id="19" name="Card" descr="preencoded.png">    </p:cNvPr>
          <p:cNvPicPr>
            <a:picLocks noChangeAspect="1"/>
          </p:cNvPicPr>
          <p:nvPr/>
        </p:nvPicPr>
        <p:blipFill>
          <a:blip r:embed="rId11"/>
          <a:stretch>
            <a:fillRect/>
          </a:stretch>
        </p:blipFill>
        <p:spPr>
          <a:xfrm>
            <a:off x="6004408" y="2002536"/>
            <a:ext cx="1594828" cy="1709928"/>
          </a:xfrm>
          <a:prstGeom prst="rect">
            <a:avLst/>
          </a:prstGeom>
        </p:spPr>
      </p:pic>
      <p:pic>
        <p:nvPicPr>
          <p:cNvPr id="20" name="Badge" descr="preencoded.png">    </p:cNvPr>
          <p:cNvPicPr>
            <a:picLocks noChangeAspect="1"/>
          </p:cNvPicPr>
          <p:nvPr/>
        </p:nvPicPr>
        <p:blipFill>
          <a:blip r:embed="rId12"/>
          <a:stretch>
            <a:fillRect/>
          </a:stretch>
        </p:blipFill>
        <p:spPr>
          <a:xfrm>
            <a:off x="6527502" y="2286000"/>
            <a:ext cx="548640" cy="548640"/>
          </a:xfrm>
          <a:prstGeom prst="rect">
            <a:avLst/>
          </a:prstGeom>
        </p:spPr>
      </p:pic>
      <p:sp>
        <p:nvSpPr>
          <p:cNvPr id="21" name="Text 7"/>
          <p:cNvSpPr txBox="1"/>
          <p:nvPr/>
        </p:nvSpPr>
        <p:spPr>
          <a:xfrm>
            <a:off x="6205576"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Real-Time Intelligence</a:t>
            </a:r>
            <a:endParaRPr lang="en-US" sz="1200" dirty="0"/>
          </a:p>
        </p:txBody>
      </p:sp>
      <p:pic>
        <p:nvPicPr>
          <p:cNvPr id="22" name="Card" descr="preencoded.png">    </p:cNvPr>
          <p:cNvPicPr>
            <a:picLocks noChangeAspect="1"/>
          </p:cNvPicPr>
          <p:nvPr/>
        </p:nvPicPr>
        <p:blipFill>
          <a:blip r:embed="rId13"/>
          <a:stretch>
            <a:fillRect/>
          </a:stretch>
        </p:blipFill>
        <p:spPr>
          <a:xfrm>
            <a:off x="7416356" y="2002536"/>
            <a:ext cx="1594828" cy="1709928"/>
          </a:xfrm>
          <a:prstGeom prst="rect">
            <a:avLst/>
          </a:prstGeom>
        </p:spPr>
      </p:pic>
      <p:pic>
        <p:nvPicPr>
          <p:cNvPr id="23" name="Badge" descr="preencoded.png">    </p:cNvPr>
          <p:cNvPicPr>
            <a:picLocks noChangeAspect="1"/>
          </p:cNvPicPr>
          <p:nvPr/>
        </p:nvPicPr>
        <p:blipFill>
          <a:blip r:embed="rId14"/>
          <a:stretch>
            <a:fillRect/>
          </a:stretch>
        </p:blipFill>
        <p:spPr>
          <a:xfrm>
            <a:off x="7939449" y="2286000"/>
            <a:ext cx="548640" cy="548640"/>
          </a:xfrm>
          <a:prstGeom prst="rect">
            <a:avLst/>
          </a:prstGeom>
        </p:spPr>
      </p:pic>
      <p:sp>
        <p:nvSpPr>
          <p:cNvPr id="24" name="Text 8"/>
          <p:cNvSpPr txBox="1"/>
          <p:nvPr/>
        </p:nvSpPr>
        <p:spPr>
          <a:xfrm>
            <a:off x="7617524"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Databases</a:t>
            </a:r>
            <a:endParaRPr lang="en-US" sz="1200" dirty="0"/>
          </a:p>
        </p:txBody>
      </p:sp>
      <p:pic>
        <p:nvPicPr>
          <p:cNvPr id="25" name="Card" descr="preencoded.png">    </p:cNvPr>
          <p:cNvPicPr>
            <a:picLocks noChangeAspect="1"/>
          </p:cNvPicPr>
          <p:nvPr/>
        </p:nvPicPr>
        <p:blipFill>
          <a:blip r:embed="rId15"/>
          <a:stretch>
            <a:fillRect/>
          </a:stretch>
        </p:blipFill>
        <p:spPr>
          <a:xfrm>
            <a:off x="8828303" y="2002536"/>
            <a:ext cx="1594828" cy="1709928"/>
          </a:xfrm>
          <a:prstGeom prst="rect">
            <a:avLst/>
          </a:prstGeom>
        </p:spPr>
      </p:pic>
      <p:pic>
        <p:nvPicPr>
          <p:cNvPr id="26" name="Badge" descr="preencoded.png">    </p:cNvPr>
          <p:cNvPicPr>
            <a:picLocks noChangeAspect="1"/>
          </p:cNvPicPr>
          <p:nvPr/>
        </p:nvPicPr>
        <p:blipFill>
          <a:blip r:embed="rId16"/>
          <a:stretch>
            <a:fillRect/>
          </a:stretch>
        </p:blipFill>
        <p:spPr>
          <a:xfrm>
            <a:off x="9351397" y="2286000"/>
            <a:ext cx="548640" cy="548640"/>
          </a:xfrm>
          <a:prstGeom prst="rect">
            <a:avLst/>
          </a:prstGeom>
        </p:spPr>
      </p:pic>
      <p:sp>
        <p:nvSpPr>
          <p:cNvPr id="27" name="Text 9"/>
          <p:cNvSpPr txBox="1"/>
          <p:nvPr/>
        </p:nvSpPr>
        <p:spPr>
          <a:xfrm>
            <a:off x="9029471"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Industry Solutions</a:t>
            </a:r>
            <a:endParaRPr lang="en-US" sz="1200" dirty="0"/>
          </a:p>
        </p:txBody>
      </p:sp>
      <p:pic>
        <p:nvPicPr>
          <p:cNvPr id="28" name="Card" descr="preencoded.png">    </p:cNvPr>
          <p:cNvPicPr>
            <a:picLocks noChangeAspect="1"/>
          </p:cNvPicPr>
          <p:nvPr/>
        </p:nvPicPr>
        <p:blipFill>
          <a:blip r:embed="rId17"/>
          <a:stretch>
            <a:fillRect/>
          </a:stretch>
        </p:blipFill>
        <p:spPr>
          <a:xfrm>
            <a:off x="10240251" y="2002536"/>
            <a:ext cx="1594828" cy="1709928"/>
          </a:xfrm>
          <a:prstGeom prst="rect">
            <a:avLst/>
          </a:prstGeom>
        </p:spPr>
      </p:pic>
      <p:pic>
        <p:nvPicPr>
          <p:cNvPr id="29" name="Badge" descr="preencoded.png">    </p:cNvPr>
          <p:cNvPicPr>
            <a:picLocks noChangeAspect="1"/>
          </p:cNvPicPr>
          <p:nvPr/>
        </p:nvPicPr>
        <p:blipFill>
          <a:blip r:embed="rId18"/>
          <a:stretch>
            <a:fillRect/>
          </a:stretch>
        </p:blipFill>
        <p:spPr>
          <a:xfrm>
            <a:off x="10763345" y="2286000"/>
            <a:ext cx="548640" cy="548640"/>
          </a:xfrm>
          <a:prstGeom prst="rect">
            <a:avLst/>
          </a:prstGeom>
        </p:spPr>
      </p:pic>
      <p:sp>
        <p:nvSpPr>
          <p:cNvPr id="30" name="Text 10"/>
          <p:cNvSpPr txBox="1"/>
          <p:nvPr/>
        </p:nvSpPr>
        <p:spPr>
          <a:xfrm>
            <a:off x="10441419"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Power BI</a:t>
            </a:r>
            <a:endParaRPr lang="en-US" sz="1200" dirty="0"/>
          </a:p>
        </p:txBody>
      </p:sp>
      <p:pic>
        <p:nvPicPr>
          <p:cNvPr id="31" name="Card" descr="preencoded.png">    </p:cNvPr>
          <p:cNvPicPr>
            <a:picLocks noChangeAspect="1"/>
          </p:cNvPicPr>
          <p:nvPr/>
        </p:nvPicPr>
        <p:blipFill>
          <a:blip r:embed="rId19"/>
          <a:stretch>
            <a:fillRect/>
          </a:stretch>
        </p:blipFill>
        <p:spPr>
          <a:xfrm>
            <a:off x="356616" y="3557016"/>
            <a:ext cx="11478463" cy="768096"/>
          </a:xfrm>
          <a:prstGeom prst="rect">
            <a:avLst/>
          </a:prstGeom>
        </p:spPr>
      </p:pic>
      <p:pic>
        <p:nvPicPr>
          <p:cNvPr id="32" name="Icon" descr="preencoded.png">    </p:cNvPr>
          <p:cNvPicPr>
            <a:picLocks noChangeAspect="1"/>
          </p:cNvPicPr>
          <p:nvPr/>
        </p:nvPicPr>
        <p:blipFill>
          <a:blip r:embed="rId20"/>
          <a:stretch>
            <a:fillRect/>
          </a:stretch>
        </p:blipFill>
        <p:spPr>
          <a:xfrm>
            <a:off x="731520" y="3803904"/>
            <a:ext cx="274320" cy="274320"/>
          </a:xfrm>
          <a:prstGeom prst="rect">
            <a:avLst/>
          </a:prstGeom>
        </p:spPr>
      </p:pic>
      <p:sp>
        <p:nvSpPr>
          <p:cNvPr id="33" name="Text 11"/>
          <p:cNvSpPr txBox="1"/>
          <p:nvPr/>
        </p:nvSpPr>
        <p:spPr>
          <a:xfrm>
            <a:off x="1143000" y="3703320"/>
            <a:ext cx="7315200" cy="475488"/>
          </a:xfrm>
          <a:prstGeom prst="rect">
            <a:avLst/>
          </a:prstGeom>
          <a:noFill/>
          <a:ln/>
        </p:spPr>
        <p:txBody>
          <a:bodyPr wrap="square" lIns="0" tIns="0" rIns="0" bIns="0" rtlCol="0" anchor="ctr"/>
          <a:lstStyle/>
          <a:p>
            <a:pPr indent="0" marL="0">
              <a:buNone/>
            </a:pPr>
            <a:r>
              <a:rPr lang="en-US" sz="1400" b="1" dirty="0">
                <a:solidFill>
                  <a:schemeClr val="bg1"/>
                </a:solidFill>
              </a:rPr>
              <a:t>Powered by AI with Copilot in Microsoft Fabric</a:t>
            </a:r>
            <a:endParaRPr lang="en-US" sz="1400" dirty="0"/>
          </a:p>
        </p:txBody>
      </p:sp>
      <p:pic>
        <p:nvPicPr>
          <p:cNvPr id="34" name="Card" descr="preencoded.png">    </p:cNvPr>
          <p:cNvPicPr>
            <a:picLocks noChangeAspect="1"/>
          </p:cNvPicPr>
          <p:nvPr/>
        </p:nvPicPr>
        <p:blipFill>
          <a:blip r:embed="rId21"/>
          <a:stretch>
            <a:fillRect/>
          </a:stretch>
        </p:blipFill>
        <p:spPr>
          <a:xfrm>
            <a:off x="356616" y="4169664"/>
            <a:ext cx="11478463" cy="804672"/>
          </a:xfrm>
          <a:prstGeom prst="rect">
            <a:avLst/>
          </a:prstGeom>
        </p:spPr>
      </p:pic>
      <p:pic>
        <p:nvPicPr>
          <p:cNvPr id="35" name="Icon" descr="preencoded.png">    </p:cNvPr>
          <p:cNvPicPr>
            <a:picLocks noChangeAspect="1"/>
          </p:cNvPicPr>
          <p:nvPr/>
        </p:nvPicPr>
        <p:blipFill>
          <a:blip r:embed="rId22"/>
          <a:stretch>
            <a:fillRect/>
          </a:stretch>
        </p:blipFill>
        <p:spPr>
          <a:xfrm>
            <a:off x="731520" y="4434840"/>
            <a:ext cx="274320" cy="274320"/>
          </a:xfrm>
          <a:prstGeom prst="rect">
            <a:avLst/>
          </a:prstGeom>
        </p:spPr>
      </p:pic>
      <p:sp>
        <p:nvSpPr>
          <p:cNvPr id="36" name="Text 12"/>
          <p:cNvSpPr txBox="1"/>
          <p:nvPr/>
        </p:nvSpPr>
        <p:spPr>
          <a:xfrm>
            <a:off x="1143000" y="4315968"/>
            <a:ext cx="5486400" cy="512064"/>
          </a:xfrm>
          <a:prstGeom prst="rect">
            <a:avLst/>
          </a:prstGeom>
          <a:noFill/>
          <a:ln/>
        </p:spPr>
        <p:txBody>
          <a:bodyPr wrap="square" lIns="0" tIns="0" rIns="0" bIns="0" rtlCol="0" anchor="ctr"/>
          <a:lstStyle/>
          <a:p>
            <a:pPr indent="0" marL="0">
              <a:buNone/>
            </a:pPr>
            <a:r>
              <a:rPr lang="en-US" sz="1600" b="1" dirty="0">
                <a:solidFill>
                  <a:schemeClr val="bg1"/>
                </a:solidFill>
              </a:rPr>
              <a:t>OneLake</a:t>
            </a:r>
            <a:endParaRPr lang="en-US" sz="1600" dirty="0"/>
          </a:p>
        </p:txBody>
      </p:sp>
      <p:pic>
        <p:nvPicPr>
          <p:cNvPr id="37" name="Card" descr="preencoded.png">    </p:cNvPr>
          <p:cNvPicPr>
            <a:picLocks noChangeAspect="1"/>
          </p:cNvPicPr>
          <p:nvPr/>
        </p:nvPicPr>
        <p:blipFill>
          <a:blip r:embed="rId23"/>
          <a:stretch>
            <a:fillRect/>
          </a:stretch>
        </p:blipFill>
        <p:spPr>
          <a:xfrm>
            <a:off x="356616" y="4809744"/>
            <a:ext cx="11478463" cy="804672"/>
          </a:xfrm>
          <a:prstGeom prst="rect">
            <a:avLst/>
          </a:prstGeom>
        </p:spPr>
      </p:pic>
      <p:pic>
        <p:nvPicPr>
          <p:cNvPr id="38" name="Icon" descr="preencoded.png">    </p:cNvPr>
          <p:cNvPicPr>
            <a:picLocks noChangeAspect="1"/>
          </p:cNvPicPr>
          <p:nvPr/>
        </p:nvPicPr>
        <p:blipFill>
          <a:blip r:embed="rId24"/>
          <a:stretch>
            <a:fillRect/>
          </a:stretch>
        </p:blipFill>
        <p:spPr>
          <a:xfrm>
            <a:off x="731520" y="5074920"/>
            <a:ext cx="274320" cy="274320"/>
          </a:xfrm>
          <a:prstGeom prst="rect">
            <a:avLst/>
          </a:prstGeom>
        </p:spPr>
      </p:pic>
      <p:sp>
        <p:nvSpPr>
          <p:cNvPr id="39" name="Text 13"/>
          <p:cNvSpPr txBox="1"/>
          <p:nvPr/>
        </p:nvSpPr>
        <p:spPr>
          <a:xfrm>
            <a:off x="1143000" y="4956048"/>
            <a:ext cx="5486400" cy="512064"/>
          </a:xfrm>
          <a:prstGeom prst="rect">
            <a:avLst/>
          </a:prstGeom>
          <a:noFill/>
          <a:ln/>
        </p:spPr>
        <p:txBody>
          <a:bodyPr wrap="square" lIns="0" tIns="0" rIns="0" bIns="0" rtlCol="0" anchor="ctr"/>
          <a:lstStyle/>
          <a:p>
            <a:pPr indent="0" marL="0">
              <a:buNone/>
            </a:pPr>
            <a:r>
              <a:rPr lang="en-US" sz="1600" b="1" dirty="0">
                <a:solidFill>
                  <a:schemeClr val="bg1"/>
                </a:solidFill>
              </a:rPr>
              <a:t>Microsoft Purview</a:t>
            </a:r>
            <a:endParaRPr lang="en-US" sz="1600" dirty="0"/>
          </a:p>
        </p:txBody>
      </p:sp>
      <p:sp>
        <p:nvSpPr>
          <p:cNvPr id="40" name="Text 14"/>
          <p:cNvSpPr txBox="1"/>
          <p:nvPr/>
        </p:nvSpPr>
        <p:spPr>
          <a:xfrm>
            <a:off x="502920" y="5623560"/>
            <a:ext cx="1280160" cy="548640"/>
          </a:xfrm>
          <a:prstGeom prst="rect">
            <a:avLst/>
          </a:prstGeom>
          <a:noFill/>
          <a:ln/>
        </p:spPr>
        <p:txBody>
          <a:bodyPr wrap="square" lIns="0" tIns="0" rIns="0" bIns="0" rtlCol="0" anchor="ctr"/>
          <a:lstStyle/>
          <a:p>
            <a:pPr indent="0" marL="0">
              <a:buNone/>
            </a:pPr>
            <a:r>
              <a:rPr lang="en-US" sz="1200" b="1" spc="400" kern="0" dirty="0">
                <a:solidFill>
                  <a:schemeClr val="accent1"/>
                </a:solidFill>
              </a:rPr>
              <a:t>UNIFIED</a:t>
            </a:r>
            <a:endParaRPr lang="en-US" sz="1200" dirty="0"/>
          </a:p>
        </p:txBody>
      </p:sp>
      <p:pic>
        <p:nvPicPr>
          <p:cNvPr id="41" name="Card" descr="preencoded.png">    </p:cNvPr>
          <p:cNvPicPr>
            <a:picLocks noChangeAspect="1"/>
          </p:cNvPicPr>
          <p:nvPr/>
        </p:nvPicPr>
        <p:blipFill>
          <a:blip r:embed="rId25"/>
          <a:stretch>
            <a:fillRect/>
          </a:stretch>
        </p:blipFill>
        <p:spPr>
          <a:xfrm>
            <a:off x="1783080" y="5623560"/>
            <a:ext cx="2394128" cy="548640"/>
          </a:xfrm>
          <a:prstGeom prst="rect">
            <a:avLst/>
          </a:prstGeom>
        </p:spPr>
      </p:pic>
      <p:sp>
        <p:nvSpPr>
          <p:cNvPr id="42" name="Text 15"/>
          <p:cNvSpPr txBox="1"/>
          <p:nvPr/>
        </p:nvSpPr>
        <p:spPr>
          <a:xfrm>
            <a:off x="1783080" y="5623560"/>
            <a:ext cx="2394128" cy="548640"/>
          </a:xfrm>
          <a:prstGeom prst="rect">
            <a:avLst/>
          </a:prstGeom>
          <a:noFill/>
          <a:ln/>
        </p:spPr>
        <p:txBody>
          <a:bodyPr wrap="square" lIns="0" tIns="0" rIns="0" bIns="0" rtlCol="0" anchor="ctr"/>
          <a:lstStyle/>
          <a:p>
            <a:pPr algn="ctr" indent="0" marL="0">
              <a:buNone/>
            </a:pPr>
            <a:r>
              <a:rPr lang="en-US" sz="1300" b="1" dirty="0">
                <a:solidFill>
                  <a:schemeClr val="tx2"/>
                </a:solidFill>
              </a:rPr>
              <a:t>SaaS product experience</a:t>
            </a:r>
            <a:endParaRPr lang="en-US" sz="1300" dirty="0"/>
          </a:p>
        </p:txBody>
      </p:sp>
      <p:pic>
        <p:nvPicPr>
          <p:cNvPr id="43" name="Card" descr="preencoded.png">    </p:cNvPr>
          <p:cNvPicPr>
            <a:picLocks noChangeAspect="1"/>
          </p:cNvPicPr>
          <p:nvPr/>
        </p:nvPicPr>
        <p:blipFill>
          <a:blip r:embed="rId26"/>
          <a:stretch>
            <a:fillRect/>
          </a:stretch>
        </p:blipFill>
        <p:spPr>
          <a:xfrm>
            <a:off x="4286936" y="5623560"/>
            <a:ext cx="2394128" cy="548640"/>
          </a:xfrm>
          <a:prstGeom prst="rect">
            <a:avLst/>
          </a:prstGeom>
        </p:spPr>
      </p:pic>
      <p:sp>
        <p:nvSpPr>
          <p:cNvPr id="44" name="Text 16"/>
          <p:cNvSpPr txBox="1"/>
          <p:nvPr/>
        </p:nvSpPr>
        <p:spPr>
          <a:xfrm>
            <a:off x="4286936" y="5623560"/>
            <a:ext cx="2394128" cy="548640"/>
          </a:xfrm>
          <a:prstGeom prst="rect">
            <a:avLst/>
          </a:prstGeom>
          <a:noFill/>
          <a:ln/>
        </p:spPr>
        <p:txBody>
          <a:bodyPr wrap="square" lIns="0" tIns="0" rIns="0" bIns="0" rtlCol="0" anchor="ctr"/>
          <a:lstStyle/>
          <a:p>
            <a:pPr algn="ctr" indent="0" marL="0">
              <a:buNone/>
            </a:pPr>
            <a:r>
              <a:rPr lang="en-US" sz="1300" b="1" dirty="0">
                <a:solidFill>
                  <a:schemeClr val="tx2"/>
                </a:solidFill>
              </a:rPr>
              <a:t>Security and governance</a:t>
            </a:r>
            <a:endParaRPr lang="en-US" sz="1300" dirty="0"/>
          </a:p>
        </p:txBody>
      </p:sp>
      <p:pic>
        <p:nvPicPr>
          <p:cNvPr id="45" name="Card" descr="preencoded.png">    </p:cNvPr>
          <p:cNvPicPr>
            <a:picLocks noChangeAspect="1"/>
          </p:cNvPicPr>
          <p:nvPr/>
        </p:nvPicPr>
        <p:blipFill>
          <a:blip r:embed="rId27"/>
          <a:stretch>
            <a:fillRect/>
          </a:stretch>
        </p:blipFill>
        <p:spPr>
          <a:xfrm>
            <a:off x="6790792" y="5623560"/>
            <a:ext cx="2394128" cy="548640"/>
          </a:xfrm>
          <a:prstGeom prst="rect">
            <a:avLst/>
          </a:prstGeom>
        </p:spPr>
      </p:pic>
      <p:sp>
        <p:nvSpPr>
          <p:cNvPr id="46" name="Text 17"/>
          <p:cNvSpPr txBox="1"/>
          <p:nvPr/>
        </p:nvSpPr>
        <p:spPr>
          <a:xfrm>
            <a:off x="6790792" y="5623560"/>
            <a:ext cx="2394128" cy="548640"/>
          </a:xfrm>
          <a:prstGeom prst="rect">
            <a:avLst/>
          </a:prstGeom>
          <a:noFill/>
          <a:ln/>
        </p:spPr>
        <p:txBody>
          <a:bodyPr wrap="square" lIns="0" tIns="0" rIns="0" bIns="0" rtlCol="0" anchor="ctr"/>
          <a:lstStyle/>
          <a:p>
            <a:pPr algn="ctr" indent="0" marL="0">
              <a:buNone/>
            </a:pPr>
            <a:r>
              <a:rPr lang="en-US" sz="1300" b="1" dirty="0">
                <a:solidFill>
                  <a:schemeClr val="tx2"/>
                </a:solidFill>
              </a:rPr>
              <a:t>Compute and storage</a:t>
            </a:r>
            <a:endParaRPr lang="en-US" sz="1300" dirty="0"/>
          </a:p>
        </p:txBody>
      </p:sp>
      <p:pic>
        <p:nvPicPr>
          <p:cNvPr id="47" name="Card" descr="preencoded.png">    </p:cNvPr>
          <p:cNvPicPr>
            <a:picLocks noChangeAspect="1"/>
          </p:cNvPicPr>
          <p:nvPr/>
        </p:nvPicPr>
        <p:blipFill>
          <a:blip r:embed="rId28"/>
          <a:stretch>
            <a:fillRect/>
          </a:stretch>
        </p:blipFill>
        <p:spPr>
          <a:xfrm>
            <a:off x="9294647" y="5623560"/>
            <a:ext cx="2394128" cy="548640"/>
          </a:xfrm>
          <a:prstGeom prst="rect">
            <a:avLst/>
          </a:prstGeom>
        </p:spPr>
      </p:pic>
      <p:sp>
        <p:nvSpPr>
          <p:cNvPr id="48" name="Text 18"/>
          <p:cNvSpPr txBox="1"/>
          <p:nvPr/>
        </p:nvSpPr>
        <p:spPr>
          <a:xfrm>
            <a:off x="9294647" y="5623560"/>
            <a:ext cx="2394128" cy="548640"/>
          </a:xfrm>
          <a:prstGeom prst="rect">
            <a:avLst/>
          </a:prstGeom>
          <a:noFill/>
          <a:ln/>
        </p:spPr>
        <p:txBody>
          <a:bodyPr wrap="square" lIns="0" tIns="0" rIns="0" bIns="0" rtlCol="0" anchor="ctr"/>
          <a:lstStyle/>
          <a:p>
            <a:pPr algn="ctr" indent="0" marL="0">
              <a:buNone/>
            </a:pPr>
            <a:r>
              <a:rPr lang="en-US" sz="1300" b="1" dirty="0">
                <a:solidFill>
                  <a:schemeClr val="tx2"/>
                </a:solidFill>
              </a:rPr>
              <a:t>Business model</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Why Clients Trust Logesys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WHY LOGESYS</a:t>
            </a:r>
            <a:endParaRPr lang="en-US" sz="1100" dirty="0"/>
          </a:p>
        </p:txBody>
      </p:sp>
      <p:pic>
        <p:nvPicPr>
          <p:cNvPr id="4" name="Card" descr="preencoded.png">    </p:cNvPr>
          <p:cNvPicPr>
            <a:picLocks noChangeAspect="1"/>
          </p:cNvPicPr>
          <p:nvPr/>
        </p:nvPicPr>
        <p:blipFill>
          <a:blip r:embed="rId1"/>
          <a:stretch>
            <a:fillRect/>
          </a:stretch>
        </p:blipFill>
        <p:spPr>
          <a:xfrm>
            <a:off x="356616" y="1453896"/>
            <a:ext cx="3877056" cy="2487168"/>
          </a:xfrm>
          <a:prstGeom prst="rect">
            <a:avLst/>
          </a:prstGeom>
        </p:spPr>
      </p:pic>
      <p:pic>
        <p:nvPicPr>
          <p:cNvPr id="5" name="Badge" descr="preencoded.png">    </p:cNvPr>
          <p:cNvPicPr>
            <a:picLocks noChangeAspect="1"/>
          </p:cNvPicPr>
          <p:nvPr/>
        </p:nvPicPr>
        <p:blipFill>
          <a:blip r:embed="rId2"/>
          <a:stretch>
            <a:fillRect/>
          </a:stretch>
        </p:blipFill>
        <p:spPr>
          <a:xfrm>
            <a:off x="777240" y="1874520"/>
            <a:ext cx="658368" cy="658368"/>
          </a:xfrm>
          <a:prstGeom prst="rect">
            <a:avLst/>
          </a:prstGeom>
        </p:spPr>
      </p:pic>
      <p:sp>
        <p:nvSpPr>
          <p:cNvPr id="6" name="Text 2"/>
          <p:cNvSpPr txBox="1"/>
          <p:nvPr/>
        </p:nvSpPr>
        <p:spPr>
          <a:xfrm>
            <a:off x="1600200" y="1874520"/>
            <a:ext cx="2304288" cy="658368"/>
          </a:xfrm>
          <a:prstGeom prst="rect">
            <a:avLst/>
          </a:prstGeom>
          <a:noFill/>
          <a:ln/>
        </p:spPr>
        <p:txBody>
          <a:bodyPr wrap="square" lIns="0" tIns="0" rIns="0" bIns="0" rtlCol="0" anchor="ctr"/>
          <a:lstStyle/>
          <a:p>
            <a:pPr indent="0" marL="0">
              <a:buNone/>
            </a:pPr>
            <a:r>
              <a:rPr lang="en-US" sz="1800" b="1" dirty="0">
                <a:solidFill>
                  <a:schemeClr val="tx1"/>
                </a:solidFill>
              </a:rPr>
              <a:t>Domain Knowledge</a:t>
            </a:r>
            <a:endParaRPr lang="en-US" sz="1800" dirty="0"/>
          </a:p>
        </p:txBody>
      </p:sp>
      <p:sp>
        <p:nvSpPr>
          <p:cNvPr id="7" name="Text 3"/>
          <p:cNvSpPr txBox="1"/>
          <p:nvPr/>
        </p:nvSpPr>
        <p:spPr>
          <a:xfrm>
            <a:off x="777240" y="2697480"/>
            <a:ext cx="3035808" cy="960120"/>
          </a:xfrm>
          <a:prstGeom prst="rect">
            <a:avLst/>
          </a:prstGeom>
          <a:noFill/>
          <a:ln/>
        </p:spPr>
        <p:txBody>
          <a:bodyPr wrap="square" lIns="0" tIns="0" rIns="0" bIns="0" rtlCol="0" anchor="t"/>
          <a:lstStyle/>
          <a:p>
            <a:pPr indent="0" marL="0">
              <a:buNone/>
            </a:pPr>
            <a:r>
              <a:rPr lang="en-US" sz="1400" dirty="0">
                <a:solidFill>
                  <a:schemeClr val="accent5"/>
                </a:solidFill>
              </a:rPr>
              <a:t>Strong domain knowledge in Retail, Manufacturing, Supply Chain and Life Sciences.</a:t>
            </a:r>
            <a:endParaRPr lang="en-US" sz="1400" dirty="0"/>
          </a:p>
        </p:txBody>
      </p:sp>
      <p:pic>
        <p:nvPicPr>
          <p:cNvPr id="8" name="Card" descr="preencoded.png">    </p:cNvPr>
          <p:cNvPicPr>
            <a:picLocks noChangeAspect="1"/>
          </p:cNvPicPr>
          <p:nvPr/>
        </p:nvPicPr>
        <p:blipFill>
          <a:blip r:embed="rId3"/>
          <a:stretch>
            <a:fillRect/>
          </a:stretch>
        </p:blipFill>
        <p:spPr>
          <a:xfrm>
            <a:off x="4160520" y="1453896"/>
            <a:ext cx="3877056" cy="2487168"/>
          </a:xfrm>
          <a:prstGeom prst="rect">
            <a:avLst/>
          </a:prstGeom>
        </p:spPr>
      </p:pic>
      <p:pic>
        <p:nvPicPr>
          <p:cNvPr id="9" name="Badge" descr="preencoded.png">    </p:cNvPr>
          <p:cNvPicPr>
            <a:picLocks noChangeAspect="1"/>
          </p:cNvPicPr>
          <p:nvPr/>
        </p:nvPicPr>
        <p:blipFill>
          <a:blip r:embed="rId4"/>
          <a:stretch>
            <a:fillRect/>
          </a:stretch>
        </p:blipFill>
        <p:spPr>
          <a:xfrm>
            <a:off x="4581144" y="1874520"/>
            <a:ext cx="658368" cy="658368"/>
          </a:xfrm>
          <a:prstGeom prst="rect">
            <a:avLst/>
          </a:prstGeom>
        </p:spPr>
      </p:pic>
      <p:sp>
        <p:nvSpPr>
          <p:cNvPr id="10" name="Text 4"/>
          <p:cNvSpPr txBox="1"/>
          <p:nvPr/>
        </p:nvSpPr>
        <p:spPr>
          <a:xfrm>
            <a:off x="5404104" y="1874520"/>
            <a:ext cx="2304288" cy="658368"/>
          </a:xfrm>
          <a:prstGeom prst="rect">
            <a:avLst/>
          </a:prstGeom>
          <a:noFill/>
          <a:ln/>
        </p:spPr>
        <p:txBody>
          <a:bodyPr wrap="square" lIns="0" tIns="0" rIns="0" bIns="0" rtlCol="0" anchor="ctr"/>
          <a:lstStyle/>
          <a:p>
            <a:pPr indent="0" marL="0">
              <a:buNone/>
            </a:pPr>
            <a:r>
              <a:rPr lang="en-US" sz="1800" b="1" dirty="0">
                <a:solidFill>
                  <a:schemeClr val="bg1"/>
                </a:solidFill>
              </a:rPr>
              <a:t>Predictable Delivery</a:t>
            </a:r>
            <a:endParaRPr lang="en-US" sz="1800" dirty="0"/>
          </a:p>
        </p:txBody>
      </p:sp>
      <p:sp>
        <p:nvSpPr>
          <p:cNvPr id="11" name="Text 5"/>
          <p:cNvSpPr txBox="1"/>
          <p:nvPr/>
        </p:nvSpPr>
        <p:spPr>
          <a:xfrm>
            <a:off x="4581144" y="2697480"/>
            <a:ext cx="3035808" cy="960120"/>
          </a:xfrm>
          <a:prstGeom prst="rect">
            <a:avLst/>
          </a:prstGeom>
          <a:noFill/>
          <a:ln/>
        </p:spPr>
        <p:txBody>
          <a:bodyPr wrap="square" lIns="0" tIns="0" rIns="0" bIns="0" rtlCol="0" anchor="t"/>
          <a:lstStyle/>
          <a:p>
            <a:pPr indent="0" marL="0">
              <a:buNone/>
            </a:pPr>
            <a:r>
              <a:rPr lang="en-US" sz="1400" dirty="0">
                <a:solidFill>
                  <a:schemeClr val="bg1"/>
                </a:solidFill>
              </a:rPr>
              <a:t>Predictable delivery model, perfected over a 20-year span, working with multiple organizations, markets and geographies.</a:t>
            </a:r>
            <a:endParaRPr lang="en-US" sz="1400" dirty="0"/>
          </a:p>
        </p:txBody>
      </p:sp>
      <p:pic>
        <p:nvPicPr>
          <p:cNvPr id="12" name="Card" descr="preencoded.png">    </p:cNvPr>
          <p:cNvPicPr>
            <a:picLocks noChangeAspect="1"/>
          </p:cNvPicPr>
          <p:nvPr/>
        </p:nvPicPr>
        <p:blipFill>
          <a:blip r:embed="rId5"/>
          <a:stretch>
            <a:fillRect/>
          </a:stretch>
        </p:blipFill>
        <p:spPr>
          <a:xfrm>
            <a:off x="7964424" y="1453896"/>
            <a:ext cx="3877056" cy="2487168"/>
          </a:xfrm>
          <a:prstGeom prst="rect">
            <a:avLst/>
          </a:prstGeom>
        </p:spPr>
      </p:pic>
      <p:pic>
        <p:nvPicPr>
          <p:cNvPr id="13" name="Badge" descr="preencoded.png">    </p:cNvPr>
          <p:cNvPicPr>
            <a:picLocks noChangeAspect="1"/>
          </p:cNvPicPr>
          <p:nvPr/>
        </p:nvPicPr>
        <p:blipFill>
          <a:blip r:embed="rId6"/>
          <a:stretch>
            <a:fillRect/>
          </a:stretch>
        </p:blipFill>
        <p:spPr>
          <a:xfrm>
            <a:off x="8385048" y="1874520"/>
            <a:ext cx="658368" cy="658368"/>
          </a:xfrm>
          <a:prstGeom prst="rect">
            <a:avLst/>
          </a:prstGeom>
        </p:spPr>
      </p:pic>
      <p:sp>
        <p:nvSpPr>
          <p:cNvPr id="14" name="Text 6"/>
          <p:cNvSpPr txBox="1"/>
          <p:nvPr/>
        </p:nvSpPr>
        <p:spPr>
          <a:xfrm>
            <a:off x="9208008" y="1874520"/>
            <a:ext cx="2304288" cy="658368"/>
          </a:xfrm>
          <a:prstGeom prst="rect">
            <a:avLst/>
          </a:prstGeom>
          <a:noFill/>
          <a:ln/>
        </p:spPr>
        <p:txBody>
          <a:bodyPr wrap="square" lIns="0" tIns="0" rIns="0" bIns="0" rtlCol="0" anchor="ctr"/>
          <a:lstStyle/>
          <a:p>
            <a:pPr indent="0" marL="0">
              <a:buNone/>
            </a:pPr>
            <a:r>
              <a:rPr lang="en-US" sz="1800" b="1" dirty="0">
                <a:solidFill>
                  <a:schemeClr val="tx1"/>
                </a:solidFill>
              </a:rPr>
              <a:t>Consultative Approach</a:t>
            </a:r>
            <a:endParaRPr lang="en-US" sz="1800" dirty="0"/>
          </a:p>
        </p:txBody>
      </p:sp>
      <p:sp>
        <p:nvSpPr>
          <p:cNvPr id="15" name="Text 7"/>
          <p:cNvSpPr txBox="1"/>
          <p:nvPr/>
        </p:nvSpPr>
        <p:spPr>
          <a:xfrm>
            <a:off x="8385048" y="2697480"/>
            <a:ext cx="3035808" cy="960120"/>
          </a:xfrm>
          <a:prstGeom prst="rect">
            <a:avLst/>
          </a:prstGeom>
          <a:noFill/>
          <a:ln/>
        </p:spPr>
        <p:txBody>
          <a:bodyPr wrap="square" lIns="0" tIns="0" rIns="0" bIns="0" rtlCol="0" anchor="t"/>
          <a:lstStyle/>
          <a:p>
            <a:pPr indent="0" marL="0">
              <a:buNone/>
            </a:pPr>
            <a:r>
              <a:rPr lang="en-US" sz="1400" dirty="0">
                <a:solidFill>
                  <a:schemeClr val="accent5"/>
                </a:solidFill>
              </a:rPr>
              <a:t>Consultative approach, rather than executing what is being told to us.</a:t>
            </a:r>
            <a:endParaRPr lang="en-US" sz="1400" dirty="0"/>
          </a:p>
        </p:txBody>
      </p:sp>
      <p:pic>
        <p:nvPicPr>
          <p:cNvPr id="16" name="Card" descr="preencoded.png">    </p:cNvPr>
          <p:cNvPicPr>
            <a:picLocks noChangeAspect="1"/>
          </p:cNvPicPr>
          <p:nvPr/>
        </p:nvPicPr>
        <p:blipFill>
          <a:blip r:embed="rId7"/>
          <a:stretch>
            <a:fillRect/>
          </a:stretch>
        </p:blipFill>
        <p:spPr>
          <a:xfrm>
            <a:off x="356616" y="3849624"/>
            <a:ext cx="3877056" cy="2487168"/>
          </a:xfrm>
          <a:prstGeom prst="rect">
            <a:avLst/>
          </a:prstGeom>
        </p:spPr>
      </p:pic>
      <p:pic>
        <p:nvPicPr>
          <p:cNvPr id="17" name="Badge" descr="preencoded.png">    </p:cNvPr>
          <p:cNvPicPr>
            <a:picLocks noChangeAspect="1"/>
          </p:cNvPicPr>
          <p:nvPr/>
        </p:nvPicPr>
        <p:blipFill>
          <a:blip r:embed="rId8"/>
          <a:stretch>
            <a:fillRect/>
          </a:stretch>
        </p:blipFill>
        <p:spPr>
          <a:xfrm>
            <a:off x="777240" y="4270248"/>
            <a:ext cx="658368" cy="658368"/>
          </a:xfrm>
          <a:prstGeom prst="rect">
            <a:avLst/>
          </a:prstGeom>
        </p:spPr>
      </p:pic>
      <p:sp>
        <p:nvSpPr>
          <p:cNvPr id="18" name="Text 8"/>
          <p:cNvSpPr txBox="1"/>
          <p:nvPr/>
        </p:nvSpPr>
        <p:spPr>
          <a:xfrm>
            <a:off x="1600200" y="4270248"/>
            <a:ext cx="2304288" cy="658368"/>
          </a:xfrm>
          <a:prstGeom prst="rect">
            <a:avLst/>
          </a:prstGeom>
          <a:noFill/>
          <a:ln/>
        </p:spPr>
        <p:txBody>
          <a:bodyPr wrap="square" lIns="0" tIns="0" rIns="0" bIns="0" rtlCol="0" anchor="ctr"/>
          <a:lstStyle/>
          <a:p>
            <a:pPr indent="0" marL="0">
              <a:buNone/>
            </a:pPr>
            <a:r>
              <a:rPr lang="en-US" sz="1800" b="1" dirty="0">
                <a:solidFill>
                  <a:schemeClr val="tx1"/>
                </a:solidFill>
              </a:rPr>
              <a:t>Value Creation</a:t>
            </a:r>
            <a:endParaRPr lang="en-US" sz="1800" dirty="0"/>
          </a:p>
        </p:txBody>
      </p:sp>
      <p:sp>
        <p:nvSpPr>
          <p:cNvPr id="19" name="Text 9"/>
          <p:cNvSpPr txBox="1"/>
          <p:nvPr/>
        </p:nvSpPr>
        <p:spPr>
          <a:xfrm>
            <a:off x="777240" y="5093208"/>
            <a:ext cx="3035808" cy="960120"/>
          </a:xfrm>
          <a:prstGeom prst="rect">
            <a:avLst/>
          </a:prstGeom>
          <a:noFill/>
          <a:ln/>
        </p:spPr>
        <p:txBody>
          <a:bodyPr wrap="square" lIns="0" tIns="0" rIns="0" bIns="0" rtlCol="0" anchor="t"/>
          <a:lstStyle/>
          <a:p>
            <a:pPr indent="0" marL="0">
              <a:buNone/>
            </a:pPr>
            <a:r>
              <a:rPr lang="en-US" sz="1400" dirty="0">
                <a:solidFill>
                  <a:schemeClr val="accent5"/>
                </a:solidFill>
              </a:rPr>
              <a:t>Value creation and value realization as our core principle and guiding ethos.</a:t>
            </a:r>
            <a:endParaRPr lang="en-US" sz="1400" dirty="0"/>
          </a:p>
        </p:txBody>
      </p:sp>
      <p:pic>
        <p:nvPicPr>
          <p:cNvPr id="20" name="Card" descr="preencoded.png">    </p:cNvPr>
          <p:cNvPicPr>
            <a:picLocks noChangeAspect="1"/>
          </p:cNvPicPr>
          <p:nvPr/>
        </p:nvPicPr>
        <p:blipFill>
          <a:blip r:embed="rId9"/>
          <a:stretch>
            <a:fillRect/>
          </a:stretch>
        </p:blipFill>
        <p:spPr>
          <a:xfrm>
            <a:off x="4160520" y="3849624"/>
            <a:ext cx="3877056" cy="2487168"/>
          </a:xfrm>
          <a:prstGeom prst="rect">
            <a:avLst/>
          </a:prstGeom>
        </p:spPr>
      </p:pic>
      <p:pic>
        <p:nvPicPr>
          <p:cNvPr id="21" name="Badge" descr="preencoded.png">    </p:cNvPr>
          <p:cNvPicPr>
            <a:picLocks noChangeAspect="1"/>
          </p:cNvPicPr>
          <p:nvPr/>
        </p:nvPicPr>
        <p:blipFill>
          <a:blip r:embed="rId10"/>
          <a:stretch>
            <a:fillRect/>
          </a:stretch>
        </p:blipFill>
        <p:spPr>
          <a:xfrm>
            <a:off x="4581144" y="4270248"/>
            <a:ext cx="658368" cy="658368"/>
          </a:xfrm>
          <a:prstGeom prst="rect">
            <a:avLst/>
          </a:prstGeom>
        </p:spPr>
      </p:pic>
      <p:sp>
        <p:nvSpPr>
          <p:cNvPr id="22" name="Text 10"/>
          <p:cNvSpPr txBox="1"/>
          <p:nvPr/>
        </p:nvSpPr>
        <p:spPr>
          <a:xfrm>
            <a:off x="5404104" y="4270248"/>
            <a:ext cx="2304288" cy="658368"/>
          </a:xfrm>
          <a:prstGeom prst="rect">
            <a:avLst/>
          </a:prstGeom>
          <a:noFill/>
          <a:ln/>
        </p:spPr>
        <p:txBody>
          <a:bodyPr wrap="square" lIns="0" tIns="0" rIns="0" bIns="0" rtlCol="0" anchor="ctr"/>
          <a:lstStyle/>
          <a:p>
            <a:pPr indent="0" marL="0">
              <a:buNone/>
            </a:pPr>
            <a:r>
              <a:rPr lang="en-US" sz="1800" b="1" dirty="0">
                <a:solidFill>
                  <a:schemeClr val="tx1"/>
                </a:solidFill>
              </a:rPr>
              <a:t>Technology Agnostic</a:t>
            </a:r>
            <a:endParaRPr lang="en-US" sz="1800" dirty="0"/>
          </a:p>
        </p:txBody>
      </p:sp>
      <p:sp>
        <p:nvSpPr>
          <p:cNvPr id="23" name="Text 11"/>
          <p:cNvSpPr txBox="1"/>
          <p:nvPr/>
        </p:nvSpPr>
        <p:spPr>
          <a:xfrm>
            <a:off x="4581144" y="5093208"/>
            <a:ext cx="3035808" cy="960120"/>
          </a:xfrm>
          <a:prstGeom prst="rect">
            <a:avLst/>
          </a:prstGeom>
          <a:noFill/>
          <a:ln/>
        </p:spPr>
        <p:txBody>
          <a:bodyPr wrap="square" lIns="0" tIns="0" rIns="0" bIns="0" rtlCol="0" anchor="t"/>
          <a:lstStyle/>
          <a:p>
            <a:pPr indent="0" marL="0">
              <a:buNone/>
            </a:pPr>
            <a:r>
              <a:rPr lang="en-US" sz="1400" dirty="0">
                <a:solidFill>
                  <a:schemeClr val="accent5"/>
                </a:solidFill>
              </a:rPr>
              <a:t>We choose the right technology for the problem, not the other way around.</a:t>
            </a:r>
            <a:endParaRPr lang="en-US" sz="1400" dirty="0"/>
          </a:p>
        </p:txBody>
      </p:sp>
      <p:pic>
        <p:nvPicPr>
          <p:cNvPr id="24" name="Card" descr="preencoded.png">    </p:cNvPr>
          <p:cNvPicPr>
            <a:picLocks noChangeAspect="1"/>
          </p:cNvPicPr>
          <p:nvPr/>
        </p:nvPicPr>
        <p:blipFill>
          <a:blip r:embed="rId11"/>
          <a:stretch>
            <a:fillRect/>
          </a:stretch>
        </p:blipFill>
        <p:spPr>
          <a:xfrm>
            <a:off x="7964424" y="3849624"/>
            <a:ext cx="3877056" cy="2487168"/>
          </a:xfrm>
          <a:prstGeom prst="rect">
            <a:avLst/>
          </a:prstGeom>
        </p:spPr>
      </p:pic>
      <p:pic>
        <p:nvPicPr>
          <p:cNvPr id="25" name="Badge" descr="preencoded.png">    </p:cNvPr>
          <p:cNvPicPr>
            <a:picLocks noChangeAspect="1"/>
          </p:cNvPicPr>
          <p:nvPr/>
        </p:nvPicPr>
        <p:blipFill>
          <a:blip r:embed="rId12"/>
          <a:stretch>
            <a:fillRect/>
          </a:stretch>
        </p:blipFill>
        <p:spPr>
          <a:xfrm>
            <a:off x="8385048" y="4270248"/>
            <a:ext cx="658368" cy="658368"/>
          </a:xfrm>
          <a:prstGeom prst="rect">
            <a:avLst/>
          </a:prstGeom>
        </p:spPr>
      </p:pic>
      <p:sp>
        <p:nvSpPr>
          <p:cNvPr id="26" name="Text 12"/>
          <p:cNvSpPr txBox="1"/>
          <p:nvPr/>
        </p:nvSpPr>
        <p:spPr>
          <a:xfrm>
            <a:off x="9208008" y="4270248"/>
            <a:ext cx="2304288" cy="658368"/>
          </a:xfrm>
          <a:prstGeom prst="rect">
            <a:avLst/>
          </a:prstGeom>
          <a:noFill/>
          <a:ln/>
        </p:spPr>
        <p:txBody>
          <a:bodyPr wrap="square" lIns="0" tIns="0" rIns="0" bIns="0" rtlCol="0" anchor="ctr"/>
          <a:lstStyle/>
          <a:p>
            <a:pPr indent="0" marL="0">
              <a:buNone/>
            </a:pPr>
            <a:r>
              <a:rPr lang="en-US" sz="1800" b="1" dirty="0">
                <a:solidFill>
                  <a:schemeClr val="tx1"/>
                </a:solidFill>
              </a:rPr>
              <a:t>KPI Library</a:t>
            </a:r>
            <a:endParaRPr lang="en-US" sz="1800" dirty="0"/>
          </a:p>
        </p:txBody>
      </p:sp>
      <p:sp>
        <p:nvSpPr>
          <p:cNvPr id="27" name="Text 13"/>
          <p:cNvSpPr txBox="1"/>
          <p:nvPr/>
        </p:nvSpPr>
        <p:spPr>
          <a:xfrm>
            <a:off x="8385048" y="5093208"/>
            <a:ext cx="3035808" cy="960120"/>
          </a:xfrm>
          <a:prstGeom prst="rect">
            <a:avLst/>
          </a:prstGeom>
          <a:noFill/>
          <a:ln/>
        </p:spPr>
        <p:txBody>
          <a:bodyPr wrap="square" lIns="0" tIns="0" rIns="0" bIns="0" rtlCol="0" anchor="t"/>
          <a:lstStyle/>
          <a:p>
            <a:pPr indent="0" marL="0">
              <a:buNone/>
            </a:pPr>
            <a:r>
              <a:rPr lang="en-US" sz="1400" dirty="0">
                <a:solidFill>
                  <a:schemeClr val="accent5"/>
                </a:solidFill>
              </a:rPr>
              <a:t>Cross-industry / cross-functional KPI library built and fine-tuned on an ongoing basis.</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502920"/>
            <a:ext cx="5379415" cy="5852160"/>
          </a:xfrm>
          <a:prstGeom prst="rect">
            <a:avLst/>
          </a:prstGeom>
        </p:spPr>
      </p:pic>
      <p:pic>
        <p:nvPicPr>
          <p:cNvPr id="3" name="Image 1" descr="/tmp/claude-0/-home-user-ad-gallery/7fc27a5a-8417-58c4-b3ff-7a7825ba0161/scratchpad/assets/logo.png">    </p:cNvPr>
          <p:cNvPicPr>
            <a:picLocks noChangeAspect="1"/>
          </p:cNvPicPr>
          <p:nvPr/>
        </p:nvPicPr>
        <p:blipFill>
          <a:blip r:embed="rId2"/>
          <a:stretch>
            <a:fillRect/>
          </a:stretch>
        </p:blipFill>
        <p:spPr>
          <a:xfrm>
            <a:off x="502920" y="502920"/>
            <a:ext cx="1737360" cy="479629"/>
          </a:xfrm>
          <a:prstGeom prst="rect">
            <a:avLst/>
          </a:prstGeom>
        </p:spPr>
      </p:pic>
      <p:sp>
        <p:nvSpPr>
          <p:cNvPr id="4" name="Text 0"/>
          <p:cNvSpPr txBox="1"/>
          <p:nvPr/>
        </p:nvSpPr>
        <p:spPr>
          <a:xfrm>
            <a:off x="502920" y="1600200"/>
            <a:ext cx="4572000" cy="274320"/>
          </a:xfrm>
          <a:prstGeom prst="rect">
            <a:avLst/>
          </a:prstGeom>
          <a:noFill/>
          <a:ln/>
        </p:spPr>
        <p:txBody>
          <a:bodyPr wrap="square" lIns="0" tIns="0" rIns="0" bIns="0" rtlCol="0" anchor="t"/>
          <a:lstStyle/>
          <a:p>
            <a:pPr indent="0" marL="0">
              <a:buNone/>
            </a:pPr>
            <a:r>
              <a:rPr lang="en-US" sz="1200" b="1" spc="500" kern="0" dirty="0">
                <a:solidFill>
                  <a:schemeClr val="accent1"/>
                </a:solidFill>
              </a:rPr>
              <a:t>SECTION 02</a:t>
            </a:r>
            <a:endParaRPr lang="en-US" sz="1200" dirty="0"/>
          </a:p>
        </p:txBody>
      </p:sp>
      <p:sp>
        <p:nvSpPr>
          <p:cNvPr id="5" name="Text 1"/>
          <p:cNvSpPr txBox="1"/>
          <p:nvPr/>
        </p:nvSpPr>
        <p:spPr>
          <a:xfrm>
            <a:off x="457200" y="1828800"/>
            <a:ext cx="4572000" cy="1371600"/>
          </a:xfrm>
          <a:prstGeom prst="rect">
            <a:avLst/>
          </a:prstGeom>
          <a:noFill/>
          <a:ln/>
        </p:spPr>
        <p:txBody>
          <a:bodyPr wrap="square" lIns="0" tIns="0" rIns="0" bIns="0" rtlCol="0" anchor="ctr"/>
          <a:lstStyle/>
          <a:p>
            <a:pPr indent="0" marL="0">
              <a:buNone/>
            </a:pPr>
            <a:r>
              <a:rPr lang="en-US" sz="10000" b="1" dirty="0">
                <a:solidFill>
                  <a:schemeClr val="accent1"/>
                </a:solidFill>
                <a:latin typeface="Arial" pitchFamily="34" charset="0"/>
                <a:ea typeface="Arial" pitchFamily="34" charset="-122"/>
                <a:cs typeface="Arial" pitchFamily="34" charset="-120"/>
              </a:rPr>
              <a:t>02</a:t>
            </a:r>
            <a:endParaRPr lang="en-US" sz="10000" dirty="0"/>
          </a:p>
        </p:txBody>
      </p:sp>
      <p:sp>
        <p:nvSpPr>
          <p:cNvPr id="6" name="Text 2"/>
          <p:cNvSpPr txBox="1"/>
          <p:nvPr/>
        </p:nvSpPr>
        <p:spPr>
          <a:xfrm>
            <a:off x="502920" y="3246120"/>
            <a:ext cx="5577840" cy="1280160"/>
          </a:xfrm>
          <a:prstGeom prst="rect">
            <a:avLst/>
          </a:prstGeom>
          <a:noFill/>
          <a:ln/>
        </p:spPr>
        <p:txBody>
          <a:bodyPr wrap="square" lIns="0" tIns="0" rIns="0" bIns="0" rtlCol="0" anchor="t"/>
          <a:lstStyle/>
          <a:p>
            <a:pPr indent="0" marL="0">
              <a:buNone/>
            </a:pPr>
            <a:r>
              <a:rPr lang="en-US" sz="4000" b="1" dirty="0">
                <a:solidFill>
                  <a:schemeClr val="tx1"/>
                </a:solidFill>
                <a:latin typeface="Arial" pitchFamily="34" charset="0"/>
                <a:ea typeface="Arial" pitchFamily="34" charset="-122"/>
                <a:cs typeface="Arial" pitchFamily="34" charset="-120"/>
              </a:rPr>
              <a:t>Case Studies / Demos</a:t>
            </a:r>
            <a:endParaRPr lang="en-US" sz="4000" dirty="0"/>
          </a:p>
        </p:txBody>
      </p:sp>
      <p:sp>
        <p:nvSpPr>
          <p:cNvPr id="7" name="Text 3"/>
          <p:cNvSpPr txBox="1"/>
          <p:nvPr/>
        </p:nvSpPr>
        <p:spPr>
          <a:xfrm>
            <a:off x="502920" y="4526280"/>
            <a:ext cx="5486400" cy="411480"/>
          </a:xfrm>
          <a:prstGeom prst="rect">
            <a:avLst/>
          </a:prstGeom>
          <a:noFill/>
          <a:ln/>
        </p:spPr>
        <p:txBody>
          <a:bodyPr wrap="square" lIns="0" tIns="0" rIns="0" bIns="0" rtlCol="0" anchor="t"/>
          <a:lstStyle/>
          <a:p>
            <a:pPr indent="0" marL="0">
              <a:buNone/>
            </a:pPr>
            <a:r>
              <a:rPr lang="en-US" sz="1800" dirty="0">
                <a:solidFill>
                  <a:schemeClr val="accent5"/>
                </a:solidFill>
              </a:rPr>
              <a:t>Real outcomes across industries</a:t>
            </a:r>
            <a:endParaRPr lang="en-US" sz="1800" dirty="0"/>
          </a:p>
        </p:txBody>
      </p:sp>
      <p:sp>
        <p:nvSpPr>
          <p:cNvPr id="8" name="Text 4"/>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pic>
        <p:nvPicPr>
          <p:cNvPr id="9" name="Card" descr="preencoded.png">    </p:cNvPr>
          <p:cNvPicPr>
            <a:picLocks noChangeAspect="1"/>
          </p:cNvPicPr>
          <p:nvPr/>
        </p:nvPicPr>
        <p:blipFill>
          <a:blip r:embed="rId3"/>
          <a:stretch>
            <a:fillRect/>
          </a:stretch>
        </p:blipFill>
        <p:spPr>
          <a:xfrm>
            <a:off x="356616" y="4974336"/>
            <a:ext cx="1572768" cy="841248"/>
          </a:xfrm>
          <a:prstGeom prst="rect">
            <a:avLst/>
          </a:prstGeom>
        </p:spPr>
      </p:pic>
      <p:pic>
        <p:nvPicPr>
          <p:cNvPr id="10" name="Logo" descr="/tmp/claude-0/-home-user-ad-gallery/7fc27a5a-8417-58c4-b3ff-7a7825ba0161/scratchpad/assets/s30_05.png">    </p:cNvPr>
          <p:cNvPicPr>
            <a:picLocks noChangeAspect="1"/>
          </p:cNvPicPr>
          <p:nvPr/>
        </p:nvPicPr>
        <p:blipFill>
          <a:blip r:embed="rId4"/>
          <a:stretch>
            <a:fillRect/>
          </a:stretch>
        </p:blipFill>
        <p:spPr>
          <a:xfrm>
            <a:off x="576072" y="5259693"/>
            <a:ext cx="1133856" cy="270534"/>
          </a:xfrm>
          <a:prstGeom prst="rect">
            <a:avLst/>
          </a:prstGeom>
        </p:spPr>
      </p:pic>
      <p:pic>
        <p:nvPicPr>
          <p:cNvPr id="11" name="Card" descr="preencoded.png">    </p:cNvPr>
          <p:cNvPicPr>
            <a:picLocks noChangeAspect="1"/>
          </p:cNvPicPr>
          <p:nvPr/>
        </p:nvPicPr>
        <p:blipFill>
          <a:blip r:embed="rId5"/>
          <a:stretch>
            <a:fillRect/>
          </a:stretch>
        </p:blipFill>
        <p:spPr>
          <a:xfrm>
            <a:off x="1746504" y="4974336"/>
            <a:ext cx="1572768" cy="841248"/>
          </a:xfrm>
          <a:prstGeom prst="rect">
            <a:avLst/>
          </a:prstGeom>
        </p:spPr>
      </p:pic>
      <p:pic>
        <p:nvPicPr>
          <p:cNvPr id="12" name="Logo" descr="/tmp/claude-0/-home-user-ad-gallery/7fc27a5a-8417-58c4-b3ff-7a7825ba0161/scratchpad/assets/s31_05.png">    </p:cNvPr>
          <p:cNvPicPr>
            <a:picLocks noChangeAspect="1"/>
          </p:cNvPicPr>
          <p:nvPr/>
        </p:nvPicPr>
        <p:blipFill>
          <a:blip r:embed="rId6"/>
          <a:stretch>
            <a:fillRect/>
          </a:stretch>
        </p:blipFill>
        <p:spPr>
          <a:xfrm>
            <a:off x="2166604" y="5193792"/>
            <a:ext cx="732569" cy="402336"/>
          </a:xfrm>
          <a:prstGeom prst="rect">
            <a:avLst/>
          </a:prstGeom>
        </p:spPr>
      </p:pic>
      <p:pic>
        <p:nvPicPr>
          <p:cNvPr id="13" name="Card" descr="preencoded.png">    </p:cNvPr>
          <p:cNvPicPr>
            <a:picLocks noChangeAspect="1"/>
          </p:cNvPicPr>
          <p:nvPr/>
        </p:nvPicPr>
        <p:blipFill>
          <a:blip r:embed="rId7"/>
          <a:stretch>
            <a:fillRect/>
          </a:stretch>
        </p:blipFill>
        <p:spPr>
          <a:xfrm>
            <a:off x="3136392" y="4974336"/>
            <a:ext cx="1572768" cy="841248"/>
          </a:xfrm>
          <a:prstGeom prst="rect">
            <a:avLst/>
          </a:prstGeom>
        </p:spPr>
      </p:pic>
      <p:pic>
        <p:nvPicPr>
          <p:cNvPr id="14" name="Logo" descr="/tmp/claude-0/-home-user-ad-gallery/7fc27a5a-8417-58c4-b3ff-7a7825ba0161/scratchpad/assets/s32_02.png">    </p:cNvPr>
          <p:cNvPicPr>
            <a:picLocks noChangeAspect="1"/>
          </p:cNvPicPr>
          <p:nvPr/>
        </p:nvPicPr>
        <p:blipFill>
          <a:blip r:embed="rId8"/>
          <a:stretch>
            <a:fillRect/>
          </a:stretch>
        </p:blipFill>
        <p:spPr>
          <a:xfrm>
            <a:off x="3478378" y="5193792"/>
            <a:ext cx="888797" cy="402336"/>
          </a:xfrm>
          <a:prstGeom prst="rect">
            <a:avLst/>
          </a:prstGeom>
        </p:spPr>
      </p:pic>
      <p:pic>
        <p:nvPicPr>
          <p:cNvPr id="15" name="Card" descr="preencoded.png">    </p:cNvPr>
          <p:cNvPicPr>
            <a:picLocks noChangeAspect="1"/>
          </p:cNvPicPr>
          <p:nvPr/>
        </p:nvPicPr>
        <p:blipFill>
          <a:blip r:embed="rId9"/>
          <a:stretch>
            <a:fillRect/>
          </a:stretch>
        </p:blipFill>
        <p:spPr>
          <a:xfrm>
            <a:off x="4526280" y="4974336"/>
            <a:ext cx="1572768" cy="841248"/>
          </a:xfrm>
          <a:prstGeom prst="rect">
            <a:avLst/>
          </a:prstGeom>
        </p:spPr>
      </p:pic>
      <p:pic>
        <p:nvPicPr>
          <p:cNvPr id="16" name="Logo" descr="/tmp/claude-0/-home-user-ad-gallery/7fc27a5a-8417-58c4-b3ff-7a7825ba0161/scratchpad/assets/s33_02.png">    </p:cNvPr>
          <p:cNvPicPr>
            <a:picLocks noChangeAspect="1"/>
          </p:cNvPicPr>
          <p:nvPr/>
        </p:nvPicPr>
        <p:blipFill>
          <a:blip r:embed="rId10"/>
          <a:stretch>
            <a:fillRect/>
          </a:stretch>
        </p:blipFill>
        <p:spPr>
          <a:xfrm>
            <a:off x="4745736" y="5198271"/>
            <a:ext cx="1133856" cy="393379"/>
          </a:xfrm>
          <a:prstGeom prst="rect">
            <a:avLst/>
          </a:prstGeom>
        </p:spPr>
      </p:pic>
      <p:pic>
        <p:nvPicPr>
          <p:cNvPr id="17" name="Card" descr="preencoded.png">    </p:cNvPr>
          <p:cNvPicPr>
            <a:picLocks noChangeAspect="1"/>
          </p:cNvPicPr>
          <p:nvPr/>
        </p:nvPicPr>
        <p:blipFill>
          <a:blip r:embed="rId11"/>
          <a:stretch>
            <a:fillRect/>
          </a:stretch>
        </p:blipFill>
        <p:spPr>
          <a:xfrm>
            <a:off x="356616" y="5632704"/>
            <a:ext cx="1572768" cy="841248"/>
          </a:xfrm>
          <a:prstGeom prst="rect">
            <a:avLst/>
          </a:prstGeom>
        </p:spPr>
      </p:pic>
      <p:pic>
        <p:nvPicPr>
          <p:cNvPr id="18" name="Logo" descr="/tmp/claude-0/-home-user-ad-gallery/7fc27a5a-8417-58c4-b3ff-7a7825ba0161/scratchpad/assets/s34_02.png">    </p:cNvPr>
          <p:cNvPicPr>
            <a:picLocks noChangeAspect="1"/>
          </p:cNvPicPr>
          <p:nvPr/>
        </p:nvPicPr>
        <p:blipFill>
          <a:blip r:embed="rId12"/>
          <a:stretch>
            <a:fillRect/>
          </a:stretch>
        </p:blipFill>
        <p:spPr>
          <a:xfrm>
            <a:off x="576072" y="5908446"/>
            <a:ext cx="1133856" cy="289763"/>
          </a:xfrm>
          <a:prstGeom prst="rect">
            <a:avLst/>
          </a:prstGeom>
        </p:spPr>
      </p:pic>
      <p:pic>
        <p:nvPicPr>
          <p:cNvPr id="19" name="Card" descr="preencoded.png">    </p:cNvPr>
          <p:cNvPicPr>
            <a:picLocks noChangeAspect="1"/>
          </p:cNvPicPr>
          <p:nvPr/>
        </p:nvPicPr>
        <p:blipFill>
          <a:blip r:embed="rId13"/>
          <a:stretch>
            <a:fillRect/>
          </a:stretch>
        </p:blipFill>
        <p:spPr>
          <a:xfrm>
            <a:off x="1746504" y="5632704"/>
            <a:ext cx="1572768" cy="841248"/>
          </a:xfrm>
          <a:prstGeom prst="rect">
            <a:avLst/>
          </a:prstGeom>
        </p:spPr>
      </p:pic>
      <p:pic>
        <p:nvPicPr>
          <p:cNvPr id="20" name="Logo" descr="/tmp/claude-0/-home-user-ad-gallery/7fc27a5a-8417-58c4-b3ff-7a7825ba0161/scratchpad/assets/s35_05.png">    </p:cNvPr>
          <p:cNvPicPr>
            <a:picLocks noChangeAspect="1"/>
          </p:cNvPicPr>
          <p:nvPr/>
        </p:nvPicPr>
        <p:blipFill>
          <a:blip r:embed="rId14"/>
          <a:stretch>
            <a:fillRect/>
          </a:stretch>
        </p:blipFill>
        <p:spPr>
          <a:xfrm>
            <a:off x="2018272" y="5852160"/>
            <a:ext cx="1029232" cy="402336"/>
          </a:xfrm>
          <a:prstGeom prst="rect">
            <a:avLst/>
          </a:prstGeom>
        </p:spPr>
      </p:pic>
      <p:pic>
        <p:nvPicPr>
          <p:cNvPr id="21" name="Card" descr="preencoded.png">    </p:cNvPr>
          <p:cNvPicPr>
            <a:picLocks noChangeAspect="1"/>
          </p:cNvPicPr>
          <p:nvPr/>
        </p:nvPicPr>
        <p:blipFill>
          <a:blip r:embed="rId15"/>
          <a:stretch>
            <a:fillRect/>
          </a:stretch>
        </p:blipFill>
        <p:spPr>
          <a:xfrm>
            <a:off x="3136392" y="5632704"/>
            <a:ext cx="1572768" cy="841248"/>
          </a:xfrm>
          <a:prstGeom prst="rect">
            <a:avLst/>
          </a:prstGeom>
        </p:spPr>
      </p:pic>
      <p:pic>
        <p:nvPicPr>
          <p:cNvPr id="22" name="Logo" descr="/tmp/claude-0/-home-user-ad-gallery/7fc27a5a-8417-58c4-b3ff-7a7825ba0161/scratchpad/assets/s36_05.png">    </p:cNvPr>
          <p:cNvPicPr>
            <a:picLocks noChangeAspect="1"/>
          </p:cNvPicPr>
          <p:nvPr/>
        </p:nvPicPr>
        <p:blipFill>
          <a:blip r:embed="rId16"/>
          <a:stretch>
            <a:fillRect/>
          </a:stretch>
        </p:blipFill>
        <p:spPr>
          <a:xfrm>
            <a:off x="3542149" y="5852160"/>
            <a:ext cx="761254" cy="40233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Manufacturing Domain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SFO TECHNOLOGIES</a:t>
            </a:r>
            <a:endParaRPr lang="en-US" sz="1100" dirty="0"/>
          </a:p>
        </p:txBody>
      </p:sp>
      <p:pic>
        <p:nvPicPr>
          <p:cNvPr id="4"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5" name="Logo" descr="/tmp/claude-0/-home-user-ad-gallery/7fc27a5a-8417-58c4-b3ff-7a7825ba0161/scratchpad/assets/s30_05.png">    </p:cNvPr>
          <p:cNvPicPr>
            <a:picLocks noChangeAspect="1"/>
          </p:cNvPicPr>
          <p:nvPr/>
        </p:nvPicPr>
        <p:blipFill>
          <a:blip r:embed="rId2"/>
          <a:stretch>
            <a:fillRect/>
          </a:stretch>
        </p:blipFill>
        <p:spPr>
          <a:xfrm>
            <a:off x="8366760" y="499471"/>
            <a:ext cx="1600200" cy="381802"/>
          </a:xfrm>
          <a:prstGeom prst="rect">
            <a:avLst/>
          </a:prstGeom>
        </p:spPr>
      </p:pic>
      <p:pic>
        <p:nvPicPr>
          <p:cNvPr id="6" name="Card" descr="preencoded.png">    </p:cNvPr>
          <p:cNvPicPr>
            <a:picLocks noChangeAspect="1"/>
          </p:cNvPicPr>
          <p:nvPr/>
        </p:nvPicPr>
        <p:blipFill>
          <a:blip r:embed="rId3"/>
          <a:stretch>
            <a:fillRect/>
          </a:stretch>
        </p:blipFill>
        <p:spPr>
          <a:xfrm>
            <a:off x="356616" y="1335024"/>
            <a:ext cx="3721608" cy="1709928"/>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7955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Leading microprocessor manufacturer for the aviation industry</a:t>
            </a:r>
            <a:endParaRPr lang="en-US" sz="1200" dirty="0"/>
          </a:p>
          <a:p>
            <a:pPr marL="165100" indent="-165100">
              <a:spcAft>
                <a:spcPts val="300"/>
              </a:spcAft>
              <a:buClr>
                <a:srgbClr val="F7941E"/>
              </a:buClr>
              <a:buSzPct val="100000"/>
              <a:buChar char="●"/>
            </a:pPr>
            <a:r>
              <a:rPr lang="en-US" sz="1200" dirty="0">
                <a:solidFill>
                  <a:schemeClr val="accent5"/>
                </a:solidFill>
              </a:rPr>
              <a:t>Original Design Manufacturing (ODM) solution partners</a:t>
            </a:r>
            <a:endParaRPr lang="en-US" sz="1200" dirty="0"/>
          </a:p>
        </p:txBody>
      </p:sp>
      <p:pic>
        <p:nvPicPr>
          <p:cNvPr id="10" name="Card" descr="preencoded.png">    </p:cNvPr>
          <p:cNvPicPr>
            <a:picLocks noChangeAspect="1"/>
          </p:cNvPicPr>
          <p:nvPr/>
        </p:nvPicPr>
        <p:blipFill>
          <a:blip r:embed="rId5"/>
          <a:stretch>
            <a:fillRect/>
          </a:stretch>
        </p:blipFill>
        <p:spPr>
          <a:xfrm>
            <a:off x="356616" y="2935224"/>
            <a:ext cx="3721608" cy="3474720"/>
          </a:xfrm>
          <a:prstGeom prst="rect">
            <a:avLst/>
          </a:prstGeom>
        </p:spPr>
      </p:pic>
      <p:pic>
        <p:nvPicPr>
          <p:cNvPr id="11" name="Icon" descr="preencoded.png">    </p:cNvPr>
          <p:cNvPicPr>
            <a:picLocks noChangeAspect="1"/>
          </p:cNvPicPr>
          <p:nvPr/>
        </p:nvPicPr>
        <p:blipFill>
          <a:blip r:embed="rId6"/>
          <a:stretch>
            <a:fillRect/>
          </a:stretch>
        </p:blipFill>
        <p:spPr>
          <a:xfrm>
            <a:off x="704088" y="3246120"/>
            <a:ext cx="237744" cy="237744"/>
          </a:xfrm>
          <a:prstGeom prst="rect">
            <a:avLst/>
          </a:prstGeom>
        </p:spPr>
      </p:pic>
      <p:sp>
        <p:nvSpPr>
          <p:cNvPr id="12" name="Text 4"/>
          <p:cNvSpPr txBox="1"/>
          <p:nvPr/>
        </p:nvSpPr>
        <p:spPr>
          <a:xfrm>
            <a:off x="1033272" y="32004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3611880"/>
            <a:ext cx="3044952" cy="25603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The current data pipeline lacks resilience</a:t>
            </a:r>
            <a:endParaRPr lang="en-US" sz="1200" dirty="0"/>
          </a:p>
          <a:p>
            <a:pPr marL="165100" indent="-165100">
              <a:spcAft>
                <a:spcPts val="300"/>
              </a:spcAft>
              <a:buClr>
                <a:srgbClr val="F7941E"/>
              </a:buClr>
              <a:buSzPct val="100000"/>
              <a:buChar char="●"/>
            </a:pPr>
            <a:r>
              <a:rPr lang="en-US" sz="1200" dirty="0">
                <a:solidFill>
                  <a:schemeClr val="accent5"/>
                </a:solidFill>
              </a:rPr>
              <a:t>Need to demonstrate real-time productivity</a:t>
            </a:r>
            <a:endParaRPr lang="en-US" sz="1200" dirty="0"/>
          </a:p>
          <a:p>
            <a:pPr marL="165100" indent="-165100">
              <a:spcAft>
                <a:spcPts val="300"/>
              </a:spcAft>
              <a:buClr>
                <a:srgbClr val="F7941E"/>
              </a:buClr>
              <a:buSzPct val="100000"/>
              <a:buChar char="●"/>
            </a:pPr>
            <a:r>
              <a:rPr lang="en-US" sz="1200" dirty="0">
                <a:solidFill>
                  <a:schemeClr val="accent5"/>
                </a:solidFill>
              </a:rPr>
              <a:t>The databases for all units are not interconnected</a:t>
            </a:r>
            <a:endParaRPr lang="en-US" sz="1200" dirty="0"/>
          </a:p>
          <a:p>
            <a:pPr marL="165100" indent="-165100">
              <a:spcAft>
                <a:spcPts val="300"/>
              </a:spcAft>
              <a:buClr>
                <a:srgbClr val="F7941E"/>
              </a:buClr>
              <a:buSzPct val="100000"/>
              <a:buChar char="●"/>
            </a:pPr>
            <a:r>
              <a:rPr lang="en-US" sz="1200" dirty="0">
                <a:solidFill>
                  <a:schemeClr val="accent5"/>
                </a:solidFill>
              </a:rPr>
              <a:t>There were delays in extracting reports</a:t>
            </a:r>
            <a:endParaRPr lang="en-US" sz="1200" dirty="0"/>
          </a:p>
        </p:txBody>
      </p:sp>
      <p:pic>
        <p:nvPicPr>
          <p:cNvPr id="14" name="Card" descr="preencoded.png">    </p:cNvPr>
          <p:cNvPicPr>
            <a:picLocks noChangeAspect="1"/>
          </p:cNvPicPr>
          <p:nvPr/>
        </p:nvPicPr>
        <p:blipFill>
          <a:blip r:embed="rId7"/>
          <a:stretch>
            <a:fillRect/>
          </a:stretch>
        </p:blipFill>
        <p:spPr>
          <a:xfrm>
            <a:off x="3968496" y="1335024"/>
            <a:ext cx="3950208" cy="3172968"/>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2585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Revamped data pipelines</a:t>
            </a:r>
            <a:endParaRPr lang="en-US" sz="1200" dirty="0"/>
          </a:p>
          <a:p>
            <a:pPr marL="165100" indent="-165100">
              <a:spcAft>
                <a:spcPts val="300"/>
              </a:spcAft>
              <a:buClr>
                <a:srgbClr val="F7941E"/>
              </a:buClr>
              <a:buSzPct val="100000"/>
              <a:buChar char="●"/>
            </a:pPr>
            <a:r>
              <a:rPr lang="en-US" sz="1200" dirty="0">
                <a:solidFill>
                  <a:schemeClr val="accent5"/>
                </a:solidFill>
              </a:rPr>
              <a:t>Integrated data across all units onto the cloud</a:t>
            </a:r>
            <a:endParaRPr lang="en-US" sz="1200" dirty="0"/>
          </a:p>
          <a:p>
            <a:pPr marL="165100" indent="-165100">
              <a:spcAft>
                <a:spcPts val="300"/>
              </a:spcAft>
              <a:buClr>
                <a:srgbClr val="F7941E"/>
              </a:buClr>
              <a:buSzPct val="100000"/>
              <a:buChar char="●"/>
            </a:pPr>
            <a:r>
              <a:rPr lang="en-US" sz="1200" dirty="0">
                <a:solidFill>
                  <a:schemeClr val="accent5"/>
                </a:solidFill>
              </a:rPr>
              <a:t>Implemented automated batch refreshes for smooth data flow</a:t>
            </a:r>
            <a:endParaRPr lang="en-US" sz="1200" dirty="0"/>
          </a:p>
          <a:p>
            <a:pPr marL="165100" indent="-165100">
              <a:spcAft>
                <a:spcPts val="300"/>
              </a:spcAft>
              <a:buClr>
                <a:srgbClr val="F7941E"/>
              </a:buClr>
              <a:buSzPct val="100000"/>
              <a:buChar char="●"/>
            </a:pPr>
            <a:r>
              <a:rPr lang="en-US" sz="1200" dirty="0">
                <a:solidFill>
                  <a:schemeClr val="accent5"/>
                </a:solidFill>
              </a:rPr>
              <a:t>Implemented real-time data monitoring</a:t>
            </a:r>
            <a:endParaRPr lang="en-US" sz="1200" dirty="0"/>
          </a:p>
          <a:p>
            <a:pPr marL="165100" indent="-165100">
              <a:spcAft>
                <a:spcPts val="300"/>
              </a:spcAft>
              <a:buClr>
                <a:srgbClr val="F7941E"/>
              </a:buClr>
              <a:buSzPct val="100000"/>
              <a:buChar char="●"/>
            </a:pPr>
            <a:r>
              <a:rPr lang="en-US" sz="1200" dirty="0">
                <a:solidFill>
                  <a:schemeClr val="accent5"/>
                </a:solidFill>
              </a:rPr>
              <a:t>Created dashboards for timely reports</a:t>
            </a:r>
            <a:endParaRPr lang="en-US" sz="1200" dirty="0"/>
          </a:p>
        </p:txBody>
      </p:sp>
      <p:pic>
        <p:nvPicPr>
          <p:cNvPr id="18" name="Card" descr="preencoded.png">    </p:cNvPr>
          <p:cNvPicPr>
            <a:picLocks noChangeAspect="1"/>
          </p:cNvPicPr>
          <p:nvPr/>
        </p:nvPicPr>
        <p:blipFill>
          <a:blip r:embed="rId9"/>
          <a:stretch>
            <a:fillRect/>
          </a:stretch>
        </p:blipFill>
        <p:spPr>
          <a:xfrm>
            <a:off x="3968496" y="4398264"/>
            <a:ext cx="3950208" cy="2011680"/>
          </a:xfrm>
          <a:prstGeom prst="rect">
            <a:avLst/>
          </a:prstGeom>
        </p:spPr>
      </p:pic>
      <p:pic>
        <p:nvPicPr>
          <p:cNvPr id="19" name="Icon" descr="preencoded.png">    </p:cNvPr>
          <p:cNvPicPr>
            <a:picLocks noChangeAspect="1"/>
          </p:cNvPicPr>
          <p:nvPr/>
        </p:nvPicPr>
        <p:blipFill>
          <a:blip r:embed="rId10"/>
          <a:stretch>
            <a:fillRect/>
          </a:stretch>
        </p:blipFill>
        <p:spPr>
          <a:xfrm>
            <a:off x="4315968" y="4709160"/>
            <a:ext cx="237744" cy="237744"/>
          </a:xfrm>
          <a:prstGeom prst="rect">
            <a:avLst/>
          </a:prstGeom>
        </p:spPr>
      </p:pic>
      <p:sp>
        <p:nvSpPr>
          <p:cNvPr id="20" name="Text 8"/>
          <p:cNvSpPr txBox="1"/>
          <p:nvPr/>
        </p:nvSpPr>
        <p:spPr>
          <a:xfrm>
            <a:off x="4645152" y="466344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5074920"/>
            <a:ext cx="3273552" cy="109728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b="1" dirty="0">
                <a:solidFill>
                  <a:schemeClr val="tx1"/>
                </a:solidFill>
              </a:rPr>
              <a:t>Data pipelines: </a:t>
            </a:r>
            <a:pPr indent="0" marL="0">
              <a:buNone/>
            </a:pPr>
            <a:r>
              <a:rPr lang="en-US" sz="1200" dirty="0">
                <a:solidFill>
                  <a:schemeClr val="accent5"/>
                </a:solidFill>
              </a:rPr>
              <a:t>Azure Data Factory / ADLS Gen 2</a:t>
            </a:r>
            <a:endParaRPr lang="en-US" sz="1200" dirty="0"/>
          </a:p>
          <a:p>
            <a:pPr marL="165100" indent="-165100">
              <a:spcAft>
                <a:spcPts val="300"/>
              </a:spcAft>
              <a:buClr>
                <a:srgbClr val="F7941E"/>
              </a:buClr>
              <a:buSzPct val="100000"/>
              <a:buChar char="●"/>
            </a:pPr>
            <a:r>
              <a:rPr lang="en-US" sz="1200" b="1" dirty="0">
                <a:solidFill>
                  <a:schemeClr val="tx1"/>
                </a:solidFill>
              </a:rPr>
              <a:t>Visualizations: </a:t>
            </a:r>
            <a:pPr indent="0" marL="0">
              <a:buNone/>
            </a:pPr>
            <a:r>
              <a:rPr lang="en-US" sz="1200" dirty="0">
                <a:solidFill>
                  <a:schemeClr val="accent5"/>
                </a:solidFill>
              </a:rPr>
              <a:t>Power BI</a:t>
            </a:r>
            <a:endParaRPr lang="en-US" sz="1200" dirty="0"/>
          </a:p>
        </p:txBody>
      </p:sp>
      <p:pic>
        <p:nvPicPr>
          <p:cNvPr id="22" name="Card" descr="preencoded.png">    </p:cNvPr>
          <p:cNvPicPr>
            <a:picLocks noChangeAspect="1"/>
          </p:cNvPicPr>
          <p:nvPr/>
        </p:nvPicPr>
        <p:blipFill>
          <a:blip r:embed="rId11"/>
          <a:stretch>
            <a:fillRect/>
          </a:stretch>
        </p:blipFill>
        <p:spPr>
          <a:xfrm>
            <a:off x="7808976" y="1335024"/>
            <a:ext cx="4026103" cy="2807208"/>
          </a:xfrm>
          <a:prstGeom prst="rect">
            <a:avLst/>
          </a:prstGeom>
        </p:spPr>
      </p:pic>
      <p:pic>
        <p:nvPicPr>
          <p:cNvPr id="23" name="Screenshot" descr="/tmp/claude-0/-home-user-ad-gallery/7fc27a5a-8417-58c4-b3ff-7a7825ba0161/scratchpad/assets/s30_00.png">    </p:cNvPr>
          <p:cNvPicPr>
            <a:picLocks noChangeAspect="1"/>
          </p:cNvPicPr>
          <p:nvPr/>
        </p:nvPicPr>
        <p:blipFill>
          <a:blip r:embed="rId12"/>
          <a:stretch>
            <a:fillRect/>
          </a:stretch>
        </p:blipFill>
        <p:spPr>
          <a:xfrm>
            <a:off x="8092440" y="1657603"/>
            <a:ext cx="1661008" cy="973329"/>
          </a:xfrm>
          <a:prstGeom prst="rect">
            <a:avLst/>
          </a:prstGeom>
        </p:spPr>
      </p:pic>
      <p:pic>
        <p:nvPicPr>
          <p:cNvPr id="24" name="Screenshot" descr="/tmp/claude-0/-home-user-ad-gallery/7fc27a5a-8417-58c4-b3ff-7a7825ba0161/scratchpad/assets/s30_01.png">    </p:cNvPr>
          <p:cNvPicPr>
            <a:picLocks noChangeAspect="1"/>
          </p:cNvPicPr>
          <p:nvPr/>
        </p:nvPicPr>
        <p:blipFill>
          <a:blip r:embed="rId13"/>
          <a:stretch>
            <a:fillRect/>
          </a:stretch>
        </p:blipFill>
        <p:spPr>
          <a:xfrm>
            <a:off x="9890608" y="1669104"/>
            <a:ext cx="1661008" cy="950328"/>
          </a:xfrm>
          <a:prstGeom prst="rect">
            <a:avLst/>
          </a:prstGeom>
        </p:spPr>
      </p:pic>
      <p:pic>
        <p:nvPicPr>
          <p:cNvPr id="25" name="Screenshot" descr="/tmp/claude-0/-home-user-ad-gallery/7fc27a5a-8417-58c4-b3ff-7a7825ba0161/scratchpad/assets/s30_02.png">    </p:cNvPr>
          <p:cNvPicPr>
            <a:picLocks noChangeAspect="1"/>
          </p:cNvPicPr>
          <p:nvPr/>
        </p:nvPicPr>
        <p:blipFill>
          <a:blip r:embed="rId14"/>
          <a:stretch>
            <a:fillRect/>
          </a:stretch>
        </p:blipFill>
        <p:spPr>
          <a:xfrm>
            <a:off x="8092440" y="2854712"/>
            <a:ext cx="1661008" cy="956552"/>
          </a:xfrm>
          <a:prstGeom prst="rect">
            <a:avLst/>
          </a:prstGeom>
        </p:spPr>
      </p:pic>
      <p:pic>
        <p:nvPicPr>
          <p:cNvPr id="26" name="Screenshot" descr="/tmp/claude-0/-home-user-ad-gallery/7fc27a5a-8417-58c4-b3ff-7a7825ba0161/scratchpad/assets/s30_03.png">    </p:cNvPr>
          <p:cNvPicPr>
            <a:picLocks noChangeAspect="1"/>
          </p:cNvPicPr>
          <p:nvPr/>
        </p:nvPicPr>
        <p:blipFill>
          <a:blip r:embed="rId15"/>
          <a:stretch>
            <a:fillRect/>
          </a:stretch>
        </p:blipFill>
        <p:spPr>
          <a:xfrm>
            <a:off x="9890608" y="2923668"/>
            <a:ext cx="1661008" cy="818639"/>
          </a:xfrm>
          <a:prstGeom prst="rect">
            <a:avLst/>
          </a:prstGeom>
        </p:spPr>
      </p:pic>
      <p:pic>
        <p:nvPicPr>
          <p:cNvPr id="27" name="Card" descr="preencoded.png">    </p:cNvPr>
          <p:cNvPicPr>
            <a:picLocks noChangeAspect="1"/>
          </p:cNvPicPr>
          <p:nvPr/>
        </p:nvPicPr>
        <p:blipFill>
          <a:blip r:embed="rId16"/>
          <a:stretch>
            <a:fillRect/>
          </a:stretch>
        </p:blipFill>
        <p:spPr>
          <a:xfrm>
            <a:off x="7808976" y="4032504"/>
            <a:ext cx="4026103" cy="2377440"/>
          </a:xfrm>
          <a:prstGeom prst="rect">
            <a:avLst/>
          </a:prstGeom>
        </p:spPr>
      </p:pic>
      <p:pic>
        <p:nvPicPr>
          <p:cNvPr id="28" name="Icon" descr="preencoded.png">    </p:cNvPr>
          <p:cNvPicPr>
            <a:picLocks noChangeAspect="1"/>
          </p:cNvPicPr>
          <p:nvPr/>
        </p:nvPicPr>
        <p:blipFill>
          <a:blip r:embed="rId17"/>
          <a:stretch>
            <a:fillRect/>
          </a:stretch>
        </p:blipFill>
        <p:spPr>
          <a:xfrm>
            <a:off x="8156448" y="4343400"/>
            <a:ext cx="237744" cy="237744"/>
          </a:xfrm>
          <a:prstGeom prst="rect">
            <a:avLst/>
          </a:prstGeom>
        </p:spPr>
      </p:pic>
      <p:sp>
        <p:nvSpPr>
          <p:cNvPr id="29" name="Text 10"/>
          <p:cNvSpPr txBox="1"/>
          <p:nvPr/>
        </p:nvSpPr>
        <p:spPr>
          <a:xfrm>
            <a:off x="8485632" y="429768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30" name="Text 11"/>
          <p:cNvSpPr txBox="1"/>
          <p:nvPr/>
        </p:nvSpPr>
        <p:spPr>
          <a:xfrm>
            <a:off x="8156448" y="4709160"/>
            <a:ext cx="3349447" cy="146304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1"/>
                </a:solidFill>
              </a:rPr>
              <a:t>Centralized data repository</a:t>
            </a:r>
            <a:endParaRPr lang="en-US" sz="1200" dirty="0"/>
          </a:p>
          <a:p>
            <a:pPr marL="165100" indent="-165100">
              <a:spcAft>
                <a:spcPts val="300"/>
              </a:spcAft>
              <a:buClr>
                <a:srgbClr val="F7941E"/>
              </a:buClr>
              <a:buSzPct val="100000"/>
              <a:buChar char="●"/>
            </a:pPr>
            <a:r>
              <a:rPr lang="en-US" sz="1200" dirty="0">
                <a:solidFill>
                  <a:schemeClr val="bg1"/>
                </a:solidFill>
              </a:rPr>
              <a:t>Sturdy data pipelines</a:t>
            </a:r>
            <a:endParaRPr lang="en-US" sz="1200" dirty="0"/>
          </a:p>
          <a:p>
            <a:pPr marL="165100" indent="-165100">
              <a:spcAft>
                <a:spcPts val="300"/>
              </a:spcAft>
              <a:buClr>
                <a:srgbClr val="F7941E"/>
              </a:buClr>
              <a:buSzPct val="100000"/>
              <a:buChar char="●"/>
            </a:pPr>
            <a:r>
              <a:rPr lang="en-US" sz="1200" dirty="0">
                <a:solidFill>
                  <a:schemeClr val="bg1"/>
                </a:solidFill>
              </a:rPr>
              <a:t>Smooth data integration</a:t>
            </a:r>
            <a:endParaRPr lang="en-US" sz="1200" dirty="0"/>
          </a:p>
          <a:p>
            <a:pPr marL="165100" indent="-165100">
              <a:spcAft>
                <a:spcPts val="300"/>
              </a:spcAft>
              <a:buClr>
                <a:srgbClr val="F7941E"/>
              </a:buClr>
              <a:buSzPct val="100000"/>
              <a:buChar char="●"/>
            </a:pPr>
            <a:r>
              <a:rPr lang="en-US" sz="1200" dirty="0">
                <a:solidFill>
                  <a:schemeClr val="bg1"/>
                </a:solidFill>
              </a:rPr>
              <a:t>Timely accessibility of reports</a:t>
            </a:r>
            <a:endParaRPr lang="en-US" sz="1200" dirty="0"/>
          </a:p>
          <a:p>
            <a:pPr marL="165100" indent="-165100">
              <a:spcAft>
                <a:spcPts val="300"/>
              </a:spcAft>
              <a:buClr>
                <a:srgbClr val="F7941E"/>
              </a:buClr>
              <a:buSzPct val="100000"/>
              <a:buChar char="●"/>
            </a:pPr>
            <a:r>
              <a:rPr lang="en-US" sz="1200" dirty="0">
                <a:solidFill>
                  <a:schemeClr val="bg1"/>
                </a:solidFill>
              </a:rPr>
              <a:t>Risk mitigation and swift action</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Marine and Shipping Domain</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JM BAXI</a:t>
            </a:r>
            <a:endParaRPr lang="en-US" sz="1100" dirty="0"/>
          </a:p>
        </p:txBody>
      </p:sp>
      <p:pic>
        <p:nvPicPr>
          <p:cNvPr id="4"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5" name="Logo" descr="/tmp/claude-0/-home-user-ad-gallery/7fc27a5a-8417-58c4-b3ff-7a7825ba0161/scratchpad/assets/s31_05.png">    </p:cNvPr>
          <p:cNvPicPr>
            <a:picLocks noChangeAspect="1"/>
          </p:cNvPicPr>
          <p:nvPr/>
        </p:nvPicPr>
        <p:blipFill>
          <a:blip r:embed="rId2"/>
          <a:stretch>
            <a:fillRect/>
          </a:stretch>
        </p:blipFill>
        <p:spPr>
          <a:xfrm>
            <a:off x="8625758" y="393192"/>
            <a:ext cx="1082204" cy="594360"/>
          </a:xfrm>
          <a:prstGeom prst="rect">
            <a:avLst/>
          </a:prstGeom>
        </p:spPr>
      </p:pic>
      <p:pic>
        <p:nvPicPr>
          <p:cNvPr id="6" name="Card" descr="preencoded.png">    </p:cNvPr>
          <p:cNvPicPr>
            <a:picLocks noChangeAspect="1"/>
          </p:cNvPicPr>
          <p:nvPr/>
        </p:nvPicPr>
        <p:blipFill>
          <a:blip r:embed="rId3"/>
          <a:stretch>
            <a:fillRect/>
          </a:stretch>
        </p:blipFill>
        <p:spPr>
          <a:xfrm>
            <a:off x="356616" y="1335024"/>
            <a:ext cx="3721608" cy="1709928"/>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7955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50" dirty="0">
                <a:solidFill>
                  <a:schemeClr val="accent5"/>
                </a:solidFill>
              </a:rPr>
              <a:t>Marine services, ship agency, container agency</a:t>
            </a:r>
            <a:endParaRPr lang="en-US" sz="1150" dirty="0"/>
          </a:p>
          <a:p>
            <a:pPr marL="165100" indent="-165100">
              <a:spcAft>
                <a:spcPts val="300"/>
              </a:spcAft>
              <a:buClr>
                <a:srgbClr val="F7941E"/>
              </a:buClr>
              <a:buSzPct val="100000"/>
              <a:buChar char="●"/>
            </a:pPr>
            <a:r>
              <a:rPr lang="en-US" sz="1150" dirty="0">
                <a:solidFill>
                  <a:schemeClr val="accent5"/>
                </a:solidFill>
              </a:rPr>
              <a:t>Container and multi-cargo port terminals</a:t>
            </a:r>
            <a:endParaRPr lang="en-US" sz="1150" dirty="0"/>
          </a:p>
          <a:p>
            <a:pPr marL="165100" indent="-165100">
              <a:spcAft>
                <a:spcPts val="300"/>
              </a:spcAft>
              <a:buClr>
                <a:srgbClr val="F7941E"/>
              </a:buClr>
              <a:buSzPct val="100000"/>
              <a:buChar char="●"/>
            </a:pPr>
            <a:r>
              <a:rPr lang="en-US" sz="1150" dirty="0">
                <a:solidFill>
                  <a:schemeClr val="accent5"/>
                </a:solidFill>
              </a:rPr>
              <a:t>Cruise and naval ships calling</a:t>
            </a:r>
            <a:endParaRPr lang="en-US" sz="1150" dirty="0"/>
          </a:p>
        </p:txBody>
      </p:sp>
      <p:pic>
        <p:nvPicPr>
          <p:cNvPr id="10" name="Card" descr="preencoded.png">    </p:cNvPr>
          <p:cNvPicPr>
            <a:picLocks noChangeAspect="1"/>
          </p:cNvPicPr>
          <p:nvPr/>
        </p:nvPicPr>
        <p:blipFill>
          <a:blip r:embed="rId5"/>
          <a:stretch>
            <a:fillRect/>
          </a:stretch>
        </p:blipFill>
        <p:spPr>
          <a:xfrm>
            <a:off x="356616" y="2935224"/>
            <a:ext cx="3721608" cy="3474720"/>
          </a:xfrm>
          <a:prstGeom prst="rect">
            <a:avLst/>
          </a:prstGeom>
        </p:spPr>
      </p:pic>
      <p:pic>
        <p:nvPicPr>
          <p:cNvPr id="11" name="Icon" descr="preencoded.png">    </p:cNvPr>
          <p:cNvPicPr>
            <a:picLocks noChangeAspect="1"/>
          </p:cNvPicPr>
          <p:nvPr/>
        </p:nvPicPr>
        <p:blipFill>
          <a:blip r:embed="rId6"/>
          <a:stretch>
            <a:fillRect/>
          </a:stretch>
        </p:blipFill>
        <p:spPr>
          <a:xfrm>
            <a:off x="704088" y="3246120"/>
            <a:ext cx="237744" cy="237744"/>
          </a:xfrm>
          <a:prstGeom prst="rect">
            <a:avLst/>
          </a:prstGeom>
        </p:spPr>
      </p:pic>
      <p:sp>
        <p:nvSpPr>
          <p:cNvPr id="12" name="Text 4"/>
          <p:cNvSpPr txBox="1"/>
          <p:nvPr/>
        </p:nvSpPr>
        <p:spPr>
          <a:xfrm>
            <a:off x="1033272" y="32004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3611880"/>
            <a:ext cx="3044952" cy="25603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50" dirty="0">
                <a:solidFill>
                  <a:schemeClr val="accent5"/>
                </a:solidFill>
              </a:rPr>
              <a:t>Struggles with large datasets, leading to performance problems</a:t>
            </a:r>
            <a:endParaRPr lang="en-US" sz="1150" dirty="0"/>
          </a:p>
          <a:p>
            <a:pPr marL="165100" indent="-165100">
              <a:spcAft>
                <a:spcPts val="300"/>
              </a:spcAft>
              <a:buClr>
                <a:srgbClr val="F7941E"/>
              </a:buClr>
              <a:buSzPct val="100000"/>
              <a:buChar char="●"/>
            </a:pPr>
            <a:r>
              <a:rPr lang="en-US" sz="1150" dirty="0">
                <a:solidFill>
                  <a:schemeClr val="accent5"/>
                </a:solidFill>
              </a:rPr>
              <a:t>Basic analytics, inadequate for complex data interpretation</a:t>
            </a:r>
            <a:endParaRPr lang="en-US" sz="1150" dirty="0"/>
          </a:p>
          <a:p>
            <a:pPr marL="165100" indent="-165100">
              <a:spcAft>
                <a:spcPts val="300"/>
              </a:spcAft>
              <a:buClr>
                <a:srgbClr val="F7941E"/>
              </a:buClr>
              <a:buSzPct val="100000"/>
              <a:buChar char="●"/>
            </a:pPr>
            <a:r>
              <a:rPr lang="en-US" sz="1150" dirty="0">
                <a:solidFill>
                  <a:schemeClr val="accent5"/>
                </a:solidFill>
              </a:rPr>
              <a:t>Errors and inefficiency due to manual data entry</a:t>
            </a:r>
            <a:endParaRPr lang="en-US" sz="1150" dirty="0"/>
          </a:p>
          <a:p>
            <a:pPr marL="165100" indent="-165100">
              <a:spcAft>
                <a:spcPts val="300"/>
              </a:spcAft>
              <a:buClr>
                <a:srgbClr val="F7941E"/>
              </a:buClr>
              <a:buSzPct val="100000"/>
              <a:buChar char="●"/>
            </a:pPr>
            <a:r>
              <a:rPr lang="en-US" sz="1150" dirty="0">
                <a:solidFill>
                  <a:schemeClr val="accent5"/>
                </a:solidFill>
              </a:rPr>
              <a:t>Challenges in real-time sharing and syncing of files</a:t>
            </a:r>
            <a:endParaRPr lang="en-US" sz="1150" dirty="0"/>
          </a:p>
          <a:p>
            <a:pPr marL="165100" indent="-165100">
              <a:spcAft>
                <a:spcPts val="300"/>
              </a:spcAft>
              <a:buClr>
                <a:srgbClr val="F7941E"/>
              </a:buClr>
              <a:buSzPct val="100000"/>
              <a:buChar char="●"/>
            </a:pPr>
            <a:r>
              <a:rPr lang="en-US" sz="1150" dirty="0">
                <a:solidFill>
                  <a:schemeClr val="accent5"/>
                </a:solidFill>
              </a:rPr>
              <a:t>Automation challenges</a:t>
            </a:r>
            <a:endParaRPr lang="en-US" sz="1150" dirty="0"/>
          </a:p>
        </p:txBody>
      </p:sp>
      <p:pic>
        <p:nvPicPr>
          <p:cNvPr id="14" name="Card" descr="preencoded.png">    </p:cNvPr>
          <p:cNvPicPr>
            <a:picLocks noChangeAspect="1"/>
          </p:cNvPicPr>
          <p:nvPr/>
        </p:nvPicPr>
        <p:blipFill>
          <a:blip r:embed="rId7"/>
          <a:stretch>
            <a:fillRect/>
          </a:stretch>
        </p:blipFill>
        <p:spPr>
          <a:xfrm>
            <a:off x="3968496" y="1335024"/>
            <a:ext cx="3950208" cy="3447288"/>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53288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50" dirty="0">
                <a:solidFill>
                  <a:schemeClr val="accent5"/>
                </a:solidFill>
              </a:rPr>
              <a:t>ADF merges diverse sources into Azure SQL Database efficiently</a:t>
            </a:r>
            <a:endParaRPr lang="en-US" sz="1150" dirty="0"/>
          </a:p>
          <a:p>
            <a:pPr marL="165100" indent="-165100">
              <a:spcAft>
                <a:spcPts val="300"/>
              </a:spcAft>
              <a:buClr>
                <a:srgbClr val="F7941E"/>
              </a:buClr>
              <a:buSzPct val="100000"/>
              <a:buChar char="●"/>
            </a:pPr>
            <a:r>
              <a:rPr lang="en-US" sz="1150" dirty="0">
                <a:solidFill>
                  <a:schemeClr val="accent5"/>
                </a:solidFill>
              </a:rPr>
              <a:t>Azure SQL enables complex analysis and automation capabilities</a:t>
            </a:r>
            <a:endParaRPr lang="en-US" sz="1150" dirty="0"/>
          </a:p>
          <a:p>
            <a:pPr marL="165100" indent="-165100">
              <a:spcAft>
                <a:spcPts val="300"/>
              </a:spcAft>
              <a:buClr>
                <a:srgbClr val="F7941E"/>
              </a:buClr>
              <a:buSzPct val="100000"/>
              <a:buChar char="●"/>
            </a:pPr>
            <a:r>
              <a:rPr lang="en-US" sz="1150" dirty="0">
                <a:solidFill>
                  <a:schemeClr val="accent5"/>
                </a:solidFill>
              </a:rPr>
              <a:t>Centralized SQL data warehouse fosters smoother management collaboration</a:t>
            </a:r>
            <a:endParaRPr lang="en-US" sz="1150" dirty="0"/>
          </a:p>
          <a:p>
            <a:pPr marL="165100" indent="-165100">
              <a:spcAft>
                <a:spcPts val="300"/>
              </a:spcAft>
              <a:buClr>
                <a:srgbClr val="F7941E"/>
              </a:buClr>
              <a:buSzPct val="100000"/>
              <a:buChar char="●"/>
            </a:pPr>
            <a:r>
              <a:rPr lang="en-US" sz="1150" dirty="0">
                <a:solidFill>
                  <a:schemeClr val="accent5"/>
                </a:solidFill>
              </a:rPr>
              <a:t>Implemented automated batch refreshes for smooth data flow</a:t>
            </a:r>
            <a:endParaRPr lang="en-US" sz="1150" dirty="0"/>
          </a:p>
          <a:p>
            <a:pPr marL="165100" indent="-165100">
              <a:spcAft>
                <a:spcPts val="300"/>
              </a:spcAft>
              <a:buClr>
                <a:srgbClr val="F7941E"/>
              </a:buClr>
              <a:buSzPct val="100000"/>
              <a:buChar char="●"/>
            </a:pPr>
            <a:r>
              <a:rPr lang="en-US" sz="1150" dirty="0">
                <a:solidFill>
                  <a:schemeClr val="accent5"/>
                </a:solidFill>
              </a:rPr>
              <a:t>Created Power BI dashboards for timely reports</a:t>
            </a:r>
            <a:endParaRPr lang="en-US" sz="1150" dirty="0"/>
          </a:p>
        </p:txBody>
      </p:sp>
      <p:pic>
        <p:nvPicPr>
          <p:cNvPr id="18" name="Card" descr="preencoded.png">    </p:cNvPr>
          <p:cNvPicPr>
            <a:picLocks noChangeAspect="1"/>
          </p:cNvPicPr>
          <p:nvPr/>
        </p:nvPicPr>
        <p:blipFill>
          <a:blip r:embed="rId9"/>
          <a:stretch>
            <a:fillRect/>
          </a:stretch>
        </p:blipFill>
        <p:spPr>
          <a:xfrm>
            <a:off x="3968496" y="4672584"/>
            <a:ext cx="3950208" cy="1737360"/>
          </a:xfrm>
          <a:prstGeom prst="rect">
            <a:avLst/>
          </a:prstGeom>
        </p:spPr>
      </p:pic>
      <p:pic>
        <p:nvPicPr>
          <p:cNvPr id="19" name="Icon" descr="preencoded.png">    </p:cNvPr>
          <p:cNvPicPr>
            <a:picLocks noChangeAspect="1"/>
          </p:cNvPicPr>
          <p:nvPr/>
        </p:nvPicPr>
        <p:blipFill>
          <a:blip r:embed="rId10"/>
          <a:stretch>
            <a:fillRect/>
          </a:stretch>
        </p:blipFill>
        <p:spPr>
          <a:xfrm>
            <a:off x="4315968" y="4983480"/>
            <a:ext cx="237744" cy="237744"/>
          </a:xfrm>
          <a:prstGeom prst="rect">
            <a:avLst/>
          </a:prstGeom>
        </p:spPr>
      </p:pic>
      <p:sp>
        <p:nvSpPr>
          <p:cNvPr id="20" name="Text 8"/>
          <p:cNvSpPr txBox="1"/>
          <p:nvPr/>
        </p:nvSpPr>
        <p:spPr>
          <a:xfrm>
            <a:off x="4645152" y="493776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5349240"/>
            <a:ext cx="3273552" cy="82296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50" b="1" dirty="0">
                <a:solidFill>
                  <a:schemeClr val="tx1"/>
                </a:solidFill>
              </a:rPr>
              <a:t>Data pipelines: </a:t>
            </a:r>
            <a:pPr indent="0" marL="0">
              <a:buNone/>
            </a:pPr>
            <a:r>
              <a:rPr lang="en-US" sz="1150" dirty="0">
                <a:solidFill>
                  <a:schemeClr val="accent5"/>
                </a:solidFill>
              </a:rPr>
              <a:t>Azure Data Factory / Azure SQL DB</a:t>
            </a:r>
            <a:endParaRPr lang="en-US" sz="1150" dirty="0"/>
          </a:p>
          <a:p>
            <a:pPr marL="165100" indent="-165100">
              <a:spcAft>
                <a:spcPts val="300"/>
              </a:spcAft>
              <a:buClr>
                <a:srgbClr val="F7941E"/>
              </a:buClr>
              <a:buSzPct val="100000"/>
              <a:buChar char="●"/>
            </a:pPr>
            <a:r>
              <a:rPr lang="en-US" sz="1150" b="1" dirty="0">
                <a:solidFill>
                  <a:schemeClr val="tx1"/>
                </a:solidFill>
              </a:rPr>
              <a:t>Visualizations: </a:t>
            </a:r>
            <a:pPr indent="0" marL="0">
              <a:buNone/>
            </a:pPr>
            <a:r>
              <a:rPr lang="en-US" sz="1150" dirty="0">
                <a:solidFill>
                  <a:schemeClr val="accent5"/>
                </a:solidFill>
              </a:rPr>
              <a:t>Power BI</a:t>
            </a:r>
            <a:endParaRPr lang="en-US" sz="1150" dirty="0"/>
          </a:p>
        </p:txBody>
      </p:sp>
      <p:pic>
        <p:nvPicPr>
          <p:cNvPr id="22" name="Card" descr="preencoded.png">    </p:cNvPr>
          <p:cNvPicPr>
            <a:picLocks noChangeAspect="1"/>
          </p:cNvPicPr>
          <p:nvPr/>
        </p:nvPicPr>
        <p:blipFill>
          <a:blip r:embed="rId11"/>
          <a:stretch>
            <a:fillRect/>
          </a:stretch>
        </p:blipFill>
        <p:spPr>
          <a:xfrm>
            <a:off x="7808976" y="1335024"/>
            <a:ext cx="4026103" cy="2807208"/>
          </a:xfrm>
          <a:prstGeom prst="rect">
            <a:avLst/>
          </a:prstGeom>
        </p:spPr>
      </p:pic>
      <p:pic>
        <p:nvPicPr>
          <p:cNvPr id="23" name="Screenshot" descr="/tmp/claude-0/-home-user-ad-gallery/7fc27a5a-8417-58c4-b3ff-7a7825ba0161/scratchpad/assets/s31_02.png">    </p:cNvPr>
          <p:cNvPicPr>
            <a:picLocks noChangeAspect="1"/>
          </p:cNvPicPr>
          <p:nvPr/>
        </p:nvPicPr>
        <p:blipFill>
          <a:blip r:embed="rId12"/>
          <a:stretch>
            <a:fillRect/>
          </a:stretch>
        </p:blipFill>
        <p:spPr>
          <a:xfrm>
            <a:off x="8092440" y="1678175"/>
            <a:ext cx="1661008" cy="932187"/>
          </a:xfrm>
          <a:prstGeom prst="rect">
            <a:avLst/>
          </a:prstGeom>
        </p:spPr>
      </p:pic>
      <p:pic>
        <p:nvPicPr>
          <p:cNvPr id="24" name="Screenshot" descr="/tmp/claude-0/-home-user-ad-gallery/7fc27a5a-8417-58c4-b3ff-7a7825ba0161/scratchpad/assets/s31_03.png">    </p:cNvPr>
          <p:cNvPicPr>
            <a:picLocks noChangeAspect="1"/>
          </p:cNvPicPr>
          <p:nvPr/>
        </p:nvPicPr>
        <p:blipFill>
          <a:blip r:embed="rId13"/>
          <a:stretch>
            <a:fillRect/>
          </a:stretch>
        </p:blipFill>
        <p:spPr>
          <a:xfrm>
            <a:off x="9890608" y="1677904"/>
            <a:ext cx="1661008" cy="932728"/>
          </a:xfrm>
          <a:prstGeom prst="rect">
            <a:avLst/>
          </a:prstGeom>
        </p:spPr>
      </p:pic>
      <p:pic>
        <p:nvPicPr>
          <p:cNvPr id="25" name="Screenshot" descr="/tmp/claude-0/-home-user-ad-gallery/7fc27a5a-8417-58c4-b3ff-7a7825ba0161/scratchpad/assets/s31_04.png">    </p:cNvPr>
          <p:cNvPicPr>
            <a:picLocks noChangeAspect="1"/>
          </p:cNvPicPr>
          <p:nvPr/>
        </p:nvPicPr>
        <p:blipFill>
          <a:blip r:embed="rId14"/>
          <a:stretch>
            <a:fillRect/>
          </a:stretch>
        </p:blipFill>
        <p:spPr>
          <a:xfrm>
            <a:off x="8092440" y="2903511"/>
            <a:ext cx="1661008" cy="858953"/>
          </a:xfrm>
          <a:prstGeom prst="rect">
            <a:avLst/>
          </a:prstGeom>
        </p:spPr>
      </p:pic>
      <p:pic>
        <p:nvPicPr>
          <p:cNvPr id="26" name="Screenshot" descr="/tmp/claude-0/-home-user-ad-gallery/7fc27a5a-8417-58c4-b3ff-7a7825ba0161/scratchpad/assets/s31_01.png">    </p:cNvPr>
          <p:cNvPicPr>
            <a:picLocks noChangeAspect="1"/>
          </p:cNvPicPr>
          <p:nvPr/>
        </p:nvPicPr>
        <p:blipFill>
          <a:blip r:embed="rId15"/>
          <a:stretch>
            <a:fillRect/>
          </a:stretch>
        </p:blipFill>
        <p:spPr>
          <a:xfrm>
            <a:off x="9890608" y="2867096"/>
            <a:ext cx="1661008" cy="931785"/>
          </a:xfrm>
          <a:prstGeom prst="rect">
            <a:avLst/>
          </a:prstGeom>
        </p:spPr>
      </p:pic>
      <p:pic>
        <p:nvPicPr>
          <p:cNvPr id="27" name="Card" descr="preencoded.png">    </p:cNvPr>
          <p:cNvPicPr>
            <a:picLocks noChangeAspect="1"/>
          </p:cNvPicPr>
          <p:nvPr/>
        </p:nvPicPr>
        <p:blipFill>
          <a:blip r:embed="rId16"/>
          <a:stretch>
            <a:fillRect/>
          </a:stretch>
        </p:blipFill>
        <p:spPr>
          <a:xfrm>
            <a:off x="7808976" y="4032504"/>
            <a:ext cx="4026103" cy="2377440"/>
          </a:xfrm>
          <a:prstGeom prst="rect">
            <a:avLst/>
          </a:prstGeom>
        </p:spPr>
      </p:pic>
      <p:pic>
        <p:nvPicPr>
          <p:cNvPr id="28" name="Icon" descr="preencoded.png">    </p:cNvPr>
          <p:cNvPicPr>
            <a:picLocks noChangeAspect="1"/>
          </p:cNvPicPr>
          <p:nvPr/>
        </p:nvPicPr>
        <p:blipFill>
          <a:blip r:embed="rId17"/>
          <a:stretch>
            <a:fillRect/>
          </a:stretch>
        </p:blipFill>
        <p:spPr>
          <a:xfrm>
            <a:off x="8156448" y="4343400"/>
            <a:ext cx="237744" cy="237744"/>
          </a:xfrm>
          <a:prstGeom prst="rect">
            <a:avLst/>
          </a:prstGeom>
        </p:spPr>
      </p:pic>
      <p:sp>
        <p:nvSpPr>
          <p:cNvPr id="29" name="Text 10"/>
          <p:cNvSpPr txBox="1"/>
          <p:nvPr/>
        </p:nvSpPr>
        <p:spPr>
          <a:xfrm>
            <a:off x="8485632" y="429768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30" name="Text 11"/>
          <p:cNvSpPr txBox="1"/>
          <p:nvPr/>
        </p:nvSpPr>
        <p:spPr>
          <a:xfrm>
            <a:off x="8156448" y="4709160"/>
            <a:ext cx="3349447" cy="146304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50" dirty="0">
                <a:solidFill>
                  <a:schemeClr val="bg1"/>
                </a:solidFill>
              </a:rPr>
              <a:t>Data integration across terminals</a:t>
            </a:r>
            <a:endParaRPr lang="en-US" sz="1150" dirty="0"/>
          </a:p>
          <a:p>
            <a:pPr marL="165100" indent="-165100">
              <a:spcAft>
                <a:spcPts val="300"/>
              </a:spcAft>
              <a:buClr>
                <a:srgbClr val="F7941E"/>
              </a:buClr>
              <a:buSzPct val="100000"/>
              <a:buChar char="●"/>
            </a:pPr>
            <a:r>
              <a:rPr lang="en-US" sz="1150" dirty="0">
                <a:solidFill>
                  <a:schemeClr val="bg1"/>
                </a:solidFill>
              </a:rPr>
              <a:t>Robust data conduits</a:t>
            </a:r>
            <a:endParaRPr lang="en-US" sz="1150" dirty="0"/>
          </a:p>
          <a:p>
            <a:pPr marL="165100" indent="-165100">
              <a:spcAft>
                <a:spcPts val="300"/>
              </a:spcAft>
              <a:buClr>
                <a:srgbClr val="F7941E"/>
              </a:buClr>
              <a:buSzPct val="100000"/>
              <a:buChar char="●"/>
            </a:pPr>
            <a:r>
              <a:rPr lang="en-US" sz="1150" dirty="0">
                <a:solidFill>
                  <a:schemeClr val="bg1"/>
                </a:solidFill>
              </a:rPr>
              <a:t>Scalability and performance</a:t>
            </a:r>
            <a:endParaRPr lang="en-US" sz="1150" dirty="0"/>
          </a:p>
          <a:p>
            <a:pPr marL="165100" indent="-165100">
              <a:spcAft>
                <a:spcPts val="300"/>
              </a:spcAft>
              <a:buClr>
                <a:srgbClr val="F7941E"/>
              </a:buClr>
              <a:buSzPct val="100000"/>
              <a:buChar char="●"/>
            </a:pPr>
            <a:r>
              <a:rPr lang="en-US" sz="1150" dirty="0">
                <a:solidFill>
                  <a:schemeClr val="bg1"/>
                </a:solidFill>
              </a:rPr>
              <a:t>Timely accessibility of reports</a:t>
            </a:r>
            <a:endParaRPr lang="en-US" sz="1150" dirty="0"/>
          </a:p>
          <a:p>
            <a:pPr marL="165100" indent="-165100">
              <a:spcAft>
                <a:spcPts val="300"/>
              </a:spcAft>
              <a:buClr>
                <a:srgbClr val="F7941E"/>
              </a:buClr>
              <a:buSzPct val="100000"/>
              <a:buChar char="●"/>
            </a:pPr>
            <a:r>
              <a:rPr lang="en-US" sz="1150" dirty="0">
                <a:solidFill>
                  <a:schemeClr val="bg1"/>
                </a:solidFill>
              </a:rPr>
              <a:t>Efficient reporting</a:t>
            </a:r>
            <a:endParaRPr lang="en-US" sz="1150" dirty="0"/>
          </a:p>
          <a:p>
            <a:pPr marL="165100" indent="-165100">
              <a:spcAft>
                <a:spcPts val="300"/>
              </a:spcAft>
              <a:buClr>
                <a:srgbClr val="F7941E"/>
              </a:buClr>
              <a:buSzPct val="100000"/>
              <a:buChar char="●"/>
            </a:pPr>
            <a:r>
              <a:rPr lang="en-US" sz="1150" dirty="0">
                <a:solidFill>
                  <a:schemeClr val="bg1"/>
                </a:solidFill>
              </a:rPr>
              <a:t>Enhanced collaboration</a:t>
            </a:r>
            <a:endParaRPr lang="en-US" sz="115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Market Basket Analysis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WELLNESS FOREVER</a:t>
            </a:r>
            <a:endParaRPr lang="en-US" sz="1100" dirty="0"/>
          </a:p>
        </p:txBody>
      </p:sp>
      <p:pic>
        <p:nvPicPr>
          <p:cNvPr id="4"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5" name="Logo" descr="/tmp/claude-0/-home-user-ad-gallery/7fc27a5a-8417-58c4-b3ff-7a7825ba0161/scratchpad/assets/s32_02.png">    </p:cNvPr>
          <p:cNvPicPr>
            <a:picLocks noChangeAspect="1"/>
          </p:cNvPicPr>
          <p:nvPr/>
        </p:nvPicPr>
        <p:blipFill>
          <a:blip r:embed="rId2"/>
          <a:stretch>
            <a:fillRect/>
          </a:stretch>
        </p:blipFill>
        <p:spPr>
          <a:xfrm>
            <a:off x="8510362" y="393192"/>
            <a:ext cx="1312995" cy="594360"/>
          </a:xfrm>
          <a:prstGeom prst="rect">
            <a:avLst/>
          </a:prstGeom>
        </p:spPr>
      </p:pic>
      <p:pic>
        <p:nvPicPr>
          <p:cNvPr id="6" name="Card" descr="preencoded.png">    </p:cNvPr>
          <p:cNvPicPr>
            <a:picLocks noChangeAspect="1"/>
          </p:cNvPicPr>
          <p:nvPr/>
        </p:nvPicPr>
        <p:blipFill>
          <a:blip r:embed="rId3"/>
          <a:stretch>
            <a:fillRect/>
          </a:stretch>
        </p:blipFill>
        <p:spPr>
          <a:xfrm>
            <a:off x="356616" y="1335024"/>
            <a:ext cx="3721608" cy="2121408"/>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1207008"/>
          </a:xfrm>
          <a:prstGeom prst="rect">
            <a:avLst/>
          </a:prstGeom>
          <a:noFill/>
          <a:ln/>
        </p:spPr>
        <p:txBody>
          <a:bodyPr wrap="square" lIns="0" tIns="0" rIns="0" bIns="0" rtlCol="0" anchor="t"/>
          <a:lstStyle/>
          <a:p>
            <a:pPr indent="0" marL="0">
              <a:buNone/>
            </a:pPr>
            <a:r>
              <a:rPr lang="en-US" sz="1200" dirty="0">
                <a:solidFill>
                  <a:schemeClr val="accent5"/>
                </a:solidFill>
              </a:rPr>
              <a:t>Wellness Forever is India's third-largest retail pharmacy and wellness products chain in terms of revenue, operating a large omnichannel and hyperlocal retail network of 24x7 stores.</a:t>
            </a:r>
            <a:endParaRPr lang="en-US" sz="1200" dirty="0"/>
          </a:p>
        </p:txBody>
      </p:sp>
      <p:pic>
        <p:nvPicPr>
          <p:cNvPr id="10" name="Card" descr="preencoded.png">    </p:cNvPr>
          <p:cNvPicPr>
            <a:picLocks noChangeAspect="1"/>
          </p:cNvPicPr>
          <p:nvPr/>
        </p:nvPicPr>
        <p:blipFill>
          <a:blip r:embed="rId5"/>
          <a:stretch>
            <a:fillRect/>
          </a:stretch>
        </p:blipFill>
        <p:spPr>
          <a:xfrm>
            <a:off x="356616" y="3346704"/>
            <a:ext cx="3721608" cy="3063240"/>
          </a:xfrm>
          <a:prstGeom prst="rect">
            <a:avLst/>
          </a:prstGeom>
        </p:spPr>
      </p:pic>
      <p:pic>
        <p:nvPicPr>
          <p:cNvPr id="11" name="Icon" descr="preencoded.png">    </p:cNvPr>
          <p:cNvPicPr>
            <a:picLocks noChangeAspect="1"/>
          </p:cNvPicPr>
          <p:nvPr/>
        </p:nvPicPr>
        <p:blipFill>
          <a:blip r:embed="rId6"/>
          <a:stretch>
            <a:fillRect/>
          </a:stretch>
        </p:blipFill>
        <p:spPr>
          <a:xfrm>
            <a:off x="704088" y="3657600"/>
            <a:ext cx="237744" cy="237744"/>
          </a:xfrm>
          <a:prstGeom prst="rect">
            <a:avLst/>
          </a:prstGeom>
        </p:spPr>
      </p:pic>
      <p:sp>
        <p:nvSpPr>
          <p:cNvPr id="12" name="Text 4"/>
          <p:cNvSpPr txBox="1"/>
          <p:nvPr/>
        </p:nvSpPr>
        <p:spPr>
          <a:xfrm>
            <a:off x="1033272" y="361188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4023360"/>
            <a:ext cx="3044952" cy="2148840"/>
          </a:xfrm>
          <a:prstGeom prst="rect">
            <a:avLst/>
          </a:prstGeom>
          <a:noFill/>
          <a:ln/>
        </p:spPr>
        <p:txBody>
          <a:bodyPr wrap="square" lIns="0" tIns="0" rIns="0" bIns="0" rtlCol="0" anchor="t"/>
          <a:lstStyle/>
          <a:p>
            <a:pPr indent="0" marL="0">
              <a:buNone/>
            </a:pPr>
            <a:r>
              <a:rPr lang="en-US" sz="1200" dirty="0">
                <a:solidFill>
                  <a:schemeClr val="accent5"/>
                </a:solidFill>
              </a:rPr>
              <a:t>To analyze and understand which products go well together so that bundle offers can be rolled out, market share can be increased and promotions can be initiated.</a:t>
            </a:r>
            <a:endParaRPr lang="en-US" sz="1200" dirty="0"/>
          </a:p>
        </p:txBody>
      </p:sp>
      <p:pic>
        <p:nvPicPr>
          <p:cNvPr id="14" name="Card" descr="preencoded.png">    </p:cNvPr>
          <p:cNvPicPr>
            <a:picLocks noChangeAspect="1"/>
          </p:cNvPicPr>
          <p:nvPr/>
        </p:nvPicPr>
        <p:blipFill>
          <a:blip r:embed="rId7"/>
          <a:stretch>
            <a:fillRect/>
          </a:stretch>
        </p:blipFill>
        <p:spPr>
          <a:xfrm>
            <a:off x="3968496" y="1335024"/>
            <a:ext cx="3950208" cy="3172968"/>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2585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The Apriori algorithm is used for finding frequent item sets in a dataset using Boolean association rules</a:t>
            </a:r>
            <a:endParaRPr lang="en-US" sz="1200" dirty="0"/>
          </a:p>
          <a:p>
            <a:pPr marL="165100" indent="-165100">
              <a:spcAft>
                <a:spcPts val="300"/>
              </a:spcAft>
              <a:buClr>
                <a:srgbClr val="F7941E"/>
              </a:buClr>
              <a:buSzPct val="100000"/>
              <a:buChar char="●"/>
            </a:pPr>
            <a:r>
              <a:rPr lang="en-US" sz="1200" dirty="0">
                <a:solidFill>
                  <a:schemeClr val="accent5"/>
                </a:solidFill>
              </a:rPr>
              <a:t>Apriori was built using Python to get the output for Market Basket Analysis</a:t>
            </a:r>
            <a:endParaRPr lang="en-US" sz="1200" dirty="0"/>
          </a:p>
          <a:p>
            <a:pPr marL="165100" indent="-165100">
              <a:spcAft>
                <a:spcPts val="300"/>
              </a:spcAft>
              <a:buClr>
                <a:srgbClr val="F7941E"/>
              </a:buClr>
              <a:buSzPct val="100000"/>
              <a:buChar char="●"/>
            </a:pPr>
            <a:r>
              <a:rPr lang="en-US" sz="1200" dirty="0">
                <a:solidFill>
                  <a:schemeClr val="accent5"/>
                </a:solidFill>
              </a:rPr>
              <a:t>The output file is stored in an Azure storage account from which Power BI fetches the data</a:t>
            </a:r>
            <a:endParaRPr lang="en-US" sz="1200" dirty="0"/>
          </a:p>
        </p:txBody>
      </p:sp>
      <p:pic>
        <p:nvPicPr>
          <p:cNvPr id="18" name="Card" descr="preencoded.png">    </p:cNvPr>
          <p:cNvPicPr>
            <a:picLocks noChangeAspect="1"/>
          </p:cNvPicPr>
          <p:nvPr/>
        </p:nvPicPr>
        <p:blipFill>
          <a:blip r:embed="rId9"/>
          <a:stretch>
            <a:fillRect/>
          </a:stretch>
        </p:blipFill>
        <p:spPr>
          <a:xfrm>
            <a:off x="3968496" y="4398264"/>
            <a:ext cx="3950208" cy="2011680"/>
          </a:xfrm>
          <a:prstGeom prst="rect">
            <a:avLst/>
          </a:prstGeom>
        </p:spPr>
      </p:pic>
      <p:pic>
        <p:nvPicPr>
          <p:cNvPr id="19" name="Icon" descr="preencoded.png">    </p:cNvPr>
          <p:cNvPicPr>
            <a:picLocks noChangeAspect="1"/>
          </p:cNvPicPr>
          <p:nvPr/>
        </p:nvPicPr>
        <p:blipFill>
          <a:blip r:embed="rId10"/>
          <a:stretch>
            <a:fillRect/>
          </a:stretch>
        </p:blipFill>
        <p:spPr>
          <a:xfrm>
            <a:off x="4315968" y="4709160"/>
            <a:ext cx="237744" cy="237744"/>
          </a:xfrm>
          <a:prstGeom prst="rect">
            <a:avLst/>
          </a:prstGeom>
        </p:spPr>
      </p:pic>
      <p:sp>
        <p:nvSpPr>
          <p:cNvPr id="20" name="Text 8"/>
          <p:cNvSpPr txBox="1"/>
          <p:nvPr/>
        </p:nvSpPr>
        <p:spPr>
          <a:xfrm>
            <a:off x="4645152" y="466344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5074920"/>
            <a:ext cx="3273552" cy="109728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Python</a:t>
            </a:r>
            <a:endParaRPr lang="en-US" sz="1200" dirty="0"/>
          </a:p>
          <a:p>
            <a:pPr marL="165100" indent="-165100">
              <a:spcAft>
                <a:spcPts val="300"/>
              </a:spcAft>
              <a:buClr>
                <a:srgbClr val="F7941E"/>
              </a:buClr>
              <a:buSzPct val="100000"/>
              <a:buChar char="●"/>
            </a:pPr>
            <a:r>
              <a:rPr lang="en-US" sz="1200" dirty="0">
                <a:solidFill>
                  <a:schemeClr val="accent5"/>
                </a:solidFill>
              </a:rPr>
              <a:t>Azure Databricks</a:t>
            </a:r>
            <a:endParaRPr lang="en-US" sz="1200" dirty="0"/>
          </a:p>
          <a:p>
            <a:pPr marL="165100" indent="-165100">
              <a:spcAft>
                <a:spcPts val="300"/>
              </a:spcAft>
              <a:buClr>
                <a:srgbClr val="F7941E"/>
              </a:buClr>
              <a:buSzPct val="100000"/>
              <a:buChar char="●"/>
            </a:pPr>
            <a:r>
              <a:rPr lang="en-US" sz="1200" dirty="0">
                <a:solidFill>
                  <a:schemeClr val="accent5"/>
                </a:solidFill>
              </a:rPr>
              <a:t>Azure Blob Storage</a:t>
            </a:r>
            <a:endParaRPr lang="en-US" sz="1200" dirty="0"/>
          </a:p>
          <a:p>
            <a:pPr marL="165100" indent="-165100">
              <a:spcAft>
                <a:spcPts val="300"/>
              </a:spcAft>
              <a:buClr>
                <a:srgbClr val="F7941E"/>
              </a:buClr>
              <a:buSzPct val="100000"/>
              <a:buChar char="●"/>
            </a:pPr>
            <a:r>
              <a:rPr lang="en-US" sz="1200" dirty="0">
                <a:solidFill>
                  <a:schemeClr val="accent5"/>
                </a:solidFill>
              </a:rPr>
              <a:t>PySpark</a:t>
            </a:r>
            <a:endParaRPr lang="en-US" sz="1200" dirty="0"/>
          </a:p>
          <a:p>
            <a:pPr marL="165100" indent="-165100">
              <a:spcAft>
                <a:spcPts val="300"/>
              </a:spcAft>
              <a:buClr>
                <a:srgbClr val="F7941E"/>
              </a:buClr>
              <a:buSzPct val="100000"/>
              <a:buChar char="●"/>
            </a:pPr>
            <a:r>
              <a:rPr lang="en-US" sz="1200" dirty="0">
                <a:solidFill>
                  <a:schemeClr val="accent5"/>
                </a:solidFill>
              </a:rPr>
              <a:t>Power BI</a:t>
            </a:r>
            <a:endParaRPr lang="en-US" sz="1200" dirty="0"/>
          </a:p>
        </p:txBody>
      </p:sp>
      <p:pic>
        <p:nvPicPr>
          <p:cNvPr id="22" name="Card" descr="preencoded.png">    </p:cNvPr>
          <p:cNvPicPr>
            <a:picLocks noChangeAspect="1"/>
          </p:cNvPicPr>
          <p:nvPr/>
        </p:nvPicPr>
        <p:blipFill>
          <a:blip r:embed="rId11"/>
          <a:stretch>
            <a:fillRect/>
          </a:stretch>
        </p:blipFill>
        <p:spPr>
          <a:xfrm>
            <a:off x="7808976" y="1335024"/>
            <a:ext cx="4026103" cy="2807208"/>
          </a:xfrm>
          <a:prstGeom prst="rect">
            <a:avLst/>
          </a:prstGeom>
        </p:spPr>
      </p:pic>
      <p:pic>
        <p:nvPicPr>
          <p:cNvPr id="23" name="Screenshot" descr="/tmp/claude-0/-home-user-ad-gallery/7fc27a5a-8417-58c4-b3ff-7a7825ba0161/scratchpad/assets/s32_01.png">    </p:cNvPr>
          <p:cNvPicPr>
            <a:picLocks noChangeAspect="1"/>
          </p:cNvPicPr>
          <p:nvPr/>
        </p:nvPicPr>
        <p:blipFill>
          <a:blip r:embed="rId12"/>
          <a:stretch>
            <a:fillRect/>
          </a:stretch>
        </p:blipFill>
        <p:spPr>
          <a:xfrm>
            <a:off x="8092440" y="1796362"/>
            <a:ext cx="3459175" cy="1884532"/>
          </a:xfrm>
          <a:prstGeom prst="rect">
            <a:avLst/>
          </a:prstGeom>
        </p:spPr>
      </p:pic>
      <p:pic>
        <p:nvPicPr>
          <p:cNvPr id="24" name="Card" descr="preencoded.png">    </p:cNvPr>
          <p:cNvPicPr>
            <a:picLocks noChangeAspect="1"/>
          </p:cNvPicPr>
          <p:nvPr/>
        </p:nvPicPr>
        <p:blipFill>
          <a:blip r:embed="rId13"/>
          <a:stretch>
            <a:fillRect/>
          </a:stretch>
        </p:blipFill>
        <p:spPr>
          <a:xfrm>
            <a:off x="7808976" y="4032504"/>
            <a:ext cx="4026103" cy="2377440"/>
          </a:xfrm>
          <a:prstGeom prst="rect">
            <a:avLst/>
          </a:prstGeom>
        </p:spPr>
      </p:pic>
      <p:pic>
        <p:nvPicPr>
          <p:cNvPr id="25" name="Icon" descr="preencoded.png">    </p:cNvPr>
          <p:cNvPicPr>
            <a:picLocks noChangeAspect="1"/>
          </p:cNvPicPr>
          <p:nvPr/>
        </p:nvPicPr>
        <p:blipFill>
          <a:blip r:embed="rId14"/>
          <a:stretch>
            <a:fillRect/>
          </a:stretch>
        </p:blipFill>
        <p:spPr>
          <a:xfrm>
            <a:off x="8156448" y="4343400"/>
            <a:ext cx="237744" cy="237744"/>
          </a:xfrm>
          <a:prstGeom prst="rect">
            <a:avLst/>
          </a:prstGeom>
        </p:spPr>
      </p:pic>
      <p:sp>
        <p:nvSpPr>
          <p:cNvPr id="26" name="Text 10"/>
          <p:cNvSpPr txBox="1"/>
          <p:nvPr/>
        </p:nvSpPr>
        <p:spPr>
          <a:xfrm>
            <a:off x="8485632" y="429768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27" name="Text 11"/>
          <p:cNvSpPr txBox="1"/>
          <p:nvPr/>
        </p:nvSpPr>
        <p:spPr>
          <a:xfrm>
            <a:off x="8156448" y="4709160"/>
            <a:ext cx="3349447" cy="146304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1"/>
                </a:solidFill>
              </a:rPr>
              <a:t>The client successfully identified the best-selling product combinations and designed bundle offers and promotions accordingly</a:t>
            </a:r>
            <a:endParaRPr lang="en-US" sz="1200" dirty="0"/>
          </a:p>
          <a:p>
            <a:pPr marL="165100" indent="-165100">
              <a:spcAft>
                <a:spcPts val="300"/>
              </a:spcAft>
              <a:buClr>
                <a:srgbClr val="F7941E"/>
              </a:buClr>
              <a:buSzPct val="100000"/>
              <a:buChar char="●"/>
            </a:pPr>
            <a:r>
              <a:rPr lang="en-US" sz="1200" dirty="0">
                <a:solidFill>
                  <a:schemeClr val="bg1"/>
                </a:solidFill>
              </a:rPr>
              <a:t>With these, sales are expected to increase</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Olympics Broadcast &amp; Audience Analysis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KINETIQ: PROGRAMS, CHANNELS &amp; AUDIENCE</a:t>
            </a:r>
            <a:endParaRPr lang="en-US" sz="1100" dirty="0"/>
          </a:p>
        </p:txBody>
      </p:sp>
      <p:pic>
        <p:nvPicPr>
          <p:cNvPr id="4"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5" name="Logo" descr="/tmp/claude-0/-home-user-ad-gallery/7fc27a5a-8417-58c4-b3ff-7a7825ba0161/scratchpad/assets/s33_02.png">    </p:cNvPr>
          <p:cNvPicPr>
            <a:picLocks noChangeAspect="1"/>
          </p:cNvPicPr>
          <p:nvPr/>
        </p:nvPicPr>
        <p:blipFill>
          <a:blip r:embed="rId2"/>
          <a:stretch>
            <a:fillRect/>
          </a:stretch>
        </p:blipFill>
        <p:spPr>
          <a:xfrm>
            <a:off x="8366760" y="412786"/>
            <a:ext cx="1600200" cy="555171"/>
          </a:xfrm>
          <a:prstGeom prst="rect">
            <a:avLst/>
          </a:prstGeom>
        </p:spPr>
      </p:pic>
      <p:pic>
        <p:nvPicPr>
          <p:cNvPr id="6" name="Card" descr="preencoded.png">    </p:cNvPr>
          <p:cNvPicPr>
            <a:picLocks noChangeAspect="1"/>
          </p:cNvPicPr>
          <p:nvPr/>
        </p:nvPicPr>
        <p:blipFill>
          <a:blip r:embed="rId3"/>
          <a:stretch>
            <a:fillRect/>
          </a:stretch>
        </p:blipFill>
        <p:spPr>
          <a:xfrm>
            <a:off x="356616" y="1335024"/>
            <a:ext cx="3721608" cy="1984248"/>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1069848"/>
          </a:xfrm>
          <a:prstGeom prst="rect">
            <a:avLst/>
          </a:prstGeom>
          <a:noFill/>
          <a:ln/>
        </p:spPr>
        <p:txBody>
          <a:bodyPr wrap="square" lIns="0" tIns="0" rIns="0" bIns="0" rtlCol="0" anchor="t"/>
          <a:lstStyle/>
          <a:p>
            <a:pPr indent="0" marL="0">
              <a:buNone/>
            </a:pPr>
            <a:r>
              <a:rPr lang="en-US" sz="1100" dirty="0">
                <a:solidFill>
                  <a:schemeClr val="accent5"/>
                </a:solidFill>
              </a:rPr>
              <a:t>IQ Media Corp (IQM) offers media intelligence services including ad detection, audience analysis, sentiment analysis, and more.</a:t>
            </a:r>
            <a:endParaRPr lang="en-US" sz="1100" dirty="0"/>
          </a:p>
        </p:txBody>
      </p:sp>
      <p:pic>
        <p:nvPicPr>
          <p:cNvPr id="10" name="Card" descr="preencoded.png">    </p:cNvPr>
          <p:cNvPicPr>
            <a:picLocks noChangeAspect="1"/>
          </p:cNvPicPr>
          <p:nvPr/>
        </p:nvPicPr>
        <p:blipFill>
          <a:blip r:embed="rId5"/>
          <a:stretch>
            <a:fillRect/>
          </a:stretch>
        </p:blipFill>
        <p:spPr>
          <a:xfrm>
            <a:off x="356616" y="3209544"/>
            <a:ext cx="3721608" cy="3200400"/>
          </a:xfrm>
          <a:prstGeom prst="rect">
            <a:avLst/>
          </a:prstGeom>
        </p:spPr>
      </p:pic>
      <p:pic>
        <p:nvPicPr>
          <p:cNvPr id="11" name="Icon" descr="preencoded.png">    </p:cNvPr>
          <p:cNvPicPr>
            <a:picLocks noChangeAspect="1"/>
          </p:cNvPicPr>
          <p:nvPr/>
        </p:nvPicPr>
        <p:blipFill>
          <a:blip r:embed="rId6"/>
          <a:stretch>
            <a:fillRect/>
          </a:stretch>
        </p:blipFill>
        <p:spPr>
          <a:xfrm>
            <a:off x="704088" y="3520440"/>
            <a:ext cx="237744" cy="237744"/>
          </a:xfrm>
          <a:prstGeom prst="rect">
            <a:avLst/>
          </a:prstGeom>
        </p:spPr>
      </p:pic>
      <p:sp>
        <p:nvSpPr>
          <p:cNvPr id="12" name="Text 4"/>
          <p:cNvSpPr txBox="1"/>
          <p:nvPr/>
        </p:nvSpPr>
        <p:spPr>
          <a:xfrm>
            <a:off x="1033272" y="347472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3886200"/>
            <a:ext cx="3044952" cy="2286000"/>
          </a:xfrm>
          <a:prstGeom prst="rect">
            <a:avLst/>
          </a:prstGeom>
          <a:noFill/>
          <a:ln/>
        </p:spPr>
        <p:txBody>
          <a:bodyPr wrap="square" lIns="0" tIns="0" rIns="0" bIns="0" rtlCol="0" anchor="t"/>
          <a:lstStyle/>
          <a:p>
            <a:pPr indent="0" marL="0">
              <a:buNone/>
            </a:pPr>
            <a:r>
              <a:rPr lang="en-US" sz="1100" dirty="0">
                <a:solidFill>
                  <a:schemeClr val="accent5"/>
                </a:solidFill>
              </a:rPr>
              <a:t>To analyze and understand which products go well together so that bundle offers can be rolled out, market share can be increased and promotions can be initiated.</a:t>
            </a:r>
            <a:endParaRPr lang="en-US" sz="1100" dirty="0"/>
          </a:p>
        </p:txBody>
      </p:sp>
      <p:pic>
        <p:nvPicPr>
          <p:cNvPr id="14" name="Card" descr="preencoded.png">    </p:cNvPr>
          <p:cNvPicPr>
            <a:picLocks noChangeAspect="1"/>
          </p:cNvPicPr>
          <p:nvPr/>
        </p:nvPicPr>
        <p:blipFill>
          <a:blip r:embed="rId7"/>
          <a:stretch>
            <a:fillRect/>
          </a:stretch>
        </p:blipFill>
        <p:spPr>
          <a:xfrm>
            <a:off x="3968496" y="1335024"/>
            <a:ext cx="3950208" cy="3081528"/>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1671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accent5"/>
                </a:solidFill>
              </a:rPr>
              <a:t>Developed a mapping table to standardize country and channel names in audience files automatically</a:t>
            </a:r>
            <a:endParaRPr lang="en-US" sz="1100" dirty="0"/>
          </a:p>
          <a:p>
            <a:pPr marL="165100" indent="-165100">
              <a:spcAft>
                <a:spcPts val="300"/>
              </a:spcAft>
              <a:buClr>
                <a:srgbClr val="F7941E"/>
              </a:buClr>
              <a:buSzPct val="100000"/>
              <a:buChar char="●"/>
            </a:pPr>
            <a:r>
              <a:rPr lang="en-US" sz="1100" dirty="0">
                <a:solidFill>
                  <a:schemeClr val="accent5"/>
                </a:solidFill>
              </a:rPr>
              <a:t>Implemented intelligent data formatting in pipelines</a:t>
            </a:r>
            <a:endParaRPr lang="en-US" sz="1100" dirty="0"/>
          </a:p>
          <a:p>
            <a:pPr marL="165100" indent="-165100">
              <a:spcAft>
                <a:spcPts val="300"/>
              </a:spcAft>
              <a:buClr>
                <a:srgbClr val="F7941E"/>
              </a:buClr>
              <a:buSzPct val="100000"/>
              <a:buChar char="●"/>
            </a:pPr>
            <a:r>
              <a:rPr lang="en-US" sz="1100" dirty="0">
                <a:solidFill>
                  <a:schemeClr val="accent5"/>
                </a:solidFill>
              </a:rPr>
              <a:t>Configured ADF pipelines to automatically handle re-sending of audience files by channels</a:t>
            </a:r>
            <a:endParaRPr lang="en-US" sz="1100" dirty="0"/>
          </a:p>
          <a:p>
            <a:pPr marL="165100" indent="-165100">
              <a:spcAft>
                <a:spcPts val="300"/>
              </a:spcAft>
              <a:buClr>
                <a:srgbClr val="F7941E"/>
              </a:buClr>
              <a:buSzPct val="100000"/>
              <a:buChar char="●"/>
            </a:pPr>
            <a:r>
              <a:rPr lang="en-US" sz="1100" dirty="0">
                <a:solidFill>
                  <a:schemeClr val="accent5"/>
                </a:solidFill>
              </a:rPr>
              <a:t>Created pre-aggregated tables to generate reports in specific formats and granularities</a:t>
            </a:r>
            <a:endParaRPr lang="en-US" sz="1100" dirty="0"/>
          </a:p>
        </p:txBody>
      </p:sp>
      <p:pic>
        <p:nvPicPr>
          <p:cNvPr id="18" name="Card" descr="preencoded.png">    </p:cNvPr>
          <p:cNvPicPr>
            <a:picLocks noChangeAspect="1"/>
          </p:cNvPicPr>
          <p:nvPr/>
        </p:nvPicPr>
        <p:blipFill>
          <a:blip r:embed="rId9"/>
          <a:stretch>
            <a:fillRect/>
          </a:stretch>
        </p:blipFill>
        <p:spPr>
          <a:xfrm>
            <a:off x="3968496" y="4306824"/>
            <a:ext cx="3950208" cy="2103120"/>
          </a:xfrm>
          <a:prstGeom prst="rect">
            <a:avLst/>
          </a:prstGeom>
        </p:spPr>
      </p:pic>
      <p:pic>
        <p:nvPicPr>
          <p:cNvPr id="19" name="Icon" descr="preencoded.png">    </p:cNvPr>
          <p:cNvPicPr>
            <a:picLocks noChangeAspect="1"/>
          </p:cNvPicPr>
          <p:nvPr/>
        </p:nvPicPr>
        <p:blipFill>
          <a:blip r:embed="rId10"/>
          <a:stretch>
            <a:fillRect/>
          </a:stretch>
        </p:blipFill>
        <p:spPr>
          <a:xfrm>
            <a:off x="4315968" y="4617720"/>
            <a:ext cx="237744" cy="237744"/>
          </a:xfrm>
          <a:prstGeom prst="rect">
            <a:avLst/>
          </a:prstGeom>
        </p:spPr>
      </p:pic>
      <p:sp>
        <p:nvSpPr>
          <p:cNvPr id="20" name="Text 8"/>
          <p:cNvSpPr txBox="1"/>
          <p:nvPr/>
        </p:nvSpPr>
        <p:spPr>
          <a:xfrm>
            <a:off x="4645152" y="45720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4983480"/>
            <a:ext cx="3273552" cy="11887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accent5"/>
                </a:solidFill>
              </a:rPr>
              <a:t>Azure Data Factory</a:t>
            </a:r>
            <a:endParaRPr lang="en-US" sz="1100" dirty="0"/>
          </a:p>
          <a:p>
            <a:pPr marL="165100" indent="-165100">
              <a:spcAft>
                <a:spcPts val="300"/>
              </a:spcAft>
              <a:buClr>
                <a:srgbClr val="F7941E"/>
              </a:buClr>
              <a:buSzPct val="100000"/>
              <a:buChar char="●"/>
            </a:pPr>
            <a:r>
              <a:rPr lang="en-US" sz="1100" dirty="0">
                <a:solidFill>
                  <a:schemeClr val="accent5"/>
                </a:solidFill>
              </a:rPr>
              <a:t>Microsoft SQL</a:t>
            </a:r>
            <a:endParaRPr lang="en-US" sz="1100" dirty="0"/>
          </a:p>
          <a:p>
            <a:pPr marL="165100" indent="-165100">
              <a:spcAft>
                <a:spcPts val="300"/>
              </a:spcAft>
              <a:buClr>
                <a:srgbClr val="F7941E"/>
              </a:buClr>
              <a:buSzPct val="100000"/>
              <a:buChar char="●"/>
            </a:pPr>
            <a:r>
              <a:rPr lang="en-US" sz="1100" dirty="0">
                <a:solidFill>
                  <a:schemeClr val="accent5"/>
                </a:solidFill>
              </a:rPr>
              <a:t>Power BI</a:t>
            </a:r>
            <a:endParaRPr lang="en-US" sz="1100" dirty="0"/>
          </a:p>
          <a:p>
            <a:pPr marL="165100" indent="-165100">
              <a:spcAft>
                <a:spcPts val="300"/>
              </a:spcAft>
              <a:buClr>
                <a:srgbClr val="F7941E"/>
              </a:buClr>
              <a:buSzPct val="100000"/>
              <a:buChar char="●"/>
            </a:pPr>
            <a:r>
              <a:rPr lang="en-US" sz="1100" dirty="0">
                <a:solidFill>
                  <a:schemeClr val="accent5"/>
                </a:solidFill>
              </a:rPr>
              <a:t>Power BI Report Server</a:t>
            </a:r>
            <a:endParaRPr lang="en-US" sz="1100" dirty="0"/>
          </a:p>
          <a:p>
            <a:pPr marL="165100" indent="-165100">
              <a:spcAft>
                <a:spcPts val="300"/>
              </a:spcAft>
              <a:buClr>
                <a:srgbClr val="F7941E"/>
              </a:buClr>
              <a:buSzPct val="100000"/>
              <a:buChar char="●"/>
            </a:pPr>
            <a:r>
              <a:rPr lang="en-US" sz="1100" dirty="0">
                <a:solidFill>
                  <a:schemeClr val="accent5"/>
                </a:solidFill>
              </a:rPr>
              <a:t>Azure Logic Apps</a:t>
            </a:r>
            <a:endParaRPr lang="en-US" sz="1100" dirty="0"/>
          </a:p>
          <a:p>
            <a:pPr marL="165100" indent="-165100">
              <a:spcAft>
                <a:spcPts val="300"/>
              </a:spcAft>
              <a:buClr>
                <a:srgbClr val="F7941E"/>
              </a:buClr>
              <a:buSzPct val="100000"/>
              <a:buChar char="●"/>
            </a:pPr>
            <a:r>
              <a:rPr lang="en-US" sz="1100" dirty="0">
                <a:solidFill>
                  <a:schemeClr val="accent5"/>
                </a:solidFill>
              </a:rPr>
              <a:t>Power BI API</a:t>
            </a:r>
            <a:endParaRPr lang="en-US" sz="1100" dirty="0"/>
          </a:p>
        </p:txBody>
      </p:sp>
      <p:pic>
        <p:nvPicPr>
          <p:cNvPr id="22" name="Card" descr="preencoded.png">    </p:cNvPr>
          <p:cNvPicPr>
            <a:picLocks noChangeAspect="1"/>
          </p:cNvPicPr>
          <p:nvPr/>
        </p:nvPicPr>
        <p:blipFill>
          <a:blip r:embed="rId11"/>
          <a:stretch>
            <a:fillRect/>
          </a:stretch>
        </p:blipFill>
        <p:spPr>
          <a:xfrm>
            <a:off x="7808976" y="1335024"/>
            <a:ext cx="4026103" cy="2395728"/>
          </a:xfrm>
          <a:prstGeom prst="rect">
            <a:avLst/>
          </a:prstGeom>
        </p:spPr>
      </p:pic>
      <p:pic>
        <p:nvPicPr>
          <p:cNvPr id="23" name="Screenshot" descr="/tmp/claude-0/-home-user-ad-gallery/7fc27a5a-8417-58c4-b3ff-7a7825ba0161/scratchpad/assets/s33_01.png">    </p:cNvPr>
          <p:cNvPicPr>
            <a:picLocks noChangeAspect="1"/>
          </p:cNvPicPr>
          <p:nvPr/>
        </p:nvPicPr>
        <p:blipFill>
          <a:blip r:embed="rId12"/>
          <a:stretch>
            <a:fillRect/>
          </a:stretch>
        </p:blipFill>
        <p:spPr>
          <a:xfrm>
            <a:off x="8092440" y="1885704"/>
            <a:ext cx="3459175" cy="1294369"/>
          </a:xfrm>
          <a:prstGeom prst="rect">
            <a:avLst/>
          </a:prstGeom>
        </p:spPr>
      </p:pic>
      <p:pic>
        <p:nvPicPr>
          <p:cNvPr id="24" name="Card" descr="preencoded.png">    </p:cNvPr>
          <p:cNvPicPr>
            <a:picLocks noChangeAspect="1"/>
          </p:cNvPicPr>
          <p:nvPr/>
        </p:nvPicPr>
        <p:blipFill>
          <a:blip r:embed="rId13"/>
          <a:stretch>
            <a:fillRect/>
          </a:stretch>
        </p:blipFill>
        <p:spPr>
          <a:xfrm>
            <a:off x="7808976" y="3621024"/>
            <a:ext cx="4026103" cy="2788920"/>
          </a:xfrm>
          <a:prstGeom prst="rect">
            <a:avLst/>
          </a:prstGeom>
        </p:spPr>
      </p:pic>
      <p:pic>
        <p:nvPicPr>
          <p:cNvPr id="25" name="Icon" descr="preencoded.png">    </p:cNvPr>
          <p:cNvPicPr>
            <a:picLocks noChangeAspect="1"/>
          </p:cNvPicPr>
          <p:nvPr/>
        </p:nvPicPr>
        <p:blipFill>
          <a:blip r:embed="rId14"/>
          <a:stretch>
            <a:fillRect/>
          </a:stretch>
        </p:blipFill>
        <p:spPr>
          <a:xfrm>
            <a:off x="8156448" y="3931920"/>
            <a:ext cx="237744" cy="237744"/>
          </a:xfrm>
          <a:prstGeom prst="rect">
            <a:avLst/>
          </a:prstGeom>
        </p:spPr>
      </p:pic>
      <p:sp>
        <p:nvSpPr>
          <p:cNvPr id="26" name="Text 10"/>
          <p:cNvSpPr txBox="1"/>
          <p:nvPr/>
        </p:nvSpPr>
        <p:spPr>
          <a:xfrm>
            <a:off x="8485632" y="388620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27" name="Text 11"/>
          <p:cNvSpPr txBox="1"/>
          <p:nvPr/>
        </p:nvSpPr>
        <p:spPr>
          <a:xfrm>
            <a:off x="8156448" y="4297680"/>
            <a:ext cx="3349447" cy="18745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bg1"/>
                </a:solidFill>
              </a:rPr>
              <a:t>Achieved business objectives while implementing a scalable design for future Olympics, minimizing the need for major changes</a:t>
            </a:r>
            <a:endParaRPr lang="en-US" sz="1100" dirty="0"/>
          </a:p>
          <a:p>
            <a:pPr marL="165100" indent="-165100">
              <a:spcAft>
                <a:spcPts val="300"/>
              </a:spcAft>
              <a:buClr>
                <a:srgbClr val="F7941E"/>
              </a:buClr>
              <a:buSzPct val="100000"/>
              <a:buChar char="●"/>
            </a:pPr>
            <a:r>
              <a:rPr lang="en-US" sz="1100" dirty="0">
                <a:solidFill>
                  <a:schemeClr val="bg1"/>
                </a:solidFill>
              </a:rPr>
              <a:t>Fully automated solutions enable real-time treatment of audience data, rapid report generation and easy accommodation of revisions, alongside visually appealing dashboards in the Power BI portal</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Automating Business Review Metrics</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DELIVERY SOLUTIONS</a:t>
            </a:r>
            <a:endParaRPr lang="en-US" sz="1100" dirty="0"/>
          </a:p>
        </p:txBody>
      </p:sp>
      <p:pic>
        <p:nvPicPr>
          <p:cNvPr id="4"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5" name="Logo" descr="/tmp/claude-0/-home-user-ad-gallery/7fc27a5a-8417-58c4-b3ff-7a7825ba0161/scratchpad/assets/s34_02.png">    </p:cNvPr>
          <p:cNvPicPr>
            <a:picLocks noChangeAspect="1"/>
          </p:cNvPicPr>
          <p:nvPr/>
        </p:nvPicPr>
        <p:blipFill>
          <a:blip r:embed="rId2"/>
          <a:stretch>
            <a:fillRect/>
          </a:stretch>
        </p:blipFill>
        <p:spPr>
          <a:xfrm>
            <a:off x="8366760" y="485902"/>
            <a:ext cx="1600200" cy="408940"/>
          </a:xfrm>
          <a:prstGeom prst="rect">
            <a:avLst/>
          </a:prstGeom>
        </p:spPr>
      </p:pic>
      <p:pic>
        <p:nvPicPr>
          <p:cNvPr id="6" name="Card" descr="preencoded.png">    </p:cNvPr>
          <p:cNvPicPr>
            <a:picLocks noChangeAspect="1"/>
          </p:cNvPicPr>
          <p:nvPr/>
        </p:nvPicPr>
        <p:blipFill>
          <a:blip r:embed="rId3"/>
          <a:stretch>
            <a:fillRect/>
          </a:stretch>
        </p:blipFill>
        <p:spPr>
          <a:xfrm>
            <a:off x="356616" y="1335024"/>
            <a:ext cx="3721608" cy="2258568"/>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1344168"/>
          </a:xfrm>
          <a:prstGeom prst="rect">
            <a:avLst/>
          </a:prstGeom>
          <a:noFill/>
          <a:ln/>
        </p:spPr>
        <p:txBody>
          <a:bodyPr wrap="square" lIns="0" tIns="0" rIns="0" bIns="0" rtlCol="0" anchor="t"/>
          <a:lstStyle/>
          <a:p>
            <a:pPr indent="0" marL="0">
              <a:buNone/>
            </a:pPr>
            <a:r>
              <a:rPr lang="en-US" sz="1100" dirty="0">
                <a:solidFill>
                  <a:schemeClr val="accent5"/>
                </a:solidFill>
              </a:rPr>
              <a:t>Delivery Solutions (DS) is a US-based company with IT operations in India. It aggregates delivery service providers onto a platform where B2B business owners can find suitable partners to deliver orders to customers seamlessly.</a:t>
            </a:r>
            <a:endParaRPr lang="en-US" sz="1100" dirty="0"/>
          </a:p>
        </p:txBody>
      </p:sp>
      <p:pic>
        <p:nvPicPr>
          <p:cNvPr id="10" name="Card" descr="preencoded.png">    </p:cNvPr>
          <p:cNvPicPr>
            <a:picLocks noChangeAspect="1"/>
          </p:cNvPicPr>
          <p:nvPr/>
        </p:nvPicPr>
        <p:blipFill>
          <a:blip r:embed="rId5"/>
          <a:stretch>
            <a:fillRect/>
          </a:stretch>
        </p:blipFill>
        <p:spPr>
          <a:xfrm>
            <a:off x="356616" y="3483864"/>
            <a:ext cx="3721608" cy="2926080"/>
          </a:xfrm>
          <a:prstGeom prst="rect">
            <a:avLst/>
          </a:prstGeom>
        </p:spPr>
      </p:pic>
      <p:pic>
        <p:nvPicPr>
          <p:cNvPr id="11" name="Icon" descr="preencoded.png">    </p:cNvPr>
          <p:cNvPicPr>
            <a:picLocks noChangeAspect="1"/>
          </p:cNvPicPr>
          <p:nvPr/>
        </p:nvPicPr>
        <p:blipFill>
          <a:blip r:embed="rId6"/>
          <a:stretch>
            <a:fillRect/>
          </a:stretch>
        </p:blipFill>
        <p:spPr>
          <a:xfrm>
            <a:off x="704088" y="3794760"/>
            <a:ext cx="237744" cy="237744"/>
          </a:xfrm>
          <a:prstGeom prst="rect">
            <a:avLst/>
          </a:prstGeom>
        </p:spPr>
      </p:pic>
      <p:sp>
        <p:nvSpPr>
          <p:cNvPr id="12" name="Text 4"/>
          <p:cNvSpPr txBox="1"/>
          <p:nvPr/>
        </p:nvSpPr>
        <p:spPr>
          <a:xfrm>
            <a:off x="1033272" y="374904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4160520"/>
            <a:ext cx="3044952" cy="201168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accent5"/>
                </a:solidFill>
              </a:rPr>
              <a:t>Extract data from each tenant's MongoDB instance and load it into a reporting database</a:t>
            </a:r>
            <a:endParaRPr lang="en-US" sz="1100" dirty="0"/>
          </a:p>
          <a:p>
            <a:pPr marL="165100" indent="-165100">
              <a:spcAft>
                <a:spcPts val="300"/>
              </a:spcAft>
              <a:buClr>
                <a:srgbClr val="F7941E"/>
              </a:buClr>
              <a:buSzPct val="100000"/>
              <a:buChar char="●"/>
            </a:pPr>
            <a:r>
              <a:rPr lang="en-US" sz="1100" dirty="0">
                <a:solidFill>
                  <a:schemeClr val="accent5"/>
                </a:solidFill>
              </a:rPr>
              <a:t>Transform, clean and enrich the data before loading it into the reporting database</a:t>
            </a:r>
            <a:endParaRPr lang="en-US" sz="1100" dirty="0"/>
          </a:p>
          <a:p>
            <a:pPr marL="165100" indent="-165100">
              <a:spcAft>
                <a:spcPts val="300"/>
              </a:spcAft>
              <a:buClr>
                <a:srgbClr val="F7941E"/>
              </a:buClr>
              <a:buSzPct val="100000"/>
              <a:buChar char="●"/>
            </a:pPr>
            <a:r>
              <a:rPr lang="en-US" sz="1100" dirty="0">
                <a:solidFill>
                  <a:schemeClr val="accent5"/>
                </a:solidFill>
              </a:rPr>
              <a:t>Create Power BI reports using this consolidated data</a:t>
            </a:r>
            <a:endParaRPr lang="en-US" sz="1100" dirty="0"/>
          </a:p>
          <a:p>
            <a:pPr marL="165100" indent="-165100">
              <a:spcAft>
                <a:spcPts val="300"/>
              </a:spcAft>
              <a:buClr>
                <a:srgbClr val="F7941E"/>
              </a:buClr>
              <a:buSzPct val="100000"/>
              <a:buChar char="●"/>
            </a:pPr>
            <a:r>
              <a:rPr lang="en-US" sz="1100" dirty="0">
                <a:solidFill>
                  <a:schemeClr val="accent5"/>
                </a:solidFill>
              </a:rPr>
              <a:t>Embed the Power BI report in the customer portal</a:t>
            </a:r>
            <a:endParaRPr lang="en-US" sz="1100" dirty="0"/>
          </a:p>
        </p:txBody>
      </p:sp>
      <p:pic>
        <p:nvPicPr>
          <p:cNvPr id="14" name="Card" descr="preencoded.png">    </p:cNvPr>
          <p:cNvPicPr>
            <a:picLocks noChangeAspect="1"/>
          </p:cNvPicPr>
          <p:nvPr/>
        </p:nvPicPr>
        <p:blipFill>
          <a:blip r:embed="rId7"/>
          <a:stretch>
            <a:fillRect/>
          </a:stretch>
        </p:blipFill>
        <p:spPr>
          <a:xfrm>
            <a:off x="3968496" y="1335024"/>
            <a:ext cx="3950208" cy="2761488"/>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184708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accent5"/>
                </a:solidFill>
              </a:rPr>
              <a:t>Developed a Python script to loop through each tenant DB for data extraction, due to lack of parameterized connection in ADF to MongoDB</a:t>
            </a:r>
            <a:endParaRPr lang="en-US" sz="1100" dirty="0"/>
          </a:p>
          <a:p>
            <a:pPr marL="165100" indent="-165100">
              <a:spcAft>
                <a:spcPts val="300"/>
              </a:spcAft>
              <a:buClr>
                <a:srgbClr val="F7941E"/>
              </a:buClr>
              <a:buSzPct val="100000"/>
              <a:buChar char="●"/>
            </a:pPr>
            <a:r>
              <a:rPr lang="en-US" sz="1100" dirty="0">
                <a:solidFill>
                  <a:schemeClr val="accent5"/>
                </a:solidFill>
              </a:rPr>
              <a:t>Fine-tuned the data model and DAX queries to address performance issues with a final data model exceeding 3 GB</a:t>
            </a:r>
            <a:endParaRPr lang="en-US" sz="1100" dirty="0"/>
          </a:p>
          <a:p>
            <a:pPr marL="165100" indent="-165100">
              <a:spcAft>
                <a:spcPts val="300"/>
              </a:spcAft>
              <a:buClr>
                <a:srgbClr val="F7941E"/>
              </a:buClr>
              <a:buSzPct val="100000"/>
              <a:buChar char="●"/>
            </a:pPr>
            <a:r>
              <a:rPr lang="en-US" sz="1100" dirty="0">
                <a:solidFill>
                  <a:schemeClr val="accent5"/>
                </a:solidFill>
              </a:rPr>
              <a:t>Implemented an ADF pipeline to automatically upscale Power BI embedding capacity to A4 before data refresh and downscale to A2</a:t>
            </a:r>
            <a:endParaRPr lang="en-US" sz="1100" dirty="0"/>
          </a:p>
        </p:txBody>
      </p:sp>
      <p:pic>
        <p:nvPicPr>
          <p:cNvPr id="18" name="Card" descr="preencoded.png">    </p:cNvPr>
          <p:cNvPicPr>
            <a:picLocks noChangeAspect="1"/>
          </p:cNvPicPr>
          <p:nvPr/>
        </p:nvPicPr>
        <p:blipFill>
          <a:blip r:embed="rId9"/>
          <a:stretch>
            <a:fillRect/>
          </a:stretch>
        </p:blipFill>
        <p:spPr>
          <a:xfrm>
            <a:off x="3968496" y="3986784"/>
            <a:ext cx="3950208" cy="2423160"/>
          </a:xfrm>
          <a:prstGeom prst="rect">
            <a:avLst/>
          </a:prstGeom>
        </p:spPr>
      </p:pic>
      <p:pic>
        <p:nvPicPr>
          <p:cNvPr id="19" name="Icon" descr="preencoded.png">    </p:cNvPr>
          <p:cNvPicPr>
            <a:picLocks noChangeAspect="1"/>
          </p:cNvPicPr>
          <p:nvPr/>
        </p:nvPicPr>
        <p:blipFill>
          <a:blip r:embed="rId10"/>
          <a:stretch>
            <a:fillRect/>
          </a:stretch>
        </p:blipFill>
        <p:spPr>
          <a:xfrm>
            <a:off x="4315968" y="4297680"/>
            <a:ext cx="237744" cy="237744"/>
          </a:xfrm>
          <a:prstGeom prst="rect">
            <a:avLst/>
          </a:prstGeom>
        </p:spPr>
      </p:pic>
      <p:sp>
        <p:nvSpPr>
          <p:cNvPr id="20" name="Text 8"/>
          <p:cNvSpPr txBox="1"/>
          <p:nvPr/>
        </p:nvSpPr>
        <p:spPr>
          <a:xfrm>
            <a:off x="4645152" y="425196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4663440"/>
            <a:ext cx="3273552" cy="150876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accent5"/>
                </a:solidFill>
              </a:rPr>
              <a:t>Virtual machine (EC2 in AWS)</a:t>
            </a:r>
            <a:endParaRPr lang="en-US" sz="1100" dirty="0"/>
          </a:p>
          <a:p>
            <a:pPr marL="165100" indent="-165100">
              <a:spcAft>
                <a:spcPts val="300"/>
              </a:spcAft>
              <a:buClr>
                <a:srgbClr val="F7941E"/>
              </a:buClr>
              <a:buSzPct val="100000"/>
              <a:buChar char="●"/>
            </a:pPr>
            <a:r>
              <a:rPr lang="en-US" sz="1100" dirty="0">
                <a:solidFill>
                  <a:schemeClr val="accent5"/>
                </a:solidFill>
              </a:rPr>
              <a:t>Data extractor Python program</a:t>
            </a:r>
            <a:endParaRPr lang="en-US" sz="1100" dirty="0"/>
          </a:p>
          <a:p>
            <a:pPr marL="165100" indent="-165100">
              <a:spcAft>
                <a:spcPts val="300"/>
              </a:spcAft>
              <a:buClr>
                <a:srgbClr val="F7941E"/>
              </a:buClr>
              <a:buSzPct val="100000"/>
              <a:buChar char="●"/>
            </a:pPr>
            <a:r>
              <a:rPr lang="en-US" sz="1100" dirty="0">
                <a:solidFill>
                  <a:schemeClr val="accent5"/>
                </a:solidFill>
              </a:rPr>
              <a:t>Azure Data Factory</a:t>
            </a:r>
            <a:endParaRPr lang="en-US" sz="1100" dirty="0"/>
          </a:p>
          <a:p>
            <a:pPr marL="165100" indent="-165100">
              <a:spcAft>
                <a:spcPts val="300"/>
              </a:spcAft>
              <a:buClr>
                <a:srgbClr val="F7941E"/>
              </a:buClr>
              <a:buSzPct val="100000"/>
              <a:buChar char="●"/>
            </a:pPr>
            <a:r>
              <a:rPr lang="en-US" sz="1100" dirty="0">
                <a:solidFill>
                  <a:schemeClr val="accent5"/>
                </a:solidFill>
              </a:rPr>
              <a:t>Azure Database for PostgreSQL</a:t>
            </a:r>
            <a:endParaRPr lang="en-US" sz="1100" dirty="0"/>
          </a:p>
          <a:p>
            <a:pPr marL="165100" indent="-165100">
              <a:spcAft>
                <a:spcPts val="300"/>
              </a:spcAft>
              <a:buClr>
                <a:srgbClr val="F7941E"/>
              </a:buClr>
              <a:buSzPct val="100000"/>
              <a:buChar char="●"/>
            </a:pPr>
            <a:r>
              <a:rPr lang="en-US" sz="1100" dirty="0">
                <a:solidFill>
                  <a:schemeClr val="accent5"/>
                </a:solidFill>
              </a:rPr>
              <a:t>Power BI</a:t>
            </a:r>
            <a:endParaRPr lang="en-US" sz="1100" dirty="0"/>
          </a:p>
          <a:p>
            <a:pPr marL="165100" indent="-165100">
              <a:spcAft>
                <a:spcPts val="300"/>
              </a:spcAft>
              <a:buClr>
                <a:srgbClr val="F7941E"/>
              </a:buClr>
              <a:buSzPct val="100000"/>
              <a:buChar char="●"/>
            </a:pPr>
            <a:r>
              <a:rPr lang="en-US" sz="1100" dirty="0">
                <a:solidFill>
                  <a:schemeClr val="accent5"/>
                </a:solidFill>
              </a:rPr>
              <a:t>Azure Logic Apps</a:t>
            </a:r>
            <a:endParaRPr lang="en-US" sz="1100" dirty="0"/>
          </a:p>
          <a:p>
            <a:pPr marL="165100" indent="-165100">
              <a:spcAft>
                <a:spcPts val="300"/>
              </a:spcAft>
              <a:buClr>
                <a:srgbClr val="F7941E"/>
              </a:buClr>
              <a:buSzPct val="100000"/>
              <a:buChar char="●"/>
            </a:pPr>
            <a:r>
              <a:rPr lang="en-US" sz="1100" dirty="0">
                <a:solidFill>
                  <a:schemeClr val="accent5"/>
                </a:solidFill>
              </a:rPr>
              <a:t>Power BI API</a:t>
            </a:r>
            <a:endParaRPr lang="en-US" sz="1100" dirty="0"/>
          </a:p>
        </p:txBody>
      </p:sp>
      <p:pic>
        <p:nvPicPr>
          <p:cNvPr id="22" name="Card" descr="preencoded.png">    </p:cNvPr>
          <p:cNvPicPr>
            <a:picLocks noChangeAspect="1"/>
          </p:cNvPicPr>
          <p:nvPr/>
        </p:nvPicPr>
        <p:blipFill>
          <a:blip r:embed="rId11"/>
          <a:stretch>
            <a:fillRect/>
          </a:stretch>
        </p:blipFill>
        <p:spPr>
          <a:xfrm>
            <a:off x="7808976" y="1335024"/>
            <a:ext cx="4026103" cy="2304288"/>
          </a:xfrm>
          <a:prstGeom prst="rect">
            <a:avLst/>
          </a:prstGeom>
        </p:spPr>
      </p:pic>
      <p:pic>
        <p:nvPicPr>
          <p:cNvPr id="23" name="Screenshot" descr="/tmp/claude-0/-home-user-ad-gallery/7fc27a5a-8417-58c4-b3ff-7a7825ba0161/scratchpad/assets/s34_01.png">    </p:cNvPr>
          <p:cNvPicPr>
            <a:picLocks noChangeAspect="1"/>
          </p:cNvPicPr>
          <p:nvPr/>
        </p:nvPicPr>
        <p:blipFill>
          <a:blip r:embed="rId12"/>
          <a:stretch>
            <a:fillRect/>
          </a:stretch>
        </p:blipFill>
        <p:spPr>
          <a:xfrm>
            <a:off x="8307603" y="1618488"/>
            <a:ext cx="3028849" cy="1737360"/>
          </a:xfrm>
          <a:prstGeom prst="rect">
            <a:avLst/>
          </a:prstGeom>
        </p:spPr>
      </p:pic>
      <p:pic>
        <p:nvPicPr>
          <p:cNvPr id="24" name="Card" descr="preencoded.png">    </p:cNvPr>
          <p:cNvPicPr>
            <a:picLocks noChangeAspect="1"/>
          </p:cNvPicPr>
          <p:nvPr/>
        </p:nvPicPr>
        <p:blipFill>
          <a:blip r:embed="rId13"/>
          <a:stretch>
            <a:fillRect/>
          </a:stretch>
        </p:blipFill>
        <p:spPr>
          <a:xfrm>
            <a:off x="7808976" y="3529584"/>
            <a:ext cx="4026103" cy="2880360"/>
          </a:xfrm>
          <a:prstGeom prst="rect">
            <a:avLst/>
          </a:prstGeom>
        </p:spPr>
      </p:pic>
      <p:pic>
        <p:nvPicPr>
          <p:cNvPr id="25" name="Icon" descr="preencoded.png">    </p:cNvPr>
          <p:cNvPicPr>
            <a:picLocks noChangeAspect="1"/>
          </p:cNvPicPr>
          <p:nvPr/>
        </p:nvPicPr>
        <p:blipFill>
          <a:blip r:embed="rId14"/>
          <a:stretch>
            <a:fillRect/>
          </a:stretch>
        </p:blipFill>
        <p:spPr>
          <a:xfrm>
            <a:off x="8156448" y="3840480"/>
            <a:ext cx="237744" cy="237744"/>
          </a:xfrm>
          <a:prstGeom prst="rect">
            <a:avLst/>
          </a:prstGeom>
        </p:spPr>
      </p:pic>
      <p:sp>
        <p:nvSpPr>
          <p:cNvPr id="26" name="Text 10"/>
          <p:cNvSpPr txBox="1"/>
          <p:nvPr/>
        </p:nvSpPr>
        <p:spPr>
          <a:xfrm>
            <a:off x="8485632" y="379476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27" name="Text 11"/>
          <p:cNvSpPr txBox="1"/>
          <p:nvPr/>
        </p:nvSpPr>
        <p:spPr>
          <a:xfrm>
            <a:off x="8156448" y="4206240"/>
            <a:ext cx="3349447" cy="196596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100" dirty="0">
                <a:solidFill>
                  <a:schemeClr val="bg1"/>
                </a:solidFill>
              </a:rPr>
              <a:t>Efficiently meet business objectives with daily MBR/QBR reports accessible via the customer portal, enhancing decision-making and customer experience</a:t>
            </a:r>
            <a:endParaRPr lang="en-US" sz="1100" dirty="0"/>
          </a:p>
          <a:p>
            <a:pPr marL="165100" indent="-165100">
              <a:spcAft>
                <a:spcPts val="300"/>
              </a:spcAft>
              <a:buClr>
                <a:srgbClr val="F7941E"/>
              </a:buClr>
              <a:buSzPct val="100000"/>
              <a:buChar char="●"/>
            </a:pPr>
            <a:r>
              <a:rPr lang="en-US" sz="1100" dirty="0">
                <a:solidFill>
                  <a:schemeClr val="bg1"/>
                </a:solidFill>
              </a:rPr>
              <a:t>Fully automated Azure-based solution minimizes IT support load, with end-to-end data flow automation and technical team oversight via daily automated notifications and pipeline restart capability</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Retail Operations &amp; Management</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TIMELESS</a:t>
            </a:r>
            <a:endParaRPr lang="en-US" sz="1100" dirty="0"/>
          </a:p>
        </p:txBody>
      </p:sp>
      <p:pic>
        <p:nvPicPr>
          <p:cNvPr id="4"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5" name="Logo" descr="/tmp/claude-0/-home-user-ad-gallery/7fc27a5a-8417-58c4-b3ff-7a7825ba0161/scratchpad/assets/s35_05.png">    </p:cNvPr>
          <p:cNvPicPr>
            <a:picLocks noChangeAspect="1"/>
          </p:cNvPicPr>
          <p:nvPr/>
        </p:nvPicPr>
        <p:blipFill>
          <a:blip r:embed="rId2"/>
          <a:stretch>
            <a:fillRect/>
          </a:stretch>
        </p:blipFill>
        <p:spPr>
          <a:xfrm>
            <a:off x="8406632" y="393192"/>
            <a:ext cx="1520456" cy="594360"/>
          </a:xfrm>
          <a:prstGeom prst="rect">
            <a:avLst/>
          </a:prstGeom>
        </p:spPr>
      </p:pic>
      <p:pic>
        <p:nvPicPr>
          <p:cNvPr id="6" name="Card" descr="preencoded.png">    </p:cNvPr>
          <p:cNvPicPr>
            <a:picLocks noChangeAspect="1"/>
          </p:cNvPicPr>
          <p:nvPr/>
        </p:nvPicPr>
        <p:blipFill>
          <a:blip r:embed="rId3"/>
          <a:stretch>
            <a:fillRect/>
          </a:stretch>
        </p:blipFill>
        <p:spPr>
          <a:xfrm>
            <a:off x="356616" y="1335024"/>
            <a:ext cx="3721608" cy="1709928"/>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7955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Leading multi-brand fashion retail company</a:t>
            </a:r>
            <a:endParaRPr lang="en-US" sz="1200" dirty="0"/>
          </a:p>
          <a:p>
            <a:pPr marL="165100" indent="-165100">
              <a:spcAft>
                <a:spcPts val="300"/>
              </a:spcAft>
              <a:buClr>
                <a:srgbClr val="F7941E"/>
              </a:buClr>
              <a:buSzPct val="100000"/>
              <a:buChar char="●"/>
            </a:pPr>
            <a:r>
              <a:rPr lang="en-US" sz="1200" dirty="0">
                <a:solidFill>
                  <a:schemeClr val="accent5"/>
                </a:solidFill>
              </a:rPr>
              <a:t>Product portfolio spanning apparel, footwear &amp; fashion accessories</a:t>
            </a:r>
            <a:endParaRPr lang="en-US" sz="1200" dirty="0"/>
          </a:p>
        </p:txBody>
      </p:sp>
      <p:pic>
        <p:nvPicPr>
          <p:cNvPr id="10" name="Card" descr="preencoded.png">    </p:cNvPr>
          <p:cNvPicPr>
            <a:picLocks noChangeAspect="1"/>
          </p:cNvPicPr>
          <p:nvPr/>
        </p:nvPicPr>
        <p:blipFill>
          <a:blip r:embed="rId5"/>
          <a:stretch>
            <a:fillRect/>
          </a:stretch>
        </p:blipFill>
        <p:spPr>
          <a:xfrm>
            <a:off x="356616" y="2935224"/>
            <a:ext cx="3721608" cy="3474720"/>
          </a:xfrm>
          <a:prstGeom prst="rect">
            <a:avLst/>
          </a:prstGeom>
        </p:spPr>
      </p:pic>
      <p:pic>
        <p:nvPicPr>
          <p:cNvPr id="11" name="Icon" descr="preencoded.png">    </p:cNvPr>
          <p:cNvPicPr>
            <a:picLocks noChangeAspect="1"/>
          </p:cNvPicPr>
          <p:nvPr/>
        </p:nvPicPr>
        <p:blipFill>
          <a:blip r:embed="rId6"/>
          <a:stretch>
            <a:fillRect/>
          </a:stretch>
        </p:blipFill>
        <p:spPr>
          <a:xfrm>
            <a:off x="704088" y="3246120"/>
            <a:ext cx="237744" cy="237744"/>
          </a:xfrm>
          <a:prstGeom prst="rect">
            <a:avLst/>
          </a:prstGeom>
        </p:spPr>
      </p:pic>
      <p:sp>
        <p:nvSpPr>
          <p:cNvPr id="12" name="Text 4"/>
          <p:cNvSpPr txBox="1"/>
          <p:nvPr/>
        </p:nvSpPr>
        <p:spPr>
          <a:xfrm>
            <a:off x="1033272" y="32004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3611880"/>
            <a:ext cx="3044952" cy="25603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Manual sets of reports being prepared by business teams</a:t>
            </a:r>
            <a:endParaRPr lang="en-US" sz="1200" dirty="0"/>
          </a:p>
          <a:p>
            <a:pPr marL="165100" indent="-165100">
              <a:spcAft>
                <a:spcPts val="300"/>
              </a:spcAft>
              <a:buClr>
                <a:srgbClr val="F7941E"/>
              </a:buClr>
              <a:buSzPct val="100000"/>
              <a:buChar char="●"/>
            </a:pPr>
            <a:r>
              <a:rPr lang="en-US" sz="1200" dirty="0">
                <a:solidFill>
                  <a:schemeClr val="accent5"/>
                </a:solidFill>
              </a:rPr>
              <a:t>Data dumps to be extracted from the ERP system for report compilation</a:t>
            </a:r>
            <a:endParaRPr lang="en-US" sz="1200" dirty="0"/>
          </a:p>
          <a:p>
            <a:pPr marL="165100" indent="-165100">
              <a:spcAft>
                <a:spcPts val="300"/>
              </a:spcAft>
              <a:buClr>
                <a:srgbClr val="F7941E"/>
              </a:buClr>
              <a:buSzPct val="100000"/>
              <a:buChar char="●"/>
            </a:pPr>
            <a:r>
              <a:rPr lang="en-US" sz="1200" dirty="0">
                <a:solidFill>
                  <a:schemeClr val="accent5"/>
                </a:solidFill>
              </a:rPr>
              <a:t>Data across business divisions consolidated manually for management reporting</a:t>
            </a:r>
            <a:endParaRPr lang="en-US" sz="1200" dirty="0"/>
          </a:p>
          <a:p>
            <a:pPr marL="165100" indent="-165100">
              <a:spcAft>
                <a:spcPts val="300"/>
              </a:spcAft>
              <a:buClr>
                <a:srgbClr val="F7941E"/>
              </a:buClr>
              <a:buSzPct val="100000"/>
              <a:buChar char="●"/>
            </a:pPr>
            <a:r>
              <a:rPr lang="en-US" sz="1200" dirty="0">
                <a:solidFill>
                  <a:schemeClr val="accent5"/>
                </a:solidFill>
              </a:rPr>
              <a:t>Daily reporting / data automation not in place</a:t>
            </a:r>
            <a:endParaRPr lang="en-US" sz="1200" dirty="0"/>
          </a:p>
        </p:txBody>
      </p:sp>
      <p:pic>
        <p:nvPicPr>
          <p:cNvPr id="14" name="Card" descr="preencoded.png">    </p:cNvPr>
          <p:cNvPicPr>
            <a:picLocks noChangeAspect="1"/>
          </p:cNvPicPr>
          <p:nvPr/>
        </p:nvPicPr>
        <p:blipFill>
          <a:blip r:embed="rId7"/>
          <a:stretch>
            <a:fillRect/>
          </a:stretch>
        </p:blipFill>
        <p:spPr>
          <a:xfrm>
            <a:off x="3968496" y="1335024"/>
            <a:ext cx="3950208" cy="3172968"/>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2585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Built data pipelines to sync data from ERP seamlessly</a:t>
            </a:r>
            <a:endParaRPr lang="en-US" sz="1200" dirty="0"/>
          </a:p>
          <a:p>
            <a:pPr marL="165100" indent="-165100">
              <a:spcAft>
                <a:spcPts val="300"/>
              </a:spcAft>
              <a:buClr>
                <a:srgbClr val="F7941E"/>
              </a:buClr>
              <a:buSzPct val="100000"/>
              <a:buChar char="●"/>
            </a:pPr>
            <a:r>
              <a:rPr lang="en-US" sz="1200" dirty="0">
                <a:solidFill>
                  <a:schemeClr val="accent5"/>
                </a:solidFill>
              </a:rPr>
              <a:t>Integrated data across all business divisions onto the cloud</a:t>
            </a:r>
            <a:endParaRPr lang="en-US" sz="1200" dirty="0"/>
          </a:p>
          <a:p>
            <a:pPr marL="165100" indent="-165100">
              <a:spcAft>
                <a:spcPts val="300"/>
              </a:spcAft>
              <a:buClr>
                <a:srgbClr val="F7941E"/>
              </a:buClr>
              <a:buSzPct val="100000"/>
              <a:buChar char="●"/>
            </a:pPr>
            <a:r>
              <a:rPr lang="en-US" sz="1200" dirty="0">
                <a:solidFill>
                  <a:schemeClr val="accent5"/>
                </a:solidFill>
              </a:rPr>
              <a:t>Implemented automated batch refreshes for smooth data flow</a:t>
            </a:r>
            <a:endParaRPr lang="en-US" sz="1200" dirty="0"/>
          </a:p>
          <a:p>
            <a:pPr marL="165100" indent="-165100">
              <a:spcAft>
                <a:spcPts val="300"/>
              </a:spcAft>
              <a:buClr>
                <a:srgbClr val="F7941E"/>
              </a:buClr>
              <a:buSzPct val="100000"/>
              <a:buChar char="●"/>
            </a:pPr>
            <a:r>
              <a:rPr lang="en-US" sz="1200" dirty="0">
                <a:solidFill>
                  <a:schemeClr val="accent5"/>
                </a:solidFill>
              </a:rPr>
              <a:t>Created dashboards for timely reports &amp; a self-service BI facility for power users</a:t>
            </a:r>
            <a:endParaRPr lang="en-US" sz="1200" dirty="0"/>
          </a:p>
        </p:txBody>
      </p:sp>
      <p:pic>
        <p:nvPicPr>
          <p:cNvPr id="18" name="Card" descr="preencoded.png">    </p:cNvPr>
          <p:cNvPicPr>
            <a:picLocks noChangeAspect="1"/>
          </p:cNvPicPr>
          <p:nvPr/>
        </p:nvPicPr>
        <p:blipFill>
          <a:blip r:embed="rId9"/>
          <a:stretch>
            <a:fillRect/>
          </a:stretch>
        </p:blipFill>
        <p:spPr>
          <a:xfrm>
            <a:off x="3968496" y="4398264"/>
            <a:ext cx="3950208" cy="2011680"/>
          </a:xfrm>
          <a:prstGeom prst="rect">
            <a:avLst/>
          </a:prstGeom>
        </p:spPr>
      </p:pic>
      <p:pic>
        <p:nvPicPr>
          <p:cNvPr id="19" name="Icon" descr="preencoded.png">    </p:cNvPr>
          <p:cNvPicPr>
            <a:picLocks noChangeAspect="1"/>
          </p:cNvPicPr>
          <p:nvPr/>
        </p:nvPicPr>
        <p:blipFill>
          <a:blip r:embed="rId10"/>
          <a:stretch>
            <a:fillRect/>
          </a:stretch>
        </p:blipFill>
        <p:spPr>
          <a:xfrm>
            <a:off x="4315968" y="4709160"/>
            <a:ext cx="237744" cy="237744"/>
          </a:xfrm>
          <a:prstGeom prst="rect">
            <a:avLst/>
          </a:prstGeom>
        </p:spPr>
      </p:pic>
      <p:sp>
        <p:nvSpPr>
          <p:cNvPr id="20" name="Text 8"/>
          <p:cNvSpPr txBox="1"/>
          <p:nvPr/>
        </p:nvSpPr>
        <p:spPr>
          <a:xfrm>
            <a:off x="4645152" y="466344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5074920"/>
            <a:ext cx="3273552" cy="109728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b="1" dirty="0">
                <a:solidFill>
                  <a:schemeClr val="tx1"/>
                </a:solidFill>
              </a:rPr>
              <a:t>Data pipelines: </a:t>
            </a:r>
            <a:pPr indent="0" marL="0">
              <a:buNone/>
            </a:pPr>
            <a:r>
              <a:rPr lang="en-US" sz="1200" dirty="0">
                <a:solidFill>
                  <a:schemeClr val="accent5"/>
                </a:solidFill>
              </a:rPr>
              <a:t>Azure Data Factory / ADLS Gen 2</a:t>
            </a:r>
            <a:endParaRPr lang="en-US" sz="1200" dirty="0"/>
          </a:p>
          <a:p>
            <a:pPr marL="165100" indent="-165100">
              <a:spcAft>
                <a:spcPts val="300"/>
              </a:spcAft>
              <a:buClr>
                <a:srgbClr val="F7941E"/>
              </a:buClr>
              <a:buSzPct val="100000"/>
              <a:buChar char="●"/>
            </a:pPr>
            <a:r>
              <a:rPr lang="en-US" sz="1200" b="1" dirty="0">
                <a:solidFill>
                  <a:schemeClr val="tx1"/>
                </a:solidFill>
              </a:rPr>
              <a:t>Visualizations: </a:t>
            </a:r>
            <a:pPr indent="0" marL="0">
              <a:buNone/>
            </a:pPr>
            <a:r>
              <a:rPr lang="en-US" sz="1200" dirty="0">
                <a:solidFill>
                  <a:schemeClr val="accent5"/>
                </a:solidFill>
              </a:rPr>
              <a:t>Power BI</a:t>
            </a:r>
            <a:endParaRPr lang="en-US" sz="1200" dirty="0"/>
          </a:p>
        </p:txBody>
      </p:sp>
      <p:pic>
        <p:nvPicPr>
          <p:cNvPr id="22" name="Card" descr="preencoded.png">    </p:cNvPr>
          <p:cNvPicPr>
            <a:picLocks noChangeAspect="1"/>
          </p:cNvPicPr>
          <p:nvPr/>
        </p:nvPicPr>
        <p:blipFill>
          <a:blip r:embed="rId11"/>
          <a:stretch>
            <a:fillRect/>
          </a:stretch>
        </p:blipFill>
        <p:spPr>
          <a:xfrm>
            <a:off x="7808976" y="1335024"/>
            <a:ext cx="4026103" cy="2807208"/>
          </a:xfrm>
          <a:prstGeom prst="rect">
            <a:avLst/>
          </a:prstGeom>
        </p:spPr>
      </p:pic>
      <p:pic>
        <p:nvPicPr>
          <p:cNvPr id="23" name="Screenshot" descr="/tmp/claude-0/-home-user-ad-gallery/7fc27a5a-8417-58c4-b3ff-7a7825ba0161/scratchpad/assets/s35_00.png">    </p:cNvPr>
          <p:cNvPicPr>
            <a:picLocks noChangeAspect="1"/>
          </p:cNvPicPr>
          <p:nvPr/>
        </p:nvPicPr>
        <p:blipFill>
          <a:blip r:embed="rId12"/>
          <a:stretch>
            <a:fillRect/>
          </a:stretch>
        </p:blipFill>
        <p:spPr>
          <a:xfrm>
            <a:off x="8092440" y="1731682"/>
            <a:ext cx="1661008" cy="825172"/>
          </a:xfrm>
          <a:prstGeom prst="rect">
            <a:avLst/>
          </a:prstGeom>
        </p:spPr>
      </p:pic>
      <p:pic>
        <p:nvPicPr>
          <p:cNvPr id="24" name="Screenshot" descr="/tmp/claude-0/-home-user-ad-gallery/7fc27a5a-8417-58c4-b3ff-7a7825ba0161/scratchpad/assets/s35_01.png">    </p:cNvPr>
          <p:cNvPicPr>
            <a:picLocks noChangeAspect="1"/>
          </p:cNvPicPr>
          <p:nvPr/>
        </p:nvPicPr>
        <p:blipFill>
          <a:blip r:embed="rId13"/>
          <a:stretch>
            <a:fillRect/>
          </a:stretch>
        </p:blipFill>
        <p:spPr>
          <a:xfrm>
            <a:off x="9890608" y="1726666"/>
            <a:ext cx="1661008" cy="835203"/>
          </a:xfrm>
          <a:prstGeom prst="rect">
            <a:avLst/>
          </a:prstGeom>
        </p:spPr>
      </p:pic>
      <p:pic>
        <p:nvPicPr>
          <p:cNvPr id="25" name="Screenshot" descr="/tmp/claude-0/-home-user-ad-gallery/7fc27a5a-8417-58c4-b3ff-7a7825ba0161/scratchpad/assets/s35_02.png">    </p:cNvPr>
          <p:cNvPicPr>
            <a:picLocks noChangeAspect="1"/>
          </p:cNvPicPr>
          <p:nvPr/>
        </p:nvPicPr>
        <p:blipFill>
          <a:blip r:embed="rId14"/>
          <a:stretch>
            <a:fillRect/>
          </a:stretch>
        </p:blipFill>
        <p:spPr>
          <a:xfrm>
            <a:off x="8092440" y="3020621"/>
            <a:ext cx="1661008" cy="624733"/>
          </a:xfrm>
          <a:prstGeom prst="rect">
            <a:avLst/>
          </a:prstGeom>
        </p:spPr>
      </p:pic>
      <p:pic>
        <p:nvPicPr>
          <p:cNvPr id="26" name="Screenshot" descr="/tmp/claude-0/-home-user-ad-gallery/7fc27a5a-8417-58c4-b3ff-7a7825ba0161/scratchpad/assets/s35_03.png">    </p:cNvPr>
          <p:cNvPicPr>
            <a:picLocks noChangeAspect="1"/>
          </p:cNvPicPr>
          <p:nvPr/>
        </p:nvPicPr>
        <p:blipFill>
          <a:blip r:embed="rId15"/>
          <a:stretch>
            <a:fillRect/>
          </a:stretch>
        </p:blipFill>
        <p:spPr>
          <a:xfrm>
            <a:off x="9890608" y="2968977"/>
            <a:ext cx="1661008" cy="728022"/>
          </a:xfrm>
          <a:prstGeom prst="rect">
            <a:avLst/>
          </a:prstGeom>
        </p:spPr>
      </p:pic>
      <p:pic>
        <p:nvPicPr>
          <p:cNvPr id="27" name="Card" descr="preencoded.png">    </p:cNvPr>
          <p:cNvPicPr>
            <a:picLocks noChangeAspect="1"/>
          </p:cNvPicPr>
          <p:nvPr/>
        </p:nvPicPr>
        <p:blipFill>
          <a:blip r:embed="rId16"/>
          <a:stretch>
            <a:fillRect/>
          </a:stretch>
        </p:blipFill>
        <p:spPr>
          <a:xfrm>
            <a:off x="7808976" y="4032504"/>
            <a:ext cx="4026103" cy="2377440"/>
          </a:xfrm>
          <a:prstGeom prst="rect">
            <a:avLst/>
          </a:prstGeom>
        </p:spPr>
      </p:pic>
      <p:pic>
        <p:nvPicPr>
          <p:cNvPr id="28" name="Icon" descr="preencoded.png">    </p:cNvPr>
          <p:cNvPicPr>
            <a:picLocks noChangeAspect="1"/>
          </p:cNvPicPr>
          <p:nvPr/>
        </p:nvPicPr>
        <p:blipFill>
          <a:blip r:embed="rId17"/>
          <a:stretch>
            <a:fillRect/>
          </a:stretch>
        </p:blipFill>
        <p:spPr>
          <a:xfrm>
            <a:off x="8156448" y="4343400"/>
            <a:ext cx="237744" cy="237744"/>
          </a:xfrm>
          <a:prstGeom prst="rect">
            <a:avLst/>
          </a:prstGeom>
        </p:spPr>
      </p:pic>
      <p:sp>
        <p:nvSpPr>
          <p:cNvPr id="29" name="Text 10"/>
          <p:cNvSpPr txBox="1"/>
          <p:nvPr/>
        </p:nvSpPr>
        <p:spPr>
          <a:xfrm>
            <a:off x="8485632" y="429768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30" name="Text 11"/>
          <p:cNvSpPr txBox="1"/>
          <p:nvPr/>
        </p:nvSpPr>
        <p:spPr>
          <a:xfrm>
            <a:off x="8156448" y="4709160"/>
            <a:ext cx="3349447" cy="146304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1"/>
                </a:solidFill>
              </a:rPr>
              <a:t>Centralized data repository</a:t>
            </a:r>
            <a:endParaRPr lang="en-US" sz="1200" dirty="0"/>
          </a:p>
          <a:p>
            <a:pPr marL="165100" indent="-165100">
              <a:spcAft>
                <a:spcPts val="300"/>
              </a:spcAft>
              <a:buClr>
                <a:srgbClr val="F7941E"/>
              </a:buClr>
              <a:buSzPct val="100000"/>
              <a:buChar char="●"/>
            </a:pPr>
            <a:r>
              <a:rPr lang="en-US" sz="1200" dirty="0">
                <a:solidFill>
                  <a:schemeClr val="bg1"/>
                </a:solidFill>
              </a:rPr>
              <a:t>Robust data pipelines</a:t>
            </a:r>
            <a:endParaRPr lang="en-US" sz="1200" dirty="0"/>
          </a:p>
          <a:p>
            <a:pPr marL="165100" indent="-165100">
              <a:spcAft>
                <a:spcPts val="300"/>
              </a:spcAft>
              <a:buClr>
                <a:srgbClr val="F7941E"/>
              </a:buClr>
              <a:buSzPct val="100000"/>
              <a:buChar char="●"/>
            </a:pPr>
            <a:r>
              <a:rPr lang="en-US" sz="1200" dirty="0">
                <a:solidFill>
                  <a:schemeClr val="bg1"/>
                </a:solidFill>
              </a:rPr>
              <a:t>Smooth data integration</a:t>
            </a:r>
            <a:endParaRPr lang="en-US" sz="1200" dirty="0"/>
          </a:p>
          <a:p>
            <a:pPr marL="165100" indent="-165100">
              <a:spcAft>
                <a:spcPts val="300"/>
              </a:spcAft>
              <a:buClr>
                <a:srgbClr val="F7941E"/>
              </a:buClr>
              <a:buSzPct val="100000"/>
              <a:buChar char="●"/>
            </a:pPr>
            <a:r>
              <a:rPr lang="en-US" sz="1200" dirty="0">
                <a:solidFill>
                  <a:schemeClr val="bg1"/>
                </a:solidFill>
              </a:rPr>
              <a:t>Timely accessibility &amp; verified reports</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600" b="1" dirty="0">
                <a:solidFill>
                  <a:schemeClr val="tx1"/>
                </a:solidFill>
                <a:latin typeface="Arial" pitchFamily="34" charset="0"/>
                <a:ea typeface="Arial" pitchFamily="34" charset="-122"/>
                <a:cs typeface="Arial" pitchFamily="34" charset="-120"/>
              </a:rPr>
              <a:t>Sales &amp; Operational Intelligence</a:t>
            </a:r>
            <a:endParaRPr lang="en-US" sz="26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100" b="1" spc="400" kern="0" dirty="0">
                <a:solidFill>
                  <a:schemeClr val="accent1"/>
                </a:solidFill>
              </a:rPr>
              <a:t>CASE STUDY – SUGUNA FOODS</a:t>
            </a:r>
            <a:endParaRPr lang="en-US" sz="1100" dirty="0"/>
          </a:p>
        </p:txBody>
      </p:sp>
      <p:pic>
        <p:nvPicPr>
          <p:cNvPr id="4"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5" name="Logo" descr="/tmp/claude-0/-home-user-ad-gallery/7fc27a5a-8417-58c4-b3ff-7a7825ba0161/scratchpad/assets/s36_05.png">    </p:cNvPr>
          <p:cNvPicPr>
            <a:picLocks noChangeAspect="1"/>
          </p:cNvPicPr>
          <p:nvPr/>
        </p:nvPicPr>
        <p:blipFill>
          <a:blip r:embed="rId2"/>
          <a:stretch>
            <a:fillRect/>
          </a:stretch>
        </p:blipFill>
        <p:spPr>
          <a:xfrm>
            <a:off x="8604570" y="393192"/>
            <a:ext cx="1124580" cy="594360"/>
          </a:xfrm>
          <a:prstGeom prst="rect">
            <a:avLst/>
          </a:prstGeom>
        </p:spPr>
      </p:pic>
      <p:pic>
        <p:nvPicPr>
          <p:cNvPr id="6" name="Card" descr="preencoded.png">    </p:cNvPr>
          <p:cNvPicPr>
            <a:picLocks noChangeAspect="1"/>
          </p:cNvPicPr>
          <p:nvPr/>
        </p:nvPicPr>
        <p:blipFill>
          <a:blip r:embed="rId3"/>
          <a:stretch>
            <a:fillRect/>
          </a:stretch>
        </p:blipFill>
        <p:spPr>
          <a:xfrm>
            <a:off x="356616" y="1335024"/>
            <a:ext cx="3721608" cy="1709928"/>
          </a:xfrm>
          <a:prstGeom prst="rect">
            <a:avLst/>
          </a:prstGeom>
        </p:spPr>
      </p:pic>
      <p:pic>
        <p:nvPicPr>
          <p:cNvPr id="7" name="Icon" descr="preencoded.png">    </p:cNvPr>
          <p:cNvPicPr>
            <a:picLocks noChangeAspect="1"/>
          </p:cNvPicPr>
          <p:nvPr/>
        </p:nvPicPr>
        <p:blipFill>
          <a:blip r:embed="rId4"/>
          <a:stretch>
            <a:fillRect/>
          </a:stretch>
        </p:blipFill>
        <p:spPr>
          <a:xfrm>
            <a:off x="704088" y="1645920"/>
            <a:ext cx="237744" cy="237744"/>
          </a:xfrm>
          <a:prstGeom prst="rect">
            <a:avLst/>
          </a:prstGeom>
        </p:spPr>
      </p:pic>
      <p:sp>
        <p:nvSpPr>
          <p:cNvPr id="8" name="Text 2"/>
          <p:cNvSpPr txBox="1"/>
          <p:nvPr/>
        </p:nvSpPr>
        <p:spPr>
          <a:xfrm>
            <a:off x="1033272" y="16002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BACKGROUND OF THE CLIENT</a:t>
            </a:r>
            <a:endParaRPr lang="en-US" sz="1000" dirty="0"/>
          </a:p>
        </p:txBody>
      </p:sp>
      <p:sp>
        <p:nvSpPr>
          <p:cNvPr id="9" name="Text 3"/>
          <p:cNvSpPr txBox="1"/>
          <p:nvPr/>
        </p:nvSpPr>
        <p:spPr>
          <a:xfrm>
            <a:off x="704088" y="2011680"/>
            <a:ext cx="3044952" cy="7955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Multinational food products company</a:t>
            </a:r>
            <a:endParaRPr lang="en-US" sz="1200" dirty="0"/>
          </a:p>
          <a:p>
            <a:pPr marL="165100" indent="-165100">
              <a:spcAft>
                <a:spcPts val="300"/>
              </a:spcAft>
              <a:buClr>
                <a:srgbClr val="F7941E"/>
              </a:buClr>
              <a:buSzPct val="100000"/>
              <a:buChar char="●"/>
            </a:pPr>
            <a:r>
              <a:rPr lang="en-US" sz="1200" dirty="0">
                <a:solidFill>
                  <a:schemeClr val="accent5"/>
                </a:solidFill>
              </a:rPr>
              <a:t>Pioneer in poultry farming &amp; broiler producer</a:t>
            </a:r>
            <a:endParaRPr lang="en-US" sz="1200" dirty="0"/>
          </a:p>
        </p:txBody>
      </p:sp>
      <p:pic>
        <p:nvPicPr>
          <p:cNvPr id="10" name="Card" descr="preencoded.png">    </p:cNvPr>
          <p:cNvPicPr>
            <a:picLocks noChangeAspect="1"/>
          </p:cNvPicPr>
          <p:nvPr/>
        </p:nvPicPr>
        <p:blipFill>
          <a:blip r:embed="rId5"/>
          <a:stretch>
            <a:fillRect/>
          </a:stretch>
        </p:blipFill>
        <p:spPr>
          <a:xfrm>
            <a:off x="356616" y="2935224"/>
            <a:ext cx="3721608" cy="3474720"/>
          </a:xfrm>
          <a:prstGeom prst="rect">
            <a:avLst/>
          </a:prstGeom>
        </p:spPr>
      </p:pic>
      <p:pic>
        <p:nvPicPr>
          <p:cNvPr id="11" name="Icon" descr="preencoded.png">    </p:cNvPr>
          <p:cNvPicPr>
            <a:picLocks noChangeAspect="1"/>
          </p:cNvPicPr>
          <p:nvPr/>
        </p:nvPicPr>
        <p:blipFill>
          <a:blip r:embed="rId6"/>
          <a:stretch>
            <a:fillRect/>
          </a:stretch>
        </p:blipFill>
        <p:spPr>
          <a:xfrm>
            <a:off x="704088" y="3246120"/>
            <a:ext cx="237744" cy="237744"/>
          </a:xfrm>
          <a:prstGeom prst="rect">
            <a:avLst/>
          </a:prstGeom>
        </p:spPr>
      </p:pic>
      <p:sp>
        <p:nvSpPr>
          <p:cNvPr id="12" name="Text 4"/>
          <p:cNvSpPr txBox="1"/>
          <p:nvPr/>
        </p:nvSpPr>
        <p:spPr>
          <a:xfrm>
            <a:off x="1033272" y="3200400"/>
            <a:ext cx="27889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PROBLEM STATEMENT</a:t>
            </a:r>
            <a:endParaRPr lang="en-US" sz="1000" dirty="0"/>
          </a:p>
        </p:txBody>
      </p:sp>
      <p:sp>
        <p:nvSpPr>
          <p:cNvPr id="13" name="Text 5"/>
          <p:cNvSpPr txBox="1"/>
          <p:nvPr/>
        </p:nvSpPr>
        <p:spPr>
          <a:xfrm>
            <a:off x="704088" y="3611880"/>
            <a:ext cx="3044952" cy="256032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MIS reports were being prepared by consolidating multiple data sources</a:t>
            </a:r>
            <a:endParaRPr lang="en-US" sz="1200" dirty="0"/>
          </a:p>
          <a:p>
            <a:pPr marL="165100" indent="-165100">
              <a:spcAft>
                <a:spcPts val="300"/>
              </a:spcAft>
              <a:buClr>
                <a:srgbClr val="F7941E"/>
              </a:buClr>
              <a:buSzPct val="100000"/>
              <a:buChar char="●"/>
            </a:pPr>
            <a:r>
              <a:rPr lang="en-US" sz="1200" dirty="0">
                <a:solidFill>
                  <a:schemeClr val="accent5"/>
                </a:solidFill>
              </a:rPr>
              <a:t>Dataset from Oracle ERP being fetched via multiple views</a:t>
            </a:r>
            <a:endParaRPr lang="en-US" sz="1200" dirty="0"/>
          </a:p>
          <a:p>
            <a:pPr marL="165100" indent="-165100">
              <a:spcAft>
                <a:spcPts val="300"/>
              </a:spcAft>
              <a:buClr>
                <a:srgbClr val="F7941E"/>
              </a:buClr>
              <a:buSzPct val="100000"/>
              <a:buChar char="●"/>
            </a:pPr>
            <a:r>
              <a:rPr lang="en-US" sz="1200" dirty="0">
                <a:solidFill>
                  <a:schemeClr val="accent5"/>
                </a:solidFill>
              </a:rPr>
              <a:t>No automated data sync batches to support daily / periodic updates</a:t>
            </a:r>
            <a:endParaRPr lang="en-US" sz="1200" dirty="0"/>
          </a:p>
        </p:txBody>
      </p:sp>
      <p:pic>
        <p:nvPicPr>
          <p:cNvPr id="14" name="Card" descr="preencoded.png">    </p:cNvPr>
          <p:cNvPicPr>
            <a:picLocks noChangeAspect="1"/>
          </p:cNvPicPr>
          <p:nvPr/>
        </p:nvPicPr>
        <p:blipFill>
          <a:blip r:embed="rId7"/>
          <a:stretch>
            <a:fillRect/>
          </a:stretch>
        </p:blipFill>
        <p:spPr>
          <a:xfrm>
            <a:off x="3968496" y="1335024"/>
            <a:ext cx="3950208" cy="3172968"/>
          </a:xfrm>
          <a:prstGeom prst="rect">
            <a:avLst/>
          </a:prstGeom>
        </p:spPr>
      </p:pic>
      <p:pic>
        <p:nvPicPr>
          <p:cNvPr id="15" name="Icon" descr="preencoded.png">    </p:cNvPr>
          <p:cNvPicPr>
            <a:picLocks noChangeAspect="1"/>
          </p:cNvPicPr>
          <p:nvPr/>
        </p:nvPicPr>
        <p:blipFill>
          <a:blip r:embed="rId8"/>
          <a:stretch>
            <a:fillRect/>
          </a:stretch>
        </p:blipFill>
        <p:spPr>
          <a:xfrm>
            <a:off x="4315968" y="1645920"/>
            <a:ext cx="237744" cy="237744"/>
          </a:xfrm>
          <a:prstGeom prst="rect">
            <a:avLst/>
          </a:prstGeom>
        </p:spPr>
      </p:pic>
      <p:sp>
        <p:nvSpPr>
          <p:cNvPr id="16" name="Text 6"/>
          <p:cNvSpPr txBox="1"/>
          <p:nvPr/>
        </p:nvSpPr>
        <p:spPr>
          <a:xfrm>
            <a:off x="4645152" y="160020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SOLUTION</a:t>
            </a:r>
            <a:endParaRPr lang="en-US" sz="1000" dirty="0"/>
          </a:p>
        </p:txBody>
      </p:sp>
      <p:sp>
        <p:nvSpPr>
          <p:cNvPr id="17" name="Text 7"/>
          <p:cNvSpPr txBox="1"/>
          <p:nvPr/>
        </p:nvSpPr>
        <p:spPr>
          <a:xfrm>
            <a:off x="4315968" y="2011680"/>
            <a:ext cx="3273552" cy="22585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Streamlined datamart built on top of Oracle E-Business Suite DB</a:t>
            </a:r>
            <a:endParaRPr lang="en-US" sz="1200" dirty="0"/>
          </a:p>
          <a:p>
            <a:pPr marL="165100" indent="-165100">
              <a:spcAft>
                <a:spcPts val="300"/>
              </a:spcAft>
              <a:buClr>
                <a:srgbClr val="F7941E"/>
              </a:buClr>
              <a:buSzPct val="100000"/>
              <a:buChar char="●"/>
            </a:pPr>
            <a:r>
              <a:rPr lang="en-US" sz="1200" dirty="0">
                <a:solidFill>
                  <a:schemeClr val="accent5"/>
                </a:solidFill>
              </a:rPr>
              <a:t>Integrated data across business divisions in a reporting DB</a:t>
            </a:r>
            <a:endParaRPr lang="en-US" sz="1200" dirty="0"/>
          </a:p>
          <a:p>
            <a:pPr marL="165100" indent="-165100">
              <a:spcAft>
                <a:spcPts val="300"/>
              </a:spcAft>
              <a:buClr>
                <a:srgbClr val="F7941E"/>
              </a:buClr>
              <a:buSzPct val="100000"/>
              <a:buChar char="●"/>
            </a:pPr>
            <a:r>
              <a:rPr lang="en-US" sz="1200" dirty="0">
                <a:solidFill>
                  <a:schemeClr val="accent5"/>
                </a:solidFill>
              </a:rPr>
              <a:t>Implemented automated batch refreshes for smooth data flow</a:t>
            </a:r>
            <a:endParaRPr lang="en-US" sz="1200" dirty="0"/>
          </a:p>
          <a:p>
            <a:pPr marL="165100" indent="-165100">
              <a:spcAft>
                <a:spcPts val="300"/>
              </a:spcAft>
              <a:buClr>
                <a:srgbClr val="F7941E"/>
              </a:buClr>
              <a:buSzPct val="100000"/>
              <a:buChar char="●"/>
            </a:pPr>
            <a:r>
              <a:rPr lang="en-US" sz="1200" dirty="0">
                <a:solidFill>
                  <a:schemeClr val="accent5"/>
                </a:solidFill>
              </a:rPr>
              <a:t>Created powerful dashboards across business functions &amp; provided a self-service BI facility for key users</a:t>
            </a:r>
            <a:endParaRPr lang="en-US" sz="1200" dirty="0"/>
          </a:p>
        </p:txBody>
      </p:sp>
      <p:pic>
        <p:nvPicPr>
          <p:cNvPr id="18" name="Card" descr="preencoded.png">    </p:cNvPr>
          <p:cNvPicPr>
            <a:picLocks noChangeAspect="1"/>
          </p:cNvPicPr>
          <p:nvPr/>
        </p:nvPicPr>
        <p:blipFill>
          <a:blip r:embed="rId9"/>
          <a:stretch>
            <a:fillRect/>
          </a:stretch>
        </p:blipFill>
        <p:spPr>
          <a:xfrm>
            <a:off x="3968496" y="4398264"/>
            <a:ext cx="3950208" cy="2011680"/>
          </a:xfrm>
          <a:prstGeom prst="rect">
            <a:avLst/>
          </a:prstGeom>
        </p:spPr>
      </p:pic>
      <p:pic>
        <p:nvPicPr>
          <p:cNvPr id="19" name="Icon" descr="preencoded.png">    </p:cNvPr>
          <p:cNvPicPr>
            <a:picLocks noChangeAspect="1"/>
          </p:cNvPicPr>
          <p:nvPr/>
        </p:nvPicPr>
        <p:blipFill>
          <a:blip r:embed="rId10"/>
          <a:stretch>
            <a:fillRect/>
          </a:stretch>
        </p:blipFill>
        <p:spPr>
          <a:xfrm>
            <a:off x="4315968" y="4709160"/>
            <a:ext cx="237744" cy="237744"/>
          </a:xfrm>
          <a:prstGeom prst="rect">
            <a:avLst/>
          </a:prstGeom>
        </p:spPr>
      </p:pic>
      <p:sp>
        <p:nvSpPr>
          <p:cNvPr id="20" name="Text 8"/>
          <p:cNvSpPr txBox="1"/>
          <p:nvPr/>
        </p:nvSpPr>
        <p:spPr>
          <a:xfrm>
            <a:off x="4645152" y="4663440"/>
            <a:ext cx="3017520" cy="329184"/>
          </a:xfrm>
          <a:prstGeom prst="rect">
            <a:avLst/>
          </a:prstGeom>
          <a:noFill/>
          <a:ln/>
        </p:spPr>
        <p:txBody>
          <a:bodyPr wrap="square" lIns="0" tIns="0" rIns="0" bIns="0" rtlCol="0" anchor="ctr"/>
          <a:lstStyle/>
          <a:p>
            <a:pPr indent="0" marL="0">
              <a:buNone/>
            </a:pPr>
            <a:r>
              <a:rPr lang="en-US" sz="1000" b="1" spc="300" kern="0" dirty="0">
                <a:solidFill>
                  <a:schemeClr val="accent1"/>
                </a:solidFill>
              </a:rPr>
              <a:t>TECHNOLOGIES</a:t>
            </a:r>
            <a:endParaRPr lang="en-US" sz="1000" dirty="0"/>
          </a:p>
        </p:txBody>
      </p:sp>
      <p:sp>
        <p:nvSpPr>
          <p:cNvPr id="21" name="Text 9"/>
          <p:cNvSpPr txBox="1"/>
          <p:nvPr/>
        </p:nvSpPr>
        <p:spPr>
          <a:xfrm>
            <a:off x="4315968" y="5074920"/>
            <a:ext cx="3273552" cy="109728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b="1" dirty="0">
                <a:solidFill>
                  <a:schemeClr val="tx1"/>
                </a:solidFill>
              </a:rPr>
              <a:t>Data pipelines: </a:t>
            </a:r>
            <a:pPr indent="0" marL="0">
              <a:buNone/>
            </a:pPr>
            <a:r>
              <a:rPr lang="en-US" sz="1200" dirty="0">
                <a:solidFill>
                  <a:schemeClr val="accent5"/>
                </a:solidFill>
              </a:rPr>
              <a:t>Oracle E-Business Suite &amp; automated views</a:t>
            </a:r>
            <a:endParaRPr lang="en-US" sz="1200" dirty="0"/>
          </a:p>
          <a:p>
            <a:pPr marL="165100" indent="-165100">
              <a:spcAft>
                <a:spcPts val="300"/>
              </a:spcAft>
              <a:buClr>
                <a:srgbClr val="F7941E"/>
              </a:buClr>
              <a:buSzPct val="100000"/>
              <a:buChar char="●"/>
            </a:pPr>
            <a:r>
              <a:rPr lang="en-US" sz="1200" b="1" dirty="0">
                <a:solidFill>
                  <a:schemeClr val="tx1"/>
                </a:solidFill>
              </a:rPr>
              <a:t>Visualizations: </a:t>
            </a:r>
            <a:pPr indent="0" marL="0">
              <a:buNone/>
            </a:pPr>
            <a:r>
              <a:rPr lang="en-US" sz="1200" dirty="0">
                <a:solidFill>
                  <a:schemeClr val="accent5"/>
                </a:solidFill>
              </a:rPr>
              <a:t>Power BI</a:t>
            </a:r>
            <a:endParaRPr lang="en-US" sz="1200" dirty="0"/>
          </a:p>
        </p:txBody>
      </p:sp>
      <p:pic>
        <p:nvPicPr>
          <p:cNvPr id="22" name="Card" descr="preencoded.png">    </p:cNvPr>
          <p:cNvPicPr>
            <a:picLocks noChangeAspect="1"/>
          </p:cNvPicPr>
          <p:nvPr/>
        </p:nvPicPr>
        <p:blipFill>
          <a:blip r:embed="rId11"/>
          <a:stretch>
            <a:fillRect/>
          </a:stretch>
        </p:blipFill>
        <p:spPr>
          <a:xfrm>
            <a:off x="7808976" y="1335024"/>
            <a:ext cx="4026103" cy="2807208"/>
          </a:xfrm>
          <a:prstGeom prst="rect">
            <a:avLst/>
          </a:prstGeom>
        </p:spPr>
      </p:pic>
      <p:pic>
        <p:nvPicPr>
          <p:cNvPr id="23" name="Screenshot" descr="/tmp/claude-0/-home-user-ad-gallery/7fc27a5a-8417-58c4-b3ff-7a7825ba0161/scratchpad/assets/s36_00.png">    </p:cNvPr>
          <p:cNvPicPr>
            <a:picLocks noChangeAspect="1"/>
          </p:cNvPicPr>
          <p:nvPr/>
        </p:nvPicPr>
        <p:blipFill>
          <a:blip r:embed="rId12"/>
          <a:stretch>
            <a:fillRect/>
          </a:stretch>
        </p:blipFill>
        <p:spPr>
          <a:xfrm>
            <a:off x="8092440" y="1662588"/>
            <a:ext cx="1661008" cy="963361"/>
          </a:xfrm>
          <a:prstGeom prst="rect">
            <a:avLst/>
          </a:prstGeom>
        </p:spPr>
      </p:pic>
      <p:pic>
        <p:nvPicPr>
          <p:cNvPr id="24" name="Screenshot" descr="/tmp/claude-0/-home-user-ad-gallery/7fc27a5a-8417-58c4-b3ff-7a7825ba0161/scratchpad/assets/s36_01.png">    </p:cNvPr>
          <p:cNvPicPr>
            <a:picLocks noChangeAspect="1"/>
          </p:cNvPicPr>
          <p:nvPr/>
        </p:nvPicPr>
        <p:blipFill>
          <a:blip r:embed="rId13"/>
          <a:stretch>
            <a:fillRect/>
          </a:stretch>
        </p:blipFill>
        <p:spPr>
          <a:xfrm>
            <a:off x="9890608" y="1672845"/>
            <a:ext cx="1661008" cy="942846"/>
          </a:xfrm>
          <a:prstGeom prst="rect">
            <a:avLst/>
          </a:prstGeom>
        </p:spPr>
      </p:pic>
      <p:pic>
        <p:nvPicPr>
          <p:cNvPr id="25" name="Screenshot" descr="/tmp/claude-0/-home-user-ad-gallery/7fc27a5a-8417-58c4-b3ff-7a7825ba0161/scratchpad/assets/s36_02.png">    </p:cNvPr>
          <p:cNvPicPr>
            <a:picLocks noChangeAspect="1"/>
          </p:cNvPicPr>
          <p:nvPr/>
        </p:nvPicPr>
        <p:blipFill>
          <a:blip r:embed="rId14"/>
          <a:stretch>
            <a:fillRect/>
          </a:stretch>
        </p:blipFill>
        <p:spPr>
          <a:xfrm>
            <a:off x="8092440" y="2841856"/>
            <a:ext cx="1661008" cy="982265"/>
          </a:xfrm>
          <a:prstGeom prst="rect">
            <a:avLst/>
          </a:prstGeom>
        </p:spPr>
      </p:pic>
      <p:pic>
        <p:nvPicPr>
          <p:cNvPr id="26" name="Screenshot" descr="/tmp/claude-0/-home-user-ad-gallery/7fc27a5a-8417-58c4-b3ff-7a7825ba0161/scratchpad/assets/s36_03.png">    </p:cNvPr>
          <p:cNvPicPr>
            <a:picLocks noChangeAspect="1"/>
          </p:cNvPicPr>
          <p:nvPr/>
        </p:nvPicPr>
        <p:blipFill>
          <a:blip r:embed="rId15"/>
          <a:stretch>
            <a:fillRect/>
          </a:stretch>
        </p:blipFill>
        <p:spPr>
          <a:xfrm>
            <a:off x="9890608" y="2870084"/>
            <a:ext cx="1661008" cy="925808"/>
          </a:xfrm>
          <a:prstGeom prst="rect">
            <a:avLst/>
          </a:prstGeom>
        </p:spPr>
      </p:pic>
      <p:pic>
        <p:nvPicPr>
          <p:cNvPr id="27" name="Card" descr="preencoded.png">    </p:cNvPr>
          <p:cNvPicPr>
            <a:picLocks noChangeAspect="1"/>
          </p:cNvPicPr>
          <p:nvPr/>
        </p:nvPicPr>
        <p:blipFill>
          <a:blip r:embed="rId16"/>
          <a:stretch>
            <a:fillRect/>
          </a:stretch>
        </p:blipFill>
        <p:spPr>
          <a:xfrm>
            <a:off x="7808976" y="4032504"/>
            <a:ext cx="4026103" cy="2377440"/>
          </a:xfrm>
          <a:prstGeom prst="rect">
            <a:avLst/>
          </a:prstGeom>
        </p:spPr>
      </p:pic>
      <p:pic>
        <p:nvPicPr>
          <p:cNvPr id="28" name="Icon" descr="preencoded.png">    </p:cNvPr>
          <p:cNvPicPr>
            <a:picLocks noChangeAspect="1"/>
          </p:cNvPicPr>
          <p:nvPr/>
        </p:nvPicPr>
        <p:blipFill>
          <a:blip r:embed="rId17"/>
          <a:stretch>
            <a:fillRect/>
          </a:stretch>
        </p:blipFill>
        <p:spPr>
          <a:xfrm>
            <a:off x="8156448" y="4343400"/>
            <a:ext cx="237744" cy="237744"/>
          </a:xfrm>
          <a:prstGeom prst="rect">
            <a:avLst/>
          </a:prstGeom>
        </p:spPr>
      </p:pic>
      <p:sp>
        <p:nvSpPr>
          <p:cNvPr id="29" name="Text 10"/>
          <p:cNvSpPr txBox="1"/>
          <p:nvPr/>
        </p:nvSpPr>
        <p:spPr>
          <a:xfrm>
            <a:off x="8485632" y="4297680"/>
            <a:ext cx="3093415" cy="329184"/>
          </a:xfrm>
          <a:prstGeom prst="rect">
            <a:avLst/>
          </a:prstGeom>
          <a:noFill/>
          <a:ln/>
        </p:spPr>
        <p:txBody>
          <a:bodyPr wrap="square" lIns="0" tIns="0" rIns="0" bIns="0" rtlCol="0" anchor="ctr"/>
          <a:lstStyle/>
          <a:p>
            <a:pPr indent="0" marL="0">
              <a:buNone/>
            </a:pPr>
            <a:r>
              <a:rPr lang="en-US" sz="1000" b="1" spc="300" kern="0" dirty="0">
                <a:solidFill>
                  <a:schemeClr val="accent3"/>
                </a:solidFill>
              </a:rPr>
              <a:t>BENEFIT</a:t>
            </a:r>
            <a:endParaRPr lang="en-US" sz="1000" dirty="0"/>
          </a:p>
        </p:txBody>
      </p:sp>
      <p:sp>
        <p:nvSpPr>
          <p:cNvPr id="30" name="Text 11"/>
          <p:cNvSpPr txBox="1"/>
          <p:nvPr/>
        </p:nvSpPr>
        <p:spPr>
          <a:xfrm>
            <a:off x="8156448" y="4709160"/>
            <a:ext cx="3349447" cy="1463040"/>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bg1"/>
                </a:solidFill>
              </a:rPr>
              <a:t>Centralized data repository</a:t>
            </a:r>
            <a:endParaRPr lang="en-US" sz="1200" dirty="0"/>
          </a:p>
          <a:p>
            <a:pPr marL="165100" indent="-165100">
              <a:spcAft>
                <a:spcPts val="300"/>
              </a:spcAft>
              <a:buClr>
                <a:srgbClr val="F7941E"/>
              </a:buClr>
              <a:buSzPct val="100000"/>
              <a:buChar char="●"/>
            </a:pPr>
            <a:r>
              <a:rPr lang="en-US" sz="1200" dirty="0">
                <a:solidFill>
                  <a:schemeClr val="bg1"/>
                </a:solidFill>
              </a:rPr>
              <a:t>Robust data pipelines with incremental data sync</a:t>
            </a:r>
            <a:endParaRPr lang="en-US" sz="1200" dirty="0"/>
          </a:p>
          <a:p>
            <a:pPr marL="165100" indent="-165100">
              <a:spcAft>
                <a:spcPts val="300"/>
              </a:spcAft>
              <a:buClr>
                <a:srgbClr val="F7941E"/>
              </a:buClr>
              <a:buSzPct val="100000"/>
              <a:buChar char="●"/>
            </a:pPr>
            <a:r>
              <a:rPr lang="en-US" sz="1200" dirty="0">
                <a:solidFill>
                  <a:schemeClr val="bg1"/>
                </a:solidFill>
              </a:rPr>
              <a:t>Data integrity &amp; seamless flow across stages for reporting</a:t>
            </a:r>
            <a:endParaRPr lang="en-US" sz="1200" dirty="0"/>
          </a:p>
          <a:p>
            <a:pPr marL="165100" indent="-165100">
              <a:spcAft>
                <a:spcPts val="300"/>
              </a:spcAft>
              <a:buClr>
                <a:srgbClr val="F7941E"/>
              </a:buClr>
              <a:buSzPct val="100000"/>
              <a:buChar char="●"/>
            </a:pPr>
            <a:r>
              <a:rPr lang="en-US" sz="1200" dirty="0">
                <a:solidFill>
                  <a:schemeClr val="bg1"/>
                </a:solidFill>
              </a:rPr>
              <a:t>Timely accessibility &amp; verified reports</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502920"/>
            <a:ext cx="5379415" cy="5852160"/>
          </a:xfrm>
          <a:prstGeom prst="rect">
            <a:avLst/>
          </a:prstGeom>
        </p:spPr>
      </p:pic>
      <p:pic>
        <p:nvPicPr>
          <p:cNvPr id="3" name="Image 1" descr="/tmp/claude-0/-home-user-ad-gallery/7fc27a5a-8417-58c4-b3ff-7a7825ba0161/scratchpad/assets/logo.png">    </p:cNvPr>
          <p:cNvPicPr>
            <a:picLocks noChangeAspect="1"/>
          </p:cNvPicPr>
          <p:nvPr/>
        </p:nvPicPr>
        <p:blipFill>
          <a:blip r:embed="rId2"/>
          <a:stretch>
            <a:fillRect/>
          </a:stretch>
        </p:blipFill>
        <p:spPr>
          <a:xfrm>
            <a:off x="502920" y="914400"/>
            <a:ext cx="2743200" cy="757308"/>
          </a:xfrm>
          <a:prstGeom prst="rect">
            <a:avLst/>
          </a:prstGeom>
        </p:spPr>
      </p:pic>
      <p:sp>
        <p:nvSpPr>
          <p:cNvPr id="4" name="Text 0"/>
          <p:cNvSpPr txBox="1"/>
          <p:nvPr/>
        </p:nvSpPr>
        <p:spPr>
          <a:xfrm>
            <a:off x="502920" y="2148840"/>
            <a:ext cx="5486400" cy="1005840"/>
          </a:xfrm>
          <a:prstGeom prst="rect">
            <a:avLst/>
          </a:prstGeom>
          <a:noFill/>
          <a:ln/>
        </p:spPr>
        <p:txBody>
          <a:bodyPr wrap="square" lIns="0" tIns="0" rIns="0" bIns="0" rtlCol="0" anchor="ctr"/>
          <a:lstStyle/>
          <a:p>
            <a:pPr indent="0" marL="0">
              <a:buNone/>
            </a:pPr>
            <a:r>
              <a:rPr lang="en-US" sz="6000" b="1" dirty="0">
                <a:solidFill>
                  <a:schemeClr val="tx1"/>
                </a:solidFill>
                <a:latin typeface="Arial" pitchFamily="34" charset="0"/>
                <a:ea typeface="Arial" pitchFamily="34" charset="-122"/>
                <a:cs typeface="Arial" pitchFamily="34" charset="-120"/>
              </a:rPr>
              <a:t>Thank You</a:t>
            </a:r>
            <a:endParaRPr lang="en-US" sz="6000" dirty="0"/>
          </a:p>
        </p:txBody>
      </p:sp>
      <p:sp>
        <p:nvSpPr>
          <p:cNvPr id="5" name="Text 1"/>
          <p:cNvSpPr txBox="1"/>
          <p:nvPr/>
        </p:nvSpPr>
        <p:spPr>
          <a:xfrm>
            <a:off x="502920" y="3200400"/>
            <a:ext cx="5486400" cy="457200"/>
          </a:xfrm>
          <a:prstGeom prst="rect">
            <a:avLst/>
          </a:prstGeom>
          <a:noFill/>
          <a:ln/>
        </p:spPr>
        <p:txBody>
          <a:bodyPr wrap="square" lIns="0" tIns="0" rIns="0" bIns="0" rtlCol="0" anchor="t"/>
          <a:lstStyle/>
          <a:p>
            <a:pPr indent="0" marL="0">
              <a:buNone/>
            </a:pPr>
            <a:r>
              <a:rPr lang="en-US" sz="2000" dirty="0">
                <a:solidFill>
                  <a:schemeClr val="accent1"/>
                </a:solidFill>
              </a:rPr>
              <a:t>Let's turn your data into business outcomes.</a:t>
            </a:r>
            <a:endParaRPr lang="en-US" sz="2000" dirty="0"/>
          </a:p>
        </p:txBody>
      </p:sp>
      <p:sp>
        <p:nvSpPr>
          <p:cNvPr id="6" name="Text 2"/>
          <p:cNvSpPr txBox="1"/>
          <p:nvPr/>
        </p:nvSpPr>
        <p:spPr>
          <a:xfrm>
            <a:off x="502920" y="3840480"/>
            <a:ext cx="5120640" cy="822960"/>
          </a:xfrm>
          <a:prstGeom prst="rect">
            <a:avLst/>
          </a:prstGeom>
          <a:noFill/>
          <a:ln/>
        </p:spPr>
        <p:txBody>
          <a:bodyPr wrap="square" lIns="0" tIns="0" rIns="0" bIns="0" rtlCol="0" anchor="t"/>
          <a:lstStyle/>
          <a:p>
            <a:pPr indent="0" marL="0">
              <a:buNone/>
            </a:pPr>
            <a:r>
              <a:rPr lang="en-US" sz="1500" dirty="0">
                <a:solidFill>
                  <a:schemeClr val="accent5"/>
                </a:solidFill>
              </a:rPr>
              <a:t>Two decades of data, analytics and AI delivery for organisations across retail, manufacturing, supply chain, life sciences and more.</a:t>
            </a:r>
            <a:endParaRPr lang="en-US" sz="1500" dirty="0"/>
          </a:p>
        </p:txBody>
      </p:sp>
      <p:pic>
        <p:nvPicPr>
          <p:cNvPr id="7" name="Card" descr="preencoded.png">    </p:cNvPr>
          <p:cNvPicPr>
            <a:picLocks noChangeAspect="1"/>
          </p:cNvPicPr>
          <p:nvPr/>
        </p:nvPicPr>
        <p:blipFill>
          <a:blip r:embed="rId3"/>
          <a:stretch>
            <a:fillRect/>
          </a:stretch>
        </p:blipFill>
        <p:spPr>
          <a:xfrm>
            <a:off x="356616" y="4837176"/>
            <a:ext cx="3218688" cy="859536"/>
          </a:xfrm>
          <a:prstGeom prst="rect">
            <a:avLst/>
          </a:prstGeom>
        </p:spPr>
      </p:pic>
      <p:sp>
        <p:nvSpPr>
          <p:cNvPr id="8" name="Text 3"/>
          <p:cNvSpPr txBox="1"/>
          <p:nvPr/>
        </p:nvSpPr>
        <p:spPr>
          <a:xfrm>
            <a:off x="502920" y="4983480"/>
            <a:ext cx="2926080" cy="566928"/>
          </a:xfrm>
          <a:prstGeom prst="rect">
            <a:avLst/>
          </a:prstGeom>
          <a:noFill/>
          <a:ln/>
        </p:spPr>
        <p:txBody>
          <a:bodyPr wrap="square" lIns="0" tIns="0" rIns="0" bIns="0" rtlCol="0" anchor="ctr"/>
          <a:lstStyle/>
          <a:p>
            <a:pPr algn="ctr" indent="0" marL="0">
              <a:buNone/>
            </a:pPr>
            <a:r>
              <a:rPr lang="en-US" sz="1600" b="1" spc="100" kern="0" dirty="0">
                <a:solidFill>
                  <a:schemeClr val="bg1"/>
                </a:solidFill>
              </a:rPr>
              <a:t>www.logesys.com</a:t>
            </a:r>
            <a:endParaRPr lang="en-US" sz="1600" dirty="0"/>
          </a:p>
        </p:txBody>
      </p:sp>
    </p:spTree>
  </p:cSld>
  <p:clrMapOvr>
    <a:masterClrMapping/>
  </p:clrMapOvr>
</p:sld>
</file>

<file path=ppt/theme/theme1.xml><?xml version="1.0" encoding="utf-8"?>
<a:theme xmlns:a="http://schemas.openxmlformats.org/drawingml/2006/main" name="Logesys Premium White">
  <a:themeElements>
    <a:clrScheme name="Logesys Premium White">
      <a:dk1>
        <a:srgbClr val="0F2D3A"/>
      </a:dk1>
      <a:lt1>
        <a:srgbClr val="FFFFFF"/>
      </a:lt1>
      <a:dk2>
        <a:srgbClr val="0E4455"/>
      </a:dk2>
      <a:lt2>
        <a:srgbClr val="F3F6F8"/>
      </a:lt2>
      <a:accent1>
        <a:srgbClr val="F7941E"/>
      </a:accent1>
      <a:accent2>
        <a:srgbClr val="1590A6"/>
      </a:accent2>
      <a:accent3>
        <a:srgbClr val="FFB547"/>
      </a:accent3>
      <a:accent4>
        <a:srgbClr val="0A2F3B"/>
      </a:accent4>
      <a:accent5>
        <a:srgbClr val="4D626C"/>
      </a:accent5>
      <a:accent6>
        <a:srgbClr val="E2E8EB"/>
      </a:accent6>
      <a:hlink>
        <a:srgbClr val="1590A6"/>
      </a:hlink>
      <a:folHlink>
        <a:srgbClr val="4D626C"/>
      </a:folHlink>
    </a:clrScheme>
    <a:fontScheme name="Logesys Premium Whi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Logesys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Logesys Company Profile</dc:title>
  <dc:subject>PptxGenJS Presentation</dc:subject>
  <dc:creator>Logesys</dc:creator>
  <cp:lastModifiedBy>Logesys</cp:lastModifiedBy>
  <cp:revision>1</cp:revision>
  <dcterms:created xsi:type="dcterms:W3CDTF">2026-10-13T12:14:34Z</dcterms:created>
  <dcterms:modified xsi:type="dcterms:W3CDTF">2026-10-13T12:14:34Z</dcterms:modified>
</cp:coreProperties>
</file>